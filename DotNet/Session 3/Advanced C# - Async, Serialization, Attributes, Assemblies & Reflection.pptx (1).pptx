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Arial Bold" charset="1" panose="020B0704020202020204"/>
      <p:regular r:id="rId59"/>
    </p:embeddedFont>
    <p:embeddedFont>
      <p:font typeface="Calibri (MS)" charset="1" panose="020F0502020204030204"/>
      <p:regular r:id="rId60"/>
    </p:embeddedFont>
    <p:embeddedFont>
      <p:font typeface="Calibri (MS) Bold" charset="1" panose="020F0702030404030204"/>
      <p:regular r:id="rId62"/>
    </p:embeddedFont>
    <p:embeddedFont>
      <p:font typeface="Calibri (MS) Italics" charset="1" panose="020F05020202040A0204"/>
      <p:regular r:id="rId64"/>
    </p:embeddedFont>
    <p:embeddedFont>
      <p:font typeface="Courier New" charset="1" panose="02070309020205020404"/>
      <p:regular r:id="rId68"/>
    </p:embeddedFont>
    <p:embeddedFont>
      <p:font typeface="Arial Bold Italics" charset="1" panose="020B0704020202090204"/>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37.xml" Type="http://schemas.openxmlformats.org/officeDocument/2006/relationships/notesSlide"/><Relationship Id="rId101" Target="notesSlides/notesSlide38.xml" Type="http://schemas.openxmlformats.org/officeDocument/2006/relationships/notesSlide"/><Relationship Id="rId102" Target="notesSlides/notesSlide39.xml" Type="http://schemas.openxmlformats.org/officeDocument/2006/relationships/notesSlide"/><Relationship Id="rId103" Target="notesSlides/notesSlide40.xml" Type="http://schemas.openxmlformats.org/officeDocument/2006/relationships/notesSlide"/><Relationship Id="rId104" Target="notesSlides/notesSlide41.xml" Type="http://schemas.openxmlformats.org/officeDocument/2006/relationships/notesSlide"/><Relationship Id="rId105" Target="notesSlides/notesSlide42.xml" Type="http://schemas.openxmlformats.org/officeDocument/2006/relationships/notesSlide"/><Relationship Id="rId106" Target="notesSlides/notesSlide43.xml" Type="http://schemas.openxmlformats.org/officeDocument/2006/relationships/notesSlide"/><Relationship Id="rId107" Target="notesSlides/notesSlide44.xml" Type="http://schemas.openxmlformats.org/officeDocument/2006/relationships/notesSlide"/><Relationship Id="rId108" Target="notesSlides/notesSlide45.xml" Type="http://schemas.openxmlformats.org/officeDocument/2006/relationships/notesSlide"/><Relationship Id="rId109" Target="notesSlides/notesSlide46.xml" Type="http://schemas.openxmlformats.org/officeDocument/2006/relationships/notesSlide"/><Relationship Id="rId11" Target="slides/slide6.xml" Type="http://schemas.openxmlformats.org/officeDocument/2006/relationships/slide"/><Relationship Id="rId110" Target="notesSlides/notesSlide47.xml" Type="http://schemas.openxmlformats.org/officeDocument/2006/relationships/notesSlide"/><Relationship Id="rId111" Target="notesSlides/notesSlide48.xml" Type="http://schemas.openxmlformats.org/officeDocument/2006/relationships/notesSlide"/><Relationship Id="rId112" Target="notesSlides/notesSlide49.xml" Type="http://schemas.openxmlformats.org/officeDocument/2006/relationships/notesSlide"/><Relationship Id="rId113" Target="notesSlides/notesSlide50.xml" Type="http://schemas.openxmlformats.org/officeDocument/2006/relationships/note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notesMasters/notesMaster1.xml" Type="http://schemas.openxmlformats.org/officeDocument/2006/relationships/notesMaster"/><Relationship Id="rId57" Target="theme/theme2.xml" Type="http://schemas.openxmlformats.org/officeDocument/2006/relationships/theme"/><Relationship Id="rId58" Target="notesSlides/notesSlide1.xml" Type="http://schemas.openxmlformats.org/officeDocument/2006/relationships/notesSlide"/><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notesSlides/notesSlide2.xml" Type="http://schemas.openxmlformats.org/officeDocument/2006/relationships/notesSlide"/><Relationship Id="rId62" Target="fonts/font62.fntdata" Type="http://schemas.openxmlformats.org/officeDocument/2006/relationships/font"/><Relationship Id="rId63" Target="notesSlides/notesSlide3.xml" Type="http://schemas.openxmlformats.org/officeDocument/2006/relationships/notesSlide"/><Relationship Id="rId64" Target="fonts/font64.fntdata" Type="http://schemas.openxmlformats.org/officeDocument/2006/relationships/font"/><Relationship Id="rId65" Target="notesSlides/notesSlide4.xml" Type="http://schemas.openxmlformats.org/officeDocument/2006/relationships/notesSlide"/><Relationship Id="rId66" Target="notesSlides/notesSlide5.xml" Type="http://schemas.openxmlformats.org/officeDocument/2006/relationships/notesSlide"/><Relationship Id="rId67" Target="notesSlides/notesSlide6.xml" Type="http://schemas.openxmlformats.org/officeDocument/2006/relationships/notesSlide"/><Relationship Id="rId68" Target="fonts/font68.fntdata" Type="http://schemas.openxmlformats.org/officeDocument/2006/relationships/font"/><Relationship Id="rId69" Target="notesSlides/notesSlide7.xml" Type="http://schemas.openxmlformats.org/officeDocument/2006/relationships/notesSlide"/><Relationship Id="rId7" Target="slides/slide2.xml" Type="http://schemas.openxmlformats.org/officeDocument/2006/relationships/slide"/><Relationship Id="rId70" Target="notesSlides/notesSlide8.xml" Type="http://schemas.openxmlformats.org/officeDocument/2006/relationships/notesSlide"/><Relationship Id="rId71" Target="notesSlides/notesSlide9.xml" Type="http://schemas.openxmlformats.org/officeDocument/2006/relationships/notesSlide"/><Relationship Id="rId72" Target="fonts/font72.fntdata" Type="http://schemas.openxmlformats.org/officeDocument/2006/relationships/font"/><Relationship Id="rId73" Target="notesSlides/notesSlide10.xml" Type="http://schemas.openxmlformats.org/officeDocument/2006/relationships/notesSlide"/><Relationship Id="rId74" Target="notesSlides/notesSlide11.xml" Type="http://schemas.openxmlformats.org/officeDocument/2006/relationships/notesSlide"/><Relationship Id="rId75" Target="notesSlides/notesSlide12.xml" Type="http://schemas.openxmlformats.org/officeDocument/2006/relationships/notesSlide"/><Relationship Id="rId76" Target="notesSlides/notesSlide13.xml" Type="http://schemas.openxmlformats.org/officeDocument/2006/relationships/notesSlide"/><Relationship Id="rId77" Target="notesSlides/notesSlide14.xml" Type="http://schemas.openxmlformats.org/officeDocument/2006/relationships/notesSlide"/><Relationship Id="rId78" Target="notesSlides/notesSlide15.xml" Type="http://schemas.openxmlformats.org/officeDocument/2006/relationships/notesSlide"/><Relationship Id="rId79" Target="notesSlides/notesSlide16.xml" Type="http://schemas.openxmlformats.org/officeDocument/2006/relationships/notesSlide"/><Relationship Id="rId8" Target="slides/slide3.xml" Type="http://schemas.openxmlformats.org/officeDocument/2006/relationships/slide"/><Relationship Id="rId80" Target="notesSlides/notesSlide17.xml" Type="http://schemas.openxmlformats.org/officeDocument/2006/relationships/notesSlide"/><Relationship Id="rId81" Target="notesSlides/notesSlide18.xml" Type="http://schemas.openxmlformats.org/officeDocument/2006/relationships/notesSlide"/><Relationship Id="rId82" Target="notesSlides/notesSlide19.xml" Type="http://schemas.openxmlformats.org/officeDocument/2006/relationships/notesSlide"/><Relationship Id="rId83" Target="notesSlides/notesSlide20.xml" Type="http://schemas.openxmlformats.org/officeDocument/2006/relationships/notesSlide"/><Relationship Id="rId84" Target="notesSlides/notesSlide21.xml" Type="http://schemas.openxmlformats.org/officeDocument/2006/relationships/notesSlide"/><Relationship Id="rId85" Target="notesSlides/notesSlide22.xml" Type="http://schemas.openxmlformats.org/officeDocument/2006/relationships/notesSlide"/><Relationship Id="rId86" Target="notesSlides/notesSlide23.xml" Type="http://schemas.openxmlformats.org/officeDocument/2006/relationships/notesSlide"/><Relationship Id="rId87" Target="notesSlides/notesSlide24.xml" Type="http://schemas.openxmlformats.org/officeDocument/2006/relationships/notesSlide"/><Relationship Id="rId88" Target="notesSlides/notesSlide25.xml" Type="http://schemas.openxmlformats.org/officeDocument/2006/relationships/notesSlide"/><Relationship Id="rId89" Target="notesSlides/notesSlide26.xml" Type="http://schemas.openxmlformats.org/officeDocument/2006/relationships/notesSlide"/><Relationship Id="rId9" Target="slides/slide4.xml" Type="http://schemas.openxmlformats.org/officeDocument/2006/relationships/slide"/><Relationship Id="rId90" Target="notesSlides/notesSlide27.xml" Type="http://schemas.openxmlformats.org/officeDocument/2006/relationships/notesSlide"/><Relationship Id="rId91" Target="notesSlides/notesSlide28.xml" Type="http://schemas.openxmlformats.org/officeDocument/2006/relationships/notesSlide"/><Relationship Id="rId92" Target="notesSlides/notesSlide29.xml" Type="http://schemas.openxmlformats.org/officeDocument/2006/relationships/notesSlide"/><Relationship Id="rId93" Target="notesSlides/notesSlide30.xml" Type="http://schemas.openxmlformats.org/officeDocument/2006/relationships/notesSlide"/><Relationship Id="rId94" Target="notesSlides/notesSlide31.xml" Type="http://schemas.openxmlformats.org/officeDocument/2006/relationships/notesSlide"/><Relationship Id="rId95" Target="notesSlides/notesSlide32.xml" Type="http://schemas.openxmlformats.org/officeDocument/2006/relationships/notesSlide"/><Relationship Id="rId96" Target="notesSlides/notesSlide33.xml" Type="http://schemas.openxmlformats.org/officeDocument/2006/relationships/notesSlide"/><Relationship Id="rId97" Target="notesSlides/notesSlide34.xml" Type="http://schemas.openxmlformats.org/officeDocument/2006/relationships/notesSlide"/><Relationship Id="rId98" Target="notesSlides/notesSlide35.xml" Type="http://schemas.openxmlformats.org/officeDocument/2006/relationships/notesSlide"/><Relationship Id="rId99" Target="notesSlides/notesSlide36.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1.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1.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1.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1.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1.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1.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1.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1.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1.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1.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14127480" y="-2194560"/>
            <a:ext cx="7132320" cy="7132320"/>
            <a:chOff x="0" y="0"/>
            <a:chExt cx="9509760" cy="9509760"/>
          </a:xfrm>
        </p:grpSpPr>
        <p:sp>
          <p:nvSpPr>
            <p:cNvPr name="Freeform 3" id="3"/>
            <p:cNvSpPr/>
            <p:nvPr/>
          </p:nvSpPr>
          <p:spPr>
            <a:xfrm flipH="false" flipV="false" rot="0">
              <a:off x="0" y="0"/>
              <a:ext cx="9509760" cy="9509760"/>
            </a:xfrm>
            <a:custGeom>
              <a:avLst/>
              <a:gdLst/>
              <a:ahLst/>
              <a:cxnLst/>
              <a:rect r="r" b="b" t="t" l="l"/>
              <a:pathLst>
                <a:path h="9509760" w="9509760">
                  <a:moveTo>
                    <a:pt x="0" y="4754880"/>
                  </a:moveTo>
                  <a:cubicBezTo>
                    <a:pt x="0" y="2128774"/>
                    <a:pt x="2128774" y="0"/>
                    <a:pt x="4754880" y="0"/>
                  </a:cubicBezTo>
                  <a:cubicBezTo>
                    <a:pt x="7380986" y="0"/>
                    <a:pt x="9509760" y="2128774"/>
                    <a:pt x="9509760" y="4754880"/>
                  </a:cubicBezTo>
                  <a:cubicBezTo>
                    <a:pt x="9509760" y="7380986"/>
                    <a:pt x="7380986" y="9509760"/>
                    <a:pt x="4754880" y="9509760"/>
                  </a:cubicBezTo>
                  <a:cubicBezTo>
                    <a:pt x="2128774" y="9509760"/>
                    <a:pt x="0" y="7380986"/>
                    <a:pt x="0" y="4754880"/>
                  </a:cubicBezTo>
                  <a:close/>
                </a:path>
              </a:pathLst>
            </a:custGeom>
            <a:solidFill>
              <a:srgbClr val="512BD4">
                <a:alpha val="20000"/>
              </a:srgbClr>
            </a:solidFill>
          </p:spPr>
        </p:sp>
      </p:grpSp>
      <p:grpSp>
        <p:nvGrpSpPr>
          <p:cNvPr name="Group 4" id="4"/>
          <p:cNvGrpSpPr/>
          <p:nvPr/>
        </p:nvGrpSpPr>
        <p:grpSpPr>
          <a:xfrm rot="0">
            <a:off x="15910560" y="6309360"/>
            <a:ext cx="4663440" cy="4663440"/>
            <a:chOff x="0" y="0"/>
            <a:chExt cx="6217920" cy="6217920"/>
          </a:xfrm>
        </p:grpSpPr>
        <p:sp>
          <p:nvSpPr>
            <p:cNvPr name="Freeform 5" id="5"/>
            <p:cNvSpPr/>
            <p:nvPr/>
          </p:nvSpPr>
          <p:spPr>
            <a:xfrm flipH="false" flipV="false" rot="0">
              <a:off x="0" y="0"/>
              <a:ext cx="6217920" cy="6217920"/>
            </a:xfrm>
            <a:custGeom>
              <a:avLst/>
              <a:gdLst/>
              <a:ahLst/>
              <a:cxnLst/>
              <a:rect r="r" b="b" t="t" l="l"/>
              <a:pathLst>
                <a:path h="6217920" w="6217920">
                  <a:moveTo>
                    <a:pt x="0" y="3108960"/>
                  </a:moveTo>
                  <a:cubicBezTo>
                    <a:pt x="0" y="1391920"/>
                    <a:pt x="1391920" y="0"/>
                    <a:pt x="3108960" y="0"/>
                  </a:cubicBezTo>
                  <a:cubicBezTo>
                    <a:pt x="4826000" y="0"/>
                    <a:pt x="6217920" y="1391920"/>
                    <a:pt x="6217920" y="3108960"/>
                  </a:cubicBezTo>
                  <a:cubicBezTo>
                    <a:pt x="6217920" y="4826000"/>
                    <a:pt x="4826000" y="6217920"/>
                    <a:pt x="3108960" y="6217920"/>
                  </a:cubicBezTo>
                  <a:cubicBezTo>
                    <a:pt x="1391920" y="6217920"/>
                    <a:pt x="0" y="4826000"/>
                    <a:pt x="0" y="3108960"/>
                  </a:cubicBezTo>
                  <a:close/>
                </a:path>
              </a:pathLst>
            </a:custGeom>
            <a:solidFill>
              <a:srgbClr val="22D3EE">
                <a:alpha val="3137"/>
              </a:srgbClr>
            </a:solidFill>
          </p:spPr>
        </p:sp>
      </p:grpSp>
      <p:grpSp>
        <p:nvGrpSpPr>
          <p:cNvPr name="Group 6" id="6"/>
          <p:cNvGrpSpPr/>
          <p:nvPr/>
        </p:nvGrpSpPr>
        <p:grpSpPr>
          <a:xfrm rot="0">
            <a:off x="-1920240" y="6995160"/>
            <a:ext cx="4937760" cy="4937760"/>
            <a:chOff x="0" y="0"/>
            <a:chExt cx="6583680" cy="6583680"/>
          </a:xfrm>
        </p:grpSpPr>
        <p:sp>
          <p:nvSpPr>
            <p:cNvPr name="Freeform 7" id="7"/>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512BD4">
                <a:alpha val="15686"/>
              </a:srgbClr>
            </a:solidFill>
          </p:spPr>
        </p:sp>
      </p:grpSp>
      <p:grpSp>
        <p:nvGrpSpPr>
          <p:cNvPr name="Group 8" id="8"/>
          <p:cNvGrpSpPr/>
          <p:nvPr/>
        </p:nvGrpSpPr>
        <p:grpSpPr>
          <a:xfrm rot="0">
            <a:off x="1165860" y="2811780"/>
            <a:ext cx="14813280" cy="3017520"/>
            <a:chOff x="0" y="0"/>
            <a:chExt cx="19751040" cy="4023360"/>
          </a:xfrm>
        </p:grpSpPr>
        <p:sp>
          <p:nvSpPr>
            <p:cNvPr name="Freeform 9" id="9"/>
            <p:cNvSpPr/>
            <p:nvPr/>
          </p:nvSpPr>
          <p:spPr>
            <a:xfrm flipH="false" flipV="false" rot="0">
              <a:off x="0" y="0"/>
              <a:ext cx="19751039" cy="4023360"/>
            </a:xfrm>
            <a:custGeom>
              <a:avLst/>
              <a:gdLst/>
              <a:ahLst/>
              <a:cxnLst/>
              <a:rect r="r" b="b" t="t" l="l"/>
              <a:pathLst>
                <a:path h="4023360" w="19751039">
                  <a:moveTo>
                    <a:pt x="0" y="0"/>
                  </a:moveTo>
                  <a:lnTo>
                    <a:pt x="19751039" y="0"/>
                  </a:lnTo>
                  <a:lnTo>
                    <a:pt x="19751039" y="4023360"/>
                  </a:lnTo>
                  <a:lnTo>
                    <a:pt x="0" y="4023360"/>
                  </a:lnTo>
                  <a:close/>
                </a:path>
              </a:pathLst>
            </a:custGeom>
            <a:blipFill>
              <a:blip r:embed="rId3">
                <a:alphaModFix amt="0"/>
              </a:blip>
              <a:stretch>
                <a:fillRect l="0" t="-45653" r="0" b="-45653"/>
              </a:stretch>
            </a:blipFill>
          </p:spPr>
        </p:sp>
        <p:sp>
          <p:nvSpPr>
            <p:cNvPr name="TextBox 10" id="10"/>
            <p:cNvSpPr txBox="true"/>
            <p:nvPr/>
          </p:nvSpPr>
          <p:spPr>
            <a:xfrm>
              <a:off x="0" y="-76200"/>
              <a:ext cx="19751040" cy="4099560"/>
            </a:xfrm>
            <a:prstGeom prst="rect">
              <a:avLst/>
            </a:prstGeom>
          </p:spPr>
          <p:txBody>
            <a:bodyPr anchor="ctr" rtlCol="false" tIns="0" lIns="0" bIns="0" rIns="0"/>
            <a:lstStyle/>
            <a:p>
              <a:pPr algn="l">
                <a:lnSpc>
                  <a:spcPts val="8316"/>
                </a:lnSpc>
              </a:pPr>
              <a:r>
                <a:rPr lang="en-US" sz="6600" b="true">
                  <a:solidFill>
                    <a:srgbClr val="FFFFFF"/>
                  </a:solidFill>
                  <a:latin typeface="Arial Bold"/>
                  <a:ea typeface="Arial Bold"/>
                  <a:cs typeface="Arial Bold"/>
                  <a:sym typeface="Arial Bold"/>
                </a:rPr>
                <a:t>Session  3: Advanced C#</a:t>
              </a:r>
            </a:p>
          </p:txBody>
        </p:sp>
      </p:grpSp>
      <p:grpSp>
        <p:nvGrpSpPr>
          <p:cNvPr name="Group 11" id="11"/>
          <p:cNvGrpSpPr/>
          <p:nvPr/>
        </p:nvGrpSpPr>
        <p:grpSpPr>
          <a:xfrm rot="0">
            <a:off x="1966154" y="6149928"/>
            <a:ext cx="9199473" cy="845232"/>
            <a:chOff x="0" y="0"/>
            <a:chExt cx="10972800" cy="1008162"/>
          </a:xfrm>
        </p:grpSpPr>
        <p:sp>
          <p:nvSpPr>
            <p:cNvPr name="Freeform 12" id="12"/>
            <p:cNvSpPr/>
            <p:nvPr/>
          </p:nvSpPr>
          <p:spPr>
            <a:xfrm flipH="false" flipV="false" rot="0">
              <a:off x="0" y="0"/>
              <a:ext cx="10972800" cy="1008162"/>
            </a:xfrm>
            <a:custGeom>
              <a:avLst/>
              <a:gdLst/>
              <a:ahLst/>
              <a:cxnLst/>
              <a:rect r="r" b="b" t="t" l="l"/>
              <a:pathLst>
                <a:path h="1008162" w="10972800">
                  <a:moveTo>
                    <a:pt x="0" y="0"/>
                  </a:moveTo>
                  <a:lnTo>
                    <a:pt x="10972800" y="0"/>
                  </a:lnTo>
                  <a:lnTo>
                    <a:pt x="10972800" y="1008162"/>
                  </a:lnTo>
                  <a:lnTo>
                    <a:pt x="0" y="1008162"/>
                  </a:lnTo>
                  <a:close/>
                </a:path>
              </a:pathLst>
            </a:custGeom>
            <a:blipFill>
              <a:blip r:embed="rId3">
                <a:alphaModFix amt="0"/>
              </a:blip>
              <a:stretch>
                <a:fillRect l="0" t="-175794" r="0" b="-148354"/>
              </a:stretch>
            </a:blipFill>
          </p:spPr>
        </p:sp>
        <p:sp>
          <p:nvSpPr>
            <p:cNvPr name="TextBox 13" id="13"/>
            <p:cNvSpPr txBox="true"/>
            <p:nvPr/>
          </p:nvSpPr>
          <p:spPr>
            <a:xfrm>
              <a:off x="0" y="-85725"/>
              <a:ext cx="10972800" cy="1093887"/>
            </a:xfrm>
            <a:prstGeom prst="rect">
              <a:avLst/>
            </a:prstGeom>
          </p:spPr>
          <p:txBody>
            <a:bodyPr anchor="ctr" rtlCol="false" tIns="0" lIns="0" bIns="0" rIns="0"/>
            <a:lstStyle/>
            <a:p>
              <a:pPr algn="l">
                <a:lnSpc>
                  <a:spcPts val="5040"/>
                </a:lnSpc>
              </a:pPr>
              <a:r>
                <a:rPr lang="en-US" sz="4200">
                  <a:solidFill>
                    <a:srgbClr val="C9BFEF"/>
                  </a:solidFill>
                  <a:latin typeface="Calibri (MS)"/>
                  <a:ea typeface="Calibri (MS)"/>
                  <a:cs typeface="Calibri (MS)"/>
                  <a:sym typeface="Calibri (MS)"/>
                </a:rPr>
                <a:t>By: Mahmoud Ahmed</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SESSION ROADMAP</a:t>
              </a:r>
            </a:p>
          </p:txBody>
        </p:sp>
      </p:grpSp>
      <p:grpSp>
        <p:nvGrpSpPr>
          <p:cNvPr name="Group 5" id="5"/>
          <p:cNvGrpSpPr/>
          <p:nvPr/>
        </p:nvGrpSpPr>
        <p:grpSpPr>
          <a:xfrm rot="0">
            <a:off x="960120" y="1028700"/>
            <a:ext cx="16322040" cy="1234440"/>
            <a:chOff x="0" y="0"/>
            <a:chExt cx="21762720" cy="1645920"/>
          </a:xfrm>
        </p:grpSpPr>
        <p:sp>
          <p:nvSpPr>
            <p:cNvPr name="Freeform 6" id="6"/>
            <p:cNvSpPr/>
            <p:nvPr/>
          </p:nvSpPr>
          <p:spPr>
            <a:xfrm flipH="false" flipV="false" rot="0">
              <a:off x="0" y="0"/>
              <a:ext cx="21762720" cy="1645920"/>
            </a:xfrm>
            <a:custGeom>
              <a:avLst/>
              <a:gdLst/>
              <a:ahLst/>
              <a:cxnLst/>
              <a:rect r="r" b="b" t="t" l="l"/>
              <a:pathLst>
                <a:path h="1645920" w="21762720">
                  <a:moveTo>
                    <a:pt x="0" y="0"/>
                  </a:moveTo>
                  <a:lnTo>
                    <a:pt x="21762720" y="0"/>
                  </a:lnTo>
                  <a:lnTo>
                    <a:pt x="21762720" y="1645920"/>
                  </a:lnTo>
                  <a:lnTo>
                    <a:pt x="0" y="1645920"/>
                  </a:lnTo>
                  <a:close/>
                </a:path>
              </a:pathLst>
            </a:custGeom>
            <a:blipFill>
              <a:blip r:embed="rId3">
                <a:alphaModFix amt="0"/>
              </a:blip>
              <a:stretch>
                <a:fillRect l="0" t="-207635" r="0" b="-207635"/>
              </a:stretch>
            </a:blipFill>
          </p:spPr>
        </p:sp>
        <p:sp>
          <p:nvSpPr>
            <p:cNvPr name="TextBox 7" id="7"/>
            <p:cNvSpPr txBox="true"/>
            <p:nvPr/>
          </p:nvSpPr>
          <p:spPr>
            <a:xfrm>
              <a:off x="0" y="-28575"/>
              <a:ext cx="2176272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Agenda</a:t>
              </a:r>
            </a:p>
          </p:txBody>
        </p:sp>
      </p:grpSp>
      <p:grpSp>
        <p:nvGrpSpPr>
          <p:cNvPr name="Group 8" id="8"/>
          <p:cNvGrpSpPr/>
          <p:nvPr/>
        </p:nvGrpSpPr>
        <p:grpSpPr>
          <a:xfrm rot="0">
            <a:off x="960120" y="2537460"/>
            <a:ext cx="8023860" cy="1947672"/>
            <a:chOff x="0" y="0"/>
            <a:chExt cx="10698480" cy="2596896"/>
          </a:xfrm>
        </p:grpSpPr>
        <p:sp>
          <p:nvSpPr>
            <p:cNvPr name="Freeform 9" id="9"/>
            <p:cNvSpPr/>
            <p:nvPr/>
          </p:nvSpPr>
          <p:spPr>
            <a:xfrm flipH="false" flipV="false" rot="0">
              <a:off x="0" y="0"/>
              <a:ext cx="10698480" cy="2596896"/>
            </a:xfrm>
            <a:custGeom>
              <a:avLst/>
              <a:gdLst/>
              <a:ahLst/>
              <a:cxnLst/>
              <a:rect r="r" b="b" t="t" l="l"/>
              <a:pathLst>
                <a:path h="2596896" w="10698480">
                  <a:moveTo>
                    <a:pt x="0" y="182880"/>
                  </a:moveTo>
                  <a:cubicBezTo>
                    <a:pt x="0" y="81915"/>
                    <a:pt x="81915" y="0"/>
                    <a:pt x="182880" y="0"/>
                  </a:cubicBezTo>
                  <a:lnTo>
                    <a:pt x="10515600" y="0"/>
                  </a:lnTo>
                  <a:cubicBezTo>
                    <a:pt x="10616565" y="0"/>
                    <a:pt x="10698480" y="81915"/>
                    <a:pt x="10698480" y="182880"/>
                  </a:cubicBezTo>
                  <a:lnTo>
                    <a:pt x="10698480" y="2414016"/>
                  </a:lnTo>
                  <a:cubicBezTo>
                    <a:pt x="10698480" y="2514981"/>
                    <a:pt x="10616565" y="2596896"/>
                    <a:pt x="10515600" y="2596896"/>
                  </a:cubicBezTo>
                  <a:lnTo>
                    <a:pt x="182880" y="2596896"/>
                  </a:lnTo>
                  <a:cubicBezTo>
                    <a:pt x="81915" y="2596896"/>
                    <a:pt x="0" y="2514981"/>
                    <a:pt x="0" y="2414016"/>
                  </a:cubicBezTo>
                  <a:close/>
                </a:path>
              </a:pathLst>
            </a:custGeom>
            <a:solidFill>
              <a:srgbClr val="F4F1FC"/>
            </a:solidFill>
          </p:spPr>
        </p:sp>
      </p:grpSp>
      <p:grpSp>
        <p:nvGrpSpPr>
          <p:cNvPr name="Group 10" id="10"/>
          <p:cNvGrpSpPr/>
          <p:nvPr/>
        </p:nvGrpSpPr>
        <p:grpSpPr>
          <a:xfrm rot="0">
            <a:off x="1344168" y="3031236"/>
            <a:ext cx="960120" cy="960120"/>
            <a:chOff x="0" y="0"/>
            <a:chExt cx="1280160" cy="1280160"/>
          </a:xfrm>
        </p:grpSpPr>
        <p:sp>
          <p:nvSpPr>
            <p:cNvPr name="Freeform 11" id="11"/>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512BD4"/>
            </a:solidFill>
          </p:spPr>
        </p:sp>
      </p:grpSp>
      <p:grpSp>
        <p:nvGrpSpPr>
          <p:cNvPr name="Group 12" id="12"/>
          <p:cNvGrpSpPr/>
          <p:nvPr/>
        </p:nvGrpSpPr>
        <p:grpSpPr>
          <a:xfrm rot="0">
            <a:off x="1344168" y="3031236"/>
            <a:ext cx="960120" cy="960120"/>
            <a:chOff x="0" y="0"/>
            <a:chExt cx="1280160" cy="1280160"/>
          </a:xfrm>
        </p:grpSpPr>
        <p:sp>
          <p:nvSpPr>
            <p:cNvPr name="Freeform 13" id="13"/>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14" id="14"/>
            <p:cNvSpPr txBox="true"/>
            <p:nvPr/>
          </p:nvSpPr>
          <p:spPr>
            <a:xfrm>
              <a:off x="0" y="-19050"/>
              <a:ext cx="1280160" cy="1299210"/>
            </a:xfrm>
            <a:prstGeom prst="rect">
              <a:avLst/>
            </a:prstGeom>
          </p:spPr>
          <p:txBody>
            <a:bodyPr anchor="ctr" rtlCol="false" tIns="0" lIns="0" bIns="0" rIns="0"/>
            <a:lstStyle/>
            <a:p>
              <a:pPr algn="ctr">
                <a:lnSpc>
                  <a:spcPts val="3600"/>
                </a:lnSpc>
              </a:pPr>
              <a:r>
                <a:rPr lang="en-US" sz="3000" b="true">
                  <a:solidFill>
                    <a:srgbClr val="FFFFFF"/>
                  </a:solidFill>
                  <a:latin typeface="Arial Bold"/>
                  <a:ea typeface="Arial Bold"/>
                  <a:cs typeface="Arial Bold"/>
                  <a:sym typeface="Arial Bold"/>
                </a:rPr>
                <a:t>01</a:t>
              </a:r>
            </a:p>
          </p:txBody>
        </p:sp>
      </p:grpSp>
      <p:grpSp>
        <p:nvGrpSpPr>
          <p:cNvPr name="Group 15" id="15"/>
          <p:cNvGrpSpPr/>
          <p:nvPr/>
        </p:nvGrpSpPr>
        <p:grpSpPr>
          <a:xfrm rot="0">
            <a:off x="2537460" y="2756916"/>
            <a:ext cx="6103620" cy="548640"/>
            <a:chOff x="0" y="0"/>
            <a:chExt cx="8138160" cy="731520"/>
          </a:xfrm>
        </p:grpSpPr>
        <p:sp>
          <p:nvSpPr>
            <p:cNvPr name="Freeform 16" id="16"/>
            <p:cNvSpPr/>
            <p:nvPr/>
          </p:nvSpPr>
          <p:spPr>
            <a:xfrm flipH="false" flipV="false" rot="0">
              <a:off x="0" y="0"/>
              <a:ext cx="8138160" cy="731520"/>
            </a:xfrm>
            <a:custGeom>
              <a:avLst/>
              <a:gdLst/>
              <a:ahLst/>
              <a:cxnLst/>
              <a:rect r="r" b="b" t="t" l="l"/>
              <a:pathLst>
                <a:path h="731520" w="8138160">
                  <a:moveTo>
                    <a:pt x="0" y="0"/>
                  </a:moveTo>
                  <a:lnTo>
                    <a:pt x="8138160" y="0"/>
                  </a:lnTo>
                  <a:lnTo>
                    <a:pt x="8138160" y="731520"/>
                  </a:lnTo>
                  <a:lnTo>
                    <a:pt x="0" y="731520"/>
                  </a:lnTo>
                  <a:close/>
                </a:path>
              </a:pathLst>
            </a:custGeom>
            <a:blipFill>
              <a:blip r:embed="rId3">
                <a:alphaModFix amt="0"/>
              </a:blip>
              <a:stretch>
                <a:fillRect l="0" t="-166771" r="0" b="-166771"/>
              </a:stretch>
            </a:blipFill>
          </p:spPr>
        </p:sp>
        <p:sp>
          <p:nvSpPr>
            <p:cNvPr name="TextBox 17" id="17"/>
            <p:cNvSpPr txBox="true"/>
            <p:nvPr/>
          </p:nvSpPr>
          <p:spPr>
            <a:xfrm>
              <a:off x="0" y="-9525"/>
              <a:ext cx="8138160" cy="741045"/>
            </a:xfrm>
            <a:prstGeom prst="rect">
              <a:avLst/>
            </a:prstGeom>
          </p:spPr>
          <p:txBody>
            <a:bodyPr anchor="ctr" rtlCol="false" tIns="0" lIns="0" bIns="0" rIns="0"/>
            <a:lstStyle/>
            <a:p>
              <a:pPr algn="l">
                <a:lnSpc>
                  <a:spcPts val="2879"/>
                </a:lnSpc>
              </a:pPr>
              <a:r>
                <a:rPr lang="en-US" sz="2400" b="true">
                  <a:solidFill>
                    <a:srgbClr val="201A3A"/>
                  </a:solidFill>
                  <a:latin typeface="Arial Bold"/>
                  <a:ea typeface="Arial Bold"/>
                  <a:cs typeface="Arial Bold"/>
                  <a:sym typeface="Arial Bold"/>
                </a:rPr>
                <a:t>Async Programming</a:t>
              </a:r>
            </a:p>
          </p:txBody>
        </p:sp>
      </p:grpSp>
      <p:sp>
        <p:nvSpPr>
          <p:cNvPr name="TextBox 18" id="18"/>
          <p:cNvSpPr txBox="true"/>
          <p:nvPr/>
        </p:nvSpPr>
        <p:spPr>
          <a:xfrm rot="0">
            <a:off x="2628900" y="3331083"/>
            <a:ext cx="5920740" cy="676275"/>
          </a:xfrm>
          <a:prstGeom prst="rect">
            <a:avLst/>
          </a:prstGeom>
        </p:spPr>
        <p:txBody>
          <a:bodyPr anchor="t" rtlCol="false" tIns="0" lIns="0" bIns="0" rIns="0">
            <a:spAutoFit/>
          </a:bodyPr>
          <a:lstStyle/>
          <a:p>
            <a:pPr algn="l">
              <a:lnSpc>
                <a:spcPts val="2520"/>
              </a:lnSpc>
            </a:pPr>
            <a:r>
              <a:rPr lang="en-US" sz="2100">
                <a:solidFill>
                  <a:srgbClr val="6E668A"/>
                </a:solidFill>
                <a:latin typeface="Calibri (MS)"/>
                <a:ea typeface="Calibri (MS)"/>
                <a:cs typeface="Calibri (MS)"/>
                <a:sym typeface="Calibri (MS)"/>
              </a:rPr>
              <a:t>Threads, Task, async/await, and the state machine underneath</a:t>
            </a:r>
          </a:p>
        </p:txBody>
      </p:sp>
      <p:grpSp>
        <p:nvGrpSpPr>
          <p:cNvPr name="Group 19" id="19"/>
          <p:cNvGrpSpPr/>
          <p:nvPr/>
        </p:nvGrpSpPr>
        <p:grpSpPr>
          <a:xfrm rot="0">
            <a:off x="9464040" y="2537460"/>
            <a:ext cx="8023860" cy="1947672"/>
            <a:chOff x="0" y="0"/>
            <a:chExt cx="10698480" cy="2596896"/>
          </a:xfrm>
        </p:grpSpPr>
        <p:sp>
          <p:nvSpPr>
            <p:cNvPr name="Freeform 20" id="20"/>
            <p:cNvSpPr/>
            <p:nvPr/>
          </p:nvSpPr>
          <p:spPr>
            <a:xfrm flipH="false" flipV="false" rot="0">
              <a:off x="0" y="0"/>
              <a:ext cx="10698480" cy="2596896"/>
            </a:xfrm>
            <a:custGeom>
              <a:avLst/>
              <a:gdLst/>
              <a:ahLst/>
              <a:cxnLst/>
              <a:rect r="r" b="b" t="t" l="l"/>
              <a:pathLst>
                <a:path h="2596896" w="10698480">
                  <a:moveTo>
                    <a:pt x="0" y="182880"/>
                  </a:moveTo>
                  <a:cubicBezTo>
                    <a:pt x="0" y="81915"/>
                    <a:pt x="81915" y="0"/>
                    <a:pt x="182880" y="0"/>
                  </a:cubicBezTo>
                  <a:lnTo>
                    <a:pt x="10515600" y="0"/>
                  </a:lnTo>
                  <a:cubicBezTo>
                    <a:pt x="10616565" y="0"/>
                    <a:pt x="10698480" y="81915"/>
                    <a:pt x="10698480" y="182880"/>
                  </a:cubicBezTo>
                  <a:lnTo>
                    <a:pt x="10698480" y="2414016"/>
                  </a:lnTo>
                  <a:cubicBezTo>
                    <a:pt x="10698480" y="2514981"/>
                    <a:pt x="10616565" y="2596896"/>
                    <a:pt x="10515600" y="2596896"/>
                  </a:cubicBezTo>
                  <a:lnTo>
                    <a:pt x="182880" y="2596896"/>
                  </a:lnTo>
                  <a:cubicBezTo>
                    <a:pt x="81915" y="2596896"/>
                    <a:pt x="0" y="2514981"/>
                    <a:pt x="0" y="2414016"/>
                  </a:cubicBezTo>
                  <a:close/>
                </a:path>
              </a:pathLst>
            </a:custGeom>
            <a:solidFill>
              <a:srgbClr val="F4F1FC"/>
            </a:solidFill>
          </p:spPr>
        </p:sp>
      </p:grpSp>
      <p:grpSp>
        <p:nvGrpSpPr>
          <p:cNvPr name="Group 21" id="21"/>
          <p:cNvGrpSpPr/>
          <p:nvPr/>
        </p:nvGrpSpPr>
        <p:grpSpPr>
          <a:xfrm rot="0">
            <a:off x="9848088" y="3031236"/>
            <a:ext cx="960120" cy="960120"/>
            <a:chOff x="0" y="0"/>
            <a:chExt cx="1280160" cy="1280160"/>
          </a:xfrm>
        </p:grpSpPr>
        <p:sp>
          <p:nvSpPr>
            <p:cNvPr name="Freeform 22" id="22"/>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512BD4"/>
            </a:solidFill>
          </p:spPr>
        </p:sp>
      </p:grpSp>
      <p:grpSp>
        <p:nvGrpSpPr>
          <p:cNvPr name="Group 23" id="23"/>
          <p:cNvGrpSpPr/>
          <p:nvPr/>
        </p:nvGrpSpPr>
        <p:grpSpPr>
          <a:xfrm rot="0">
            <a:off x="9848088" y="3031236"/>
            <a:ext cx="960120" cy="960120"/>
            <a:chOff x="0" y="0"/>
            <a:chExt cx="1280160" cy="1280160"/>
          </a:xfrm>
        </p:grpSpPr>
        <p:sp>
          <p:nvSpPr>
            <p:cNvPr name="Freeform 24" id="24"/>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25" id="25"/>
            <p:cNvSpPr txBox="true"/>
            <p:nvPr/>
          </p:nvSpPr>
          <p:spPr>
            <a:xfrm>
              <a:off x="0" y="-19050"/>
              <a:ext cx="1280160" cy="1299210"/>
            </a:xfrm>
            <a:prstGeom prst="rect">
              <a:avLst/>
            </a:prstGeom>
          </p:spPr>
          <p:txBody>
            <a:bodyPr anchor="ctr" rtlCol="false" tIns="0" lIns="0" bIns="0" rIns="0"/>
            <a:lstStyle/>
            <a:p>
              <a:pPr algn="ctr">
                <a:lnSpc>
                  <a:spcPts val="3600"/>
                </a:lnSpc>
              </a:pPr>
              <a:r>
                <a:rPr lang="en-US" sz="3000" b="true">
                  <a:solidFill>
                    <a:srgbClr val="FFFFFF"/>
                  </a:solidFill>
                  <a:latin typeface="Arial Bold"/>
                  <a:ea typeface="Arial Bold"/>
                  <a:cs typeface="Arial Bold"/>
                  <a:sym typeface="Arial Bold"/>
                </a:rPr>
                <a:t>02</a:t>
              </a:r>
            </a:p>
          </p:txBody>
        </p:sp>
      </p:grpSp>
      <p:grpSp>
        <p:nvGrpSpPr>
          <p:cNvPr name="Group 26" id="26"/>
          <p:cNvGrpSpPr/>
          <p:nvPr/>
        </p:nvGrpSpPr>
        <p:grpSpPr>
          <a:xfrm rot="0">
            <a:off x="11041380" y="2756916"/>
            <a:ext cx="6103620" cy="548640"/>
            <a:chOff x="0" y="0"/>
            <a:chExt cx="8138160" cy="731520"/>
          </a:xfrm>
        </p:grpSpPr>
        <p:sp>
          <p:nvSpPr>
            <p:cNvPr name="Freeform 27" id="27"/>
            <p:cNvSpPr/>
            <p:nvPr/>
          </p:nvSpPr>
          <p:spPr>
            <a:xfrm flipH="false" flipV="false" rot="0">
              <a:off x="0" y="0"/>
              <a:ext cx="8138160" cy="731520"/>
            </a:xfrm>
            <a:custGeom>
              <a:avLst/>
              <a:gdLst/>
              <a:ahLst/>
              <a:cxnLst/>
              <a:rect r="r" b="b" t="t" l="l"/>
              <a:pathLst>
                <a:path h="731520" w="8138160">
                  <a:moveTo>
                    <a:pt x="0" y="0"/>
                  </a:moveTo>
                  <a:lnTo>
                    <a:pt x="8138160" y="0"/>
                  </a:lnTo>
                  <a:lnTo>
                    <a:pt x="8138160" y="731520"/>
                  </a:lnTo>
                  <a:lnTo>
                    <a:pt x="0" y="731520"/>
                  </a:lnTo>
                  <a:close/>
                </a:path>
              </a:pathLst>
            </a:custGeom>
            <a:blipFill>
              <a:blip r:embed="rId3">
                <a:alphaModFix amt="0"/>
              </a:blip>
              <a:stretch>
                <a:fillRect l="0" t="-166771" r="0" b="-166771"/>
              </a:stretch>
            </a:blipFill>
          </p:spPr>
        </p:sp>
        <p:sp>
          <p:nvSpPr>
            <p:cNvPr name="TextBox 28" id="28"/>
            <p:cNvSpPr txBox="true"/>
            <p:nvPr/>
          </p:nvSpPr>
          <p:spPr>
            <a:xfrm>
              <a:off x="0" y="-9525"/>
              <a:ext cx="8138160" cy="741045"/>
            </a:xfrm>
            <a:prstGeom prst="rect">
              <a:avLst/>
            </a:prstGeom>
          </p:spPr>
          <p:txBody>
            <a:bodyPr anchor="ctr" rtlCol="false" tIns="0" lIns="0" bIns="0" rIns="0"/>
            <a:lstStyle/>
            <a:p>
              <a:pPr algn="l">
                <a:lnSpc>
                  <a:spcPts val="2879"/>
                </a:lnSpc>
              </a:pPr>
              <a:r>
                <a:rPr lang="en-US" sz="2400" b="true">
                  <a:solidFill>
                    <a:srgbClr val="201A3A"/>
                  </a:solidFill>
                  <a:latin typeface="Arial Bold"/>
                  <a:ea typeface="Arial Bold"/>
                  <a:cs typeface="Arial Bold"/>
                  <a:sym typeface="Arial Bold"/>
                </a:rPr>
                <a:t>Serialization</a:t>
              </a:r>
            </a:p>
          </p:txBody>
        </p:sp>
      </p:grpSp>
      <p:sp>
        <p:nvSpPr>
          <p:cNvPr name="TextBox 29" id="29"/>
          <p:cNvSpPr txBox="true"/>
          <p:nvPr/>
        </p:nvSpPr>
        <p:spPr>
          <a:xfrm rot="0">
            <a:off x="11132820" y="3331083"/>
            <a:ext cx="5920740" cy="676275"/>
          </a:xfrm>
          <a:prstGeom prst="rect">
            <a:avLst/>
          </a:prstGeom>
        </p:spPr>
        <p:txBody>
          <a:bodyPr anchor="t" rtlCol="false" tIns="0" lIns="0" bIns="0" rIns="0">
            <a:spAutoFit/>
          </a:bodyPr>
          <a:lstStyle/>
          <a:p>
            <a:pPr algn="l">
              <a:lnSpc>
                <a:spcPts val="2520"/>
              </a:lnSpc>
            </a:pPr>
            <a:r>
              <a:rPr lang="en-US" sz="2100">
                <a:solidFill>
                  <a:srgbClr val="6E668A"/>
                </a:solidFill>
                <a:latin typeface="Calibri (MS)"/>
                <a:ea typeface="Calibri (MS)"/>
                <a:cs typeface="Calibri (MS)"/>
                <a:sym typeface="Calibri (MS)"/>
              </a:rPr>
              <a:t>System.Text.Json, attributes-driven mapping, versioning</a:t>
            </a:r>
          </a:p>
        </p:txBody>
      </p:sp>
      <p:grpSp>
        <p:nvGrpSpPr>
          <p:cNvPr name="Group 30" id="30"/>
          <p:cNvGrpSpPr/>
          <p:nvPr/>
        </p:nvGrpSpPr>
        <p:grpSpPr>
          <a:xfrm rot="0">
            <a:off x="960120" y="4732020"/>
            <a:ext cx="8023860" cy="1947672"/>
            <a:chOff x="0" y="0"/>
            <a:chExt cx="10698480" cy="2596896"/>
          </a:xfrm>
        </p:grpSpPr>
        <p:sp>
          <p:nvSpPr>
            <p:cNvPr name="Freeform 31" id="31"/>
            <p:cNvSpPr/>
            <p:nvPr/>
          </p:nvSpPr>
          <p:spPr>
            <a:xfrm flipH="false" flipV="false" rot="0">
              <a:off x="0" y="0"/>
              <a:ext cx="10698480" cy="2596896"/>
            </a:xfrm>
            <a:custGeom>
              <a:avLst/>
              <a:gdLst/>
              <a:ahLst/>
              <a:cxnLst/>
              <a:rect r="r" b="b" t="t" l="l"/>
              <a:pathLst>
                <a:path h="2596896" w="10698480">
                  <a:moveTo>
                    <a:pt x="0" y="182880"/>
                  </a:moveTo>
                  <a:cubicBezTo>
                    <a:pt x="0" y="81915"/>
                    <a:pt x="81915" y="0"/>
                    <a:pt x="182880" y="0"/>
                  </a:cubicBezTo>
                  <a:lnTo>
                    <a:pt x="10515600" y="0"/>
                  </a:lnTo>
                  <a:cubicBezTo>
                    <a:pt x="10616565" y="0"/>
                    <a:pt x="10698480" y="81915"/>
                    <a:pt x="10698480" y="182880"/>
                  </a:cubicBezTo>
                  <a:lnTo>
                    <a:pt x="10698480" y="2414016"/>
                  </a:lnTo>
                  <a:cubicBezTo>
                    <a:pt x="10698480" y="2514981"/>
                    <a:pt x="10616565" y="2596896"/>
                    <a:pt x="10515600" y="2596896"/>
                  </a:cubicBezTo>
                  <a:lnTo>
                    <a:pt x="182880" y="2596896"/>
                  </a:lnTo>
                  <a:cubicBezTo>
                    <a:pt x="81915" y="2596896"/>
                    <a:pt x="0" y="2514981"/>
                    <a:pt x="0" y="2414016"/>
                  </a:cubicBezTo>
                  <a:close/>
                </a:path>
              </a:pathLst>
            </a:custGeom>
            <a:solidFill>
              <a:srgbClr val="F4F1FC"/>
            </a:solidFill>
          </p:spPr>
        </p:sp>
      </p:grpSp>
      <p:grpSp>
        <p:nvGrpSpPr>
          <p:cNvPr name="Group 32" id="32"/>
          <p:cNvGrpSpPr/>
          <p:nvPr/>
        </p:nvGrpSpPr>
        <p:grpSpPr>
          <a:xfrm rot="0">
            <a:off x="1344168" y="5225796"/>
            <a:ext cx="960120" cy="960120"/>
            <a:chOff x="0" y="0"/>
            <a:chExt cx="1280160" cy="1280160"/>
          </a:xfrm>
        </p:grpSpPr>
        <p:sp>
          <p:nvSpPr>
            <p:cNvPr name="Freeform 33" id="33"/>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512BD4"/>
            </a:solidFill>
          </p:spPr>
        </p:sp>
      </p:grpSp>
      <p:grpSp>
        <p:nvGrpSpPr>
          <p:cNvPr name="Group 34" id="34"/>
          <p:cNvGrpSpPr/>
          <p:nvPr/>
        </p:nvGrpSpPr>
        <p:grpSpPr>
          <a:xfrm rot="0">
            <a:off x="1344168" y="5225796"/>
            <a:ext cx="960120" cy="960120"/>
            <a:chOff x="0" y="0"/>
            <a:chExt cx="1280160" cy="1280160"/>
          </a:xfrm>
        </p:grpSpPr>
        <p:sp>
          <p:nvSpPr>
            <p:cNvPr name="Freeform 35" id="35"/>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36" id="36"/>
            <p:cNvSpPr txBox="true"/>
            <p:nvPr/>
          </p:nvSpPr>
          <p:spPr>
            <a:xfrm>
              <a:off x="0" y="-19050"/>
              <a:ext cx="1280160" cy="1299210"/>
            </a:xfrm>
            <a:prstGeom prst="rect">
              <a:avLst/>
            </a:prstGeom>
          </p:spPr>
          <p:txBody>
            <a:bodyPr anchor="ctr" rtlCol="false" tIns="0" lIns="0" bIns="0" rIns="0"/>
            <a:lstStyle/>
            <a:p>
              <a:pPr algn="ctr">
                <a:lnSpc>
                  <a:spcPts val="3600"/>
                </a:lnSpc>
              </a:pPr>
              <a:r>
                <a:rPr lang="en-US" sz="3000" b="true">
                  <a:solidFill>
                    <a:srgbClr val="FFFFFF"/>
                  </a:solidFill>
                  <a:latin typeface="Arial Bold"/>
                  <a:ea typeface="Arial Bold"/>
                  <a:cs typeface="Arial Bold"/>
                  <a:sym typeface="Arial Bold"/>
                </a:rPr>
                <a:t>03</a:t>
              </a:r>
            </a:p>
          </p:txBody>
        </p:sp>
      </p:grpSp>
      <p:grpSp>
        <p:nvGrpSpPr>
          <p:cNvPr name="Group 37" id="37"/>
          <p:cNvGrpSpPr/>
          <p:nvPr/>
        </p:nvGrpSpPr>
        <p:grpSpPr>
          <a:xfrm rot="0">
            <a:off x="2537460" y="4951476"/>
            <a:ext cx="6103620" cy="548640"/>
            <a:chOff x="0" y="0"/>
            <a:chExt cx="8138160" cy="731520"/>
          </a:xfrm>
        </p:grpSpPr>
        <p:sp>
          <p:nvSpPr>
            <p:cNvPr name="Freeform 38" id="38"/>
            <p:cNvSpPr/>
            <p:nvPr/>
          </p:nvSpPr>
          <p:spPr>
            <a:xfrm flipH="false" flipV="false" rot="0">
              <a:off x="0" y="0"/>
              <a:ext cx="8138160" cy="731520"/>
            </a:xfrm>
            <a:custGeom>
              <a:avLst/>
              <a:gdLst/>
              <a:ahLst/>
              <a:cxnLst/>
              <a:rect r="r" b="b" t="t" l="l"/>
              <a:pathLst>
                <a:path h="731520" w="8138160">
                  <a:moveTo>
                    <a:pt x="0" y="0"/>
                  </a:moveTo>
                  <a:lnTo>
                    <a:pt x="8138160" y="0"/>
                  </a:lnTo>
                  <a:lnTo>
                    <a:pt x="8138160" y="731520"/>
                  </a:lnTo>
                  <a:lnTo>
                    <a:pt x="0" y="731520"/>
                  </a:lnTo>
                  <a:close/>
                </a:path>
              </a:pathLst>
            </a:custGeom>
            <a:blipFill>
              <a:blip r:embed="rId3">
                <a:alphaModFix amt="0"/>
              </a:blip>
              <a:stretch>
                <a:fillRect l="0" t="-166771" r="0" b="-166771"/>
              </a:stretch>
            </a:blipFill>
          </p:spPr>
        </p:sp>
        <p:sp>
          <p:nvSpPr>
            <p:cNvPr name="TextBox 39" id="39"/>
            <p:cNvSpPr txBox="true"/>
            <p:nvPr/>
          </p:nvSpPr>
          <p:spPr>
            <a:xfrm>
              <a:off x="0" y="-9525"/>
              <a:ext cx="8138160" cy="741045"/>
            </a:xfrm>
            <a:prstGeom prst="rect">
              <a:avLst/>
            </a:prstGeom>
          </p:spPr>
          <p:txBody>
            <a:bodyPr anchor="ctr" rtlCol="false" tIns="0" lIns="0" bIns="0" rIns="0"/>
            <a:lstStyle/>
            <a:p>
              <a:pPr algn="l">
                <a:lnSpc>
                  <a:spcPts val="2879"/>
                </a:lnSpc>
              </a:pPr>
              <a:r>
                <a:rPr lang="en-US" sz="2400" b="true">
                  <a:solidFill>
                    <a:srgbClr val="201A3A"/>
                  </a:solidFill>
                  <a:latin typeface="Arial Bold"/>
                  <a:ea typeface="Arial Bold"/>
                  <a:cs typeface="Arial Bold"/>
                  <a:sym typeface="Arial Bold"/>
                </a:rPr>
                <a:t>Attributes</a:t>
              </a:r>
            </a:p>
          </p:txBody>
        </p:sp>
      </p:grpSp>
      <p:sp>
        <p:nvSpPr>
          <p:cNvPr name="TextBox 40" id="40"/>
          <p:cNvSpPr txBox="true"/>
          <p:nvPr/>
        </p:nvSpPr>
        <p:spPr>
          <a:xfrm rot="0">
            <a:off x="2628900" y="5525643"/>
            <a:ext cx="5920740" cy="361950"/>
          </a:xfrm>
          <a:prstGeom prst="rect">
            <a:avLst/>
          </a:prstGeom>
        </p:spPr>
        <p:txBody>
          <a:bodyPr anchor="t" rtlCol="false" tIns="0" lIns="0" bIns="0" rIns="0">
            <a:spAutoFit/>
          </a:bodyPr>
          <a:lstStyle/>
          <a:p>
            <a:pPr algn="l">
              <a:lnSpc>
                <a:spcPts val="2520"/>
              </a:lnSpc>
            </a:pPr>
            <a:r>
              <a:rPr lang="en-US" sz="2100">
                <a:solidFill>
                  <a:srgbClr val="6E668A"/>
                </a:solidFill>
                <a:latin typeface="Calibri (MS)"/>
                <a:ea typeface="Calibri (MS)"/>
                <a:cs typeface="Calibri (MS)"/>
                <a:sym typeface="Calibri (MS)"/>
              </a:rPr>
              <a:t>Declarative metadata — inert until reflection reads it</a:t>
            </a:r>
          </a:p>
        </p:txBody>
      </p:sp>
      <p:grpSp>
        <p:nvGrpSpPr>
          <p:cNvPr name="Group 41" id="41"/>
          <p:cNvGrpSpPr/>
          <p:nvPr/>
        </p:nvGrpSpPr>
        <p:grpSpPr>
          <a:xfrm rot="0">
            <a:off x="9464040" y="4732020"/>
            <a:ext cx="8023860" cy="1947672"/>
            <a:chOff x="0" y="0"/>
            <a:chExt cx="10698480" cy="2596896"/>
          </a:xfrm>
        </p:grpSpPr>
        <p:sp>
          <p:nvSpPr>
            <p:cNvPr name="Freeform 42" id="42"/>
            <p:cNvSpPr/>
            <p:nvPr/>
          </p:nvSpPr>
          <p:spPr>
            <a:xfrm flipH="false" flipV="false" rot="0">
              <a:off x="0" y="0"/>
              <a:ext cx="10698480" cy="2596896"/>
            </a:xfrm>
            <a:custGeom>
              <a:avLst/>
              <a:gdLst/>
              <a:ahLst/>
              <a:cxnLst/>
              <a:rect r="r" b="b" t="t" l="l"/>
              <a:pathLst>
                <a:path h="2596896" w="10698480">
                  <a:moveTo>
                    <a:pt x="0" y="182880"/>
                  </a:moveTo>
                  <a:cubicBezTo>
                    <a:pt x="0" y="81915"/>
                    <a:pt x="81915" y="0"/>
                    <a:pt x="182880" y="0"/>
                  </a:cubicBezTo>
                  <a:lnTo>
                    <a:pt x="10515600" y="0"/>
                  </a:lnTo>
                  <a:cubicBezTo>
                    <a:pt x="10616565" y="0"/>
                    <a:pt x="10698480" y="81915"/>
                    <a:pt x="10698480" y="182880"/>
                  </a:cubicBezTo>
                  <a:lnTo>
                    <a:pt x="10698480" y="2414016"/>
                  </a:lnTo>
                  <a:cubicBezTo>
                    <a:pt x="10698480" y="2514981"/>
                    <a:pt x="10616565" y="2596896"/>
                    <a:pt x="10515600" y="2596896"/>
                  </a:cubicBezTo>
                  <a:lnTo>
                    <a:pt x="182880" y="2596896"/>
                  </a:lnTo>
                  <a:cubicBezTo>
                    <a:pt x="81915" y="2596896"/>
                    <a:pt x="0" y="2514981"/>
                    <a:pt x="0" y="2414016"/>
                  </a:cubicBezTo>
                  <a:close/>
                </a:path>
              </a:pathLst>
            </a:custGeom>
            <a:solidFill>
              <a:srgbClr val="F4F1FC"/>
            </a:solidFill>
          </p:spPr>
        </p:sp>
      </p:grpSp>
      <p:grpSp>
        <p:nvGrpSpPr>
          <p:cNvPr name="Group 43" id="43"/>
          <p:cNvGrpSpPr/>
          <p:nvPr/>
        </p:nvGrpSpPr>
        <p:grpSpPr>
          <a:xfrm rot="0">
            <a:off x="9848088" y="5225796"/>
            <a:ext cx="960120" cy="960120"/>
            <a:chOff x="0" y="0"/>
            <a:chExt cx="1280160" cy="1280160"/>
          </a:xfrm>
        </p:grpSpPr>
        <p:sp>
          <p:nvSpPr>
            <p:cNvPr name="Freeform 44" id="44"/>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512BD4"/>
            </a:solidFill>
          </p:spPr>
        </p:sp>
      </p:grpSp>
      <p:grpSp>
        <p:nvGrpSpPr>
          <p:cNvPr name="Group 45" id="45"/>
          <p:cNvGrpSpPr/>
          <p:nvPr/>
        </p:nvGrpSpPr>
        <p:grpSpPr>
          <a:xfrm rot="0">
            <a:off x="9848088" y="5225796"/>
            <a:ext cx="960120" cy="960120"/>
            <a:chOff x="0" y="0"/>
            <a:chExt cx="1280160" cy="1280160"/>
          </a:xfrm>
        </p:grpSpPr>
        <p:sp>
          <p:nvSpPr>
            <p:cNvPr name="Freeform 46" id="46"/>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47" id="47"/>
            <p:cNvSpPr txBox="true"/>
            <p:nvPr/>
          </p:nvSpPr>
          <p:spPr>
            <a:xfrm>
              <a:off x="0" y="-19050"/>
              <a:ext cx="1280160" cy="1299210"/>
            </a:xfrm>
            <a:prstGeom prst="rect">
              <a:avLst/>
            </a:prstGeom>
          </p:spPr>
          <p:txBody>
            <a:bodyPr anchor="ctr" rtlCol="false" tIns="0" lIns="0" bIns="0" rIns="0"/>
            <a:lstStyle/>
            <a:p>
              <a:pPr algn="ctr">
                <a:lnSpc>
                  <a:spcPts val="3600"/>
                </a:lnSpc>
              </a:pPr>
              <a:r>
                <a:rPr lang="en-US" sz="3000" b="true">
                  <a:solidFill>
                    <a:srgbClr val="FFFFFF"/>
                  </a:solidFill>
                  <a:latin typeface="Arial Bold"/>
                  <a:ea typeface="Arial Bold"/>
                  <a:cs typeface="Arial Bold"/>
                  <a:sym typeface="Arial Bold"/>
                </a:rPr>
                <a:t>04</a:t>
              </a:r>
            </a:p>
          </p:txBody>
        </p:sp>
      </p:grpSp>
      <p:grpSp>
        <p:nvGrpSpPr>
          <p:cNvPr name="Group 48" id="48"/>
          <p:cNvGrpSpPr/>
          <p:nvPr/>
        </p:nvGrpSpPr>
        <p:grpSpPr>
          <a:xfrm rot="0">
            <a:off x="11041380" y="4951476"/>
            <a:ext cx="6103620" cy="548640"/>
            <a:chOff x="0" y="0"/>
            <a:chExt cx="8138160" cy="731520"/>
          </a:xfrm>
        </p:grpSpPr>
        <p:sp>
          <p:nvSpPr>
            <p:cNvPr name="Freeform 49" id="49"/>
            <p:cNvSpPr/>
            <p:nvPr/>
          </p:nvSpPr>
          <p:spPr>
            <a:xfrm flipH="false" flipV="false" rot="0">
              <a:off x="0" y="0"/>
              <a:ext cx="8138160" cy="731520"/>
            </a:xfrm>
            <a:custGeom>
              <a:avLst/>
              <a:gdLst/>
              <a:ahLst/>
              <a:cxnLst/>
              <a:rect r="r" b="b" t="t" l="l"/>
              <a:pathLst>
                <a:path h="731520" w="8138160">
                  <a:moveTo>
                    <a:pt x="0" y="0"/>
                  </a:moveTo>
                  <a:lnTo>
                    <a:pt x="8138160" y="0"/>
                  </a:lnTo>
                  <a:lnTo>
                    <a:pt x="8138160" y="731520"/>
                  </a:lnTo>
                  <a:lnTo>
                    <a:pt x="0" y="731520"/>
                  </a:lnTo>
                  <a:close/>
                </a:path>
              </a:pathLst>
            </a:custGeom>
            <a:blipFill>
              <a:blip r:embed="rId3">
                <a:alphaModFix amt="0"/>
              </a:blip>
              <a:stretch>
                <a:fillRect l="0" t="-166771" r="0" b="-166771"/>
              </a:stretch>
            </a:blipFill>
          </p:spPr>
        </p:sp>
        <p:sp>
          <p:nvSpPr>
            <p:cNvPr name="TextBox 50" id="50"/>
            <p:cNvSpPr txBox="true"/>
            <p:nvPr/>
          </p:nvSpPr>
          <p:spPr>
            <a:xfrm>
              <a:off x="0" y="-9525"/>
              <a:ext cx="8138160" cy="741045"/>
            </a:xfrm>
            <a:prstGeom prst="rect">
              <a:avLst/>
            </a:prstGeom>
          </p:spPr>
          <p:txBody>
            <a:bodyPr anchor="ctr" rtlCol="false" tIns="0" lIns="0" bIns="0" rIns="0"/>
            <a:lstStyle/>
            <a:p>
              <a:pPr algn="l">
                <a:lnSpc>
                  <a:spcPts val="2879"/>
                </a:lnSpc>
              </a:pPr>
              <a:r>
                <a:rPr lang="en-US" sz="2400" b="true">
                  <a:solidFill>
                    <a:srgbClr val="201A3A"/>
                  </a:solidFill>
                  <a:latin typeface="Arial Bold"/>
                  <a:ea typeface="Arial Bold"/>
                  <a:cs typeface="Arial Bold"/>
                  <a:sym typeface="Arial Bold"/>
                </a:rPr>
                <a:t>Assemblies</a:t>
              </a:r>
            </a:p>
          </p:txBody>
        </p:sp>
      </p:grpSp>
      <p:sp>
        <p:nvSpPr>
          <p:cNvPr name="TextBox 51" id="51"/>
          <p:cNvSpPr txBox="true"/>
          <p:nvPr/>
        </p:nvSpPr>
        <p:spPr>
          <a:xfrm rot="0">
            <a:off x="11132820" y="5525643"/>
            <a:ext cx="5920740" cy="361950"/>
          </a:xfrm>
          <a:prstGeom prst="rect">
            <a:avLst/>
          </a:prstGeom>
        </p:spPr>
        <p:txBody>
          <a:bodyPr anchor="t" rtlCol="false" tIns="0" lIns="0" bIns="0" rIns="0">
            <a:spAutoFit/>
          </a:bodyPr>
          <a:lstStyle/>
          <a:p>
            <a:pPr algn="l">
              <a:lnSpc>
                <a:spcPts val="2520"/>
              </a:lnSpc>
            </a:pPr>
            <a:r>
              <a:rPr lang="en-US" sz="2100">
                <a:solidFill>
                  <a:srgbClr val="6E668A"/>
                </a:solidFill>
                <a:latin typeface="Calibri (MS)"/>
                <a:ea typeface="Calibri (MS)"/>
                <a:cs typeface="Calibri (MS)"/>
                <a:sym typeface="Calibri (MS)"/>
              </a:rPr>
              <a:t>IL, manifests, and loading code at runtime</a:t>
            </a:r>
          </a:p>
        </p:txBody>
      </p:sp>
      <p:grpSp>
        <p:nvGrpSpPr>
          <p:cNvPr name="Group 52" id="52"/>
          <p:cNvGrpSpPr/>
          <p:nvPr/>
        </p:nvGrpSpPr>
        <p:grpSpPr>
          <a:xfrm rot="0">
            <a:off x="960120" y="6926580"/>
            <a:ext cx="8023860" cy="1947672"/>
            <a:chOff x="0" y="0"/>
            <a:chExt cx="10698480" cy="2596896"/>
          </a:xfrm>
        </p:grpSpPr>
        <p:sp>
          <p:nvSpPr>
            <p:cNvPr name="Freeform 53" id="53"/>
            <p:cNvSpPr/>
            <p:nvPr/>
          </p:nvSpPr>
          <p:spPr>
            <a:xfrm flipH="false" flipV="false" rot="0">
              <a:off x="0" y="0"/>
              <a:ext cx="10698480" cy="2596896"/>
            </a:xfrm>
            <a:custGeom>
              <a:avLst/>
              <a:gdLst/>
              <a:ahLst/>
              <a:cxnLst/>
              <a:rect r="r" b="b" t="t" l="l"/>
              <a:pathLst>
                <a:path h="2596896" w="10698480">
                  <a:moveTo>
                    <a:pt x="0" y="182880"/>
                  </a:moveTo>
                  <a:cubicBezTo>
                    <a:pt x="0" y="81915"/>
                    <a:pt x="81915" y="0"/>
                    <a:pt x="182880" y="0"/>
                  </a:cubicBezTo>
                  <a:lnTo>
                    <a:pt x="10515600" y="0"/>
                  </a:lnTo>
                  <a:cubicBezTo>
                    <a:pt x="10616565" y="0"/>
                    <a:pt x="10698480" y="81915"/>
                    <a:pt x="10698480" y="182880"/>
                  </a:cubicBezTo>
                  <a:lnTo>
                    <a:pt x="10698480" y="2414016"/>
                  </a:lnTo>
                  <a:cubicBezTo>
                    <a:pt x="10698480" y="2514981"/>
                    <a:pt x="10616565" y="2596896"/>
                    <a:pt x="10515600" y="2596896"/>
                  </a:cubicBezTo>
                  <a:lnTo>
                    <a:pt x="182880" y="2596896"/>
                  </a:lnTo>
                  <a:cubicBezTo>
                    <a:pt x="81915" y="2596896"/>
                    <a:pt x="0" y="2514981"/>
                    <a:pt x="0" y="2414016"/>
                  </a:cubicBezTo>
                  <a:close/>
                </a:path>
              </a:pathLst>
            </a:custGeom>
            <a:solidFill>
              <a:srgbClr val="F4F1FC"/>
            </a:solidFill>
          </p:spPr>
        </p:sp>
      </p:grpSp>
      <p:grpSp>
        <p:nvGrpSpPr>
          <p:cNvPr name="Group 54" id="54"/>
          <p:cNvGrpSpPr/>
          <p:nvPr/>
        </p:nvGrpSpPr>
        <p:grpSpPr>
          <a:xfrm rot="0">
            <a:off x="1344168" y="7420356"/>
            <a:ext cx="960120" cy="960120"/>
            <a:chOff x="0" y="0"/>
            <a:chExt cx="1280160" cy="1280160"/>
          </a:xfrm>
        </p:grpSpPr>
        <p:sp>
          <p:nvSpPr>
            <p:cNvPr name="Freeform 55" id="55"/>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512BD4"/>
            </a:solidFill>
          </p:spPr>
        </p:sp>
      </p:grpSp>
      <p:grpSp>
        <p:nvGrpSpPr>
          <p:cNvPr name="Group 56" id="56"/>
          <p:cNvGrpSpPr/>
          <p:nvPr/>
        </p:nvGrpSpPr>
        <p:grpSpPr>
          <a:xfrm rot="0">
            <a:off x="1344168" y="7420356"/>
            <a:ext cx="960120" cy="960120"/>
            <a:chOff x="0" y="0"/>
            <a:chExt cx="1280160" cy="1280160"/>
          </a:xfrm>
        </p:grpSpPr>
        <p:sp>
          <p:nvSpPr>
            <p:cNvPr name="Freeform 57" id="57"/>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58" id="58"/>
            <p:cNvSpPr txBox="true"/>
            <p:nvPr/>
          </p:nvSpPr>
          <p:spPr>
            <a:xfrm>
              <a:off x="0" y="-19050"/>
              <a:ext cx="1280160" cy="1299210"/>
            </a:xfrm>
            <a:prstGeom prst="rect">
              <a:avLst/>
            </a:prstGeom>
          </p:spPr>
          <p:txBody>
            <a:bodyPr anchor="ctr" rtlCol="false" tIns="0" lIns="0" bIns="0" rIns="0"/>
            <a:lstStyle/>
            <a:p>
              <a:pPr algn="ctr">
                <a:lnSpc>
                  <a:spcPts val="3600"/>
                </a:lnSpc>
              </a:pPr>
              <a:r>
                <a:rPr lang="en-US" sz="3000" b="true">
                  <a:solidFill>
                    <a:srgbClr val="FFFFFF"/>
                  </a:solidFill>
                  <a:latin typeface="Arial Bold"/>
                  <a:ea typeface="Arial Bold"/>
                  <a:cs typeface="Arial Bold"/>
                  <a:sym typeface="Arial Bold"/>
                </a:rPr>
                <a:t>05</a:t>
              </a:r>
            </a:p>
          </p:txBody>
        </p:sp>
      </p:grpSp>
      <p:grpSp>
        <p:nvGrpSpPr>
          <p:cNvPr name="Group 59" id="59"/>
          <p:cNvGrpSpPr/>
          <p:nvPr/>
        </p:nvGrpSpPr>
        <p:grpSpPr>
          <a:xfrm rot="0">
            <a:off x="2537460" y="7146036"/>
            <a:ext cx="6103620" cy="548640"/>
            <a:chOff x="0" y="0"/>
            <a:chExt cx="8138160" cy="731520"/>
          </a:xfrm>
        </p:grpSpPr>
        <p:sp>
          <p:nvSpPr>
            <p:cNvPr name="Freeform 60" id="60"/>
            <p:cNvSpPr/>
            <p:nvPr/>
          </p:nvSpPr>
          <p:spPr>
            <a:xfrm flipH="false" flipV="false" rot="0">
              <a:off x="0" y="0"/>
              <a:ext cx="8138160" cy="731520"/>
            </a:xfrm>
            <a:custGeom>
              <a:avLst/>
              <a:gdLst/>
              <a:ahLst/>
              <a:cxnLst/>
              <a:rect r="r" b="b" t="t" l="l"/>
              <a:pathLst>
                <a:path h="731520" w="8138160">
                  <a:moveTo>
                    <a:pt x="0" y="0"/>
                  </a:moveTo>
                  <a:lnTo>
                    <a:pt x="8138160" y="0"/>
                  </a:lnTo>
                  <a:lnTo>
                    <a:pt x="8138160" y="731520"/>
                  </a:lnTo>
                  <a:lnTo>
                    <a:pt x="0" y="731520"/>
                  </a:lnTo>
                  <a:close/>
                </a:path>
              </a:pathLst>
            </a:custGeom>
            <a:blipFill>
              <a:blip r:embed="rId3">
                <a:alphaModFix amt="0"/>
              </a:blip>
              <a:stretch>
                <a:fillRect l="0" t="-166771" r="0" b="-166771"/>
              </a:stretch>
            </a:blipFill>
          </p:spPr>
        </p:sp>
        <p:sp>
          <p:nvSpPr>
            <p:cNvPr name="TextBox 61" id="61"/>
            <p:cNvSpPr txBox="true"/>
            <p:nvPr/>
          </p:nvSpPr>
          <p:spPr>
            <a:xfrm>
              <a:off x="0" y="-9525"/>
              <a:ext cx="8138160" cy="741045"/>
            </a:xfrm>
            <a:prstGeom prst="rect">
              <a:avLst/>
            </a:prstGeom>
          </p:spPr>
          <p:txBody>
            <a:bodyPr anchor="ctr" rtlCol="false" tIns="0" lIns="0" bIns="0" rIns="0"/>
            <a:lstStyle/>
            <a:p>
              <a:pPr algn="l">
                <a:lnSpc>
                  <a:spcPts val="2879"/>
                </a:lnSpc>
              </a:pPr>
              <a:r>
                <a:rPr lang="en-US" sz="2400" b="true">
                  <a:solidFill>
                    <a:srgbClr val="201A3A"/>
                  </a:solidFill>
                  <a:latin typeface="Arial Bold"/>
                  <a:ea typeface="Arial Bold"/>
                  <a:cs typeface="Arial Bold"/>
                  <a:sym typeface="Arial Bold"/>
                </a:rPr>
                <a:t>Reflection</a:t>
              </a:r>
            </a:p>
          </p:txBody>
        </p:sp>
      </p:grpSp>
      <p:sp>
        <p:nvSpPr>
          <p:cNvPr name="TextBox 62" id="62"/>
          <p:cNvSpPr txBox="true"/>
          <p:nvPr/>
        </p:nvSpPr>
        <p:spPr>
          <a:xfrm rot="0">
            <a:off x="2628900" y="7720203"/>
            <a:ext cx="5920740" cy="361950"/>
          </a:xfrm>
          <a:prstGeom prst="rect">
            <a:avLst/>
          </a:prstGeom>
        </p:spPr>
        <p:txBody>
          <a:bodyPr anchor="t" rtlCol="false" tIns="0" lIns="0" bIns="0" rIns="0">
            <a:spAutoFit/>
          </a:bodyPr>
          <a:lstStyle/>
          <a:p>
            <a:pPr algn="l">
              <a:lnSpc>
                <a:spcPts val="2520"/>
              </a:lnSpc>
            </a:pPr>
            <a:r>
              <a:rPr lang="en-US" sz="2100">
                <a:solidFill>
                  <a:srgbClr val="6E668A"/>
                </a:solidFill>
                <a:latin typeface="Calibri (MS)"/>
                <a:ea typeface="Calibri (MS)"/>
                <a:cs typeface="Calibri (MS)"/>
                <a:sym typeface="Calibri (MS)"/>
              </a:rPr>
              <a:t>Inspecting &amp; invoking types dynamically — and its cost</a:t>
            </a:r>
          </a:p>
        </p:txBody>
      </p:sp>
      <p:grpSp>
        <p:nvGrpSpPr>
          <p:cNvPr name="Group 63" id="63"/>
          <p:cNvGrpSpPr/>
          <p:nvPr/>
        </p:nvGrpSpPr>
        <p:grpSpPr>
          <a:xfrm rot="0">
            <a:off x="9464040" y="6926580"/>
            <a:ext cx="8023860" cy="1947672"/>
            <a:chOff x="0" y="0"/>
            <a:chExt cx="10698480" cy="2596896"/>
          </a:xfrm>
        </p:grpSpPr>
        <p:sp>
          <p:nvSpPr>
            <p:cNvPr name="Freeform 64" id="64"/>
            <p:cNvSpPr/>
            <p:nvPr/>
          </p:nvSpPr>
          <p:spPr>
            <a:xfrm flipH="false" flipV="false" rot="0">
              <a:off x="0" y="0"/>
              <a:ext cx="10698480" cy="2596896"/>
            </a:xfrm>
            <a:custGeom>
              <a:avLst/>
              <a:gdLst/>
              <a:ahLst/>
              <a:cxnLst/>
              <a:rect r="r" b="b" t="t" l="l"/>
              <a:pathLst>
                <a:path h="2596896" w="10698480">
                  <a:moveTo>
                    <a:pt x="0" y="182880"/>
                  </a:moveTo>
                  <a:cubicBezTo>
                    <a:pt x="0" y="81915"/>
                    <a:pt x="81915" y="0"/>
                    <a:pt x="182880" y="0"/>
                  </a:cubicBezTo>
                  <a:lnTo>
                    <a:pt x="10515600" y="0"/>
                  </a:lnTo>
                  <a:cubicBezTo>
                    <a:pt x="10616565" y="0"/>
                    <a:pt x="10698480" y="81915"/>
                    <a:pt x="10698480" y="182880"/>
                  </a:cubicBezTo>
                  <a:lnTo>
                    <a:pt x="10698480" y="2414016"/>
                  </a:lnTo>
                  <a:cubicBezTo>
                    <a:pt x="10698480" y="2514981"/>
                    <a:pt x="10616565" y="2596896"/>
                    <a:pt x="10515600" y="2596896"/>
                  </a:cubicBezTo>
                  <a:lnTo>
                    <a:pt x="182880" y="2596896"/>
                  </a:lnTo>
                  <a:cubicBezTo>
                    <a:pt x="81915" y="2596896"/>
                    <a:pt x="0" y="2514981"/>
                    <a:pt x="0" y="2414016"/>
                  </a:cubicBezTo>
                  <a:close/>
                </a:path>
              </a:pathLst>
            </a:custGeom>
            <a:solidFill>
              <a:srgbClr val="F4F1FC"/>
            </a:solidFill>
          </p:spPr>
        </p:sp>
      </p:grpSp>
      <p:grpSp>
        <p:nvGrpSpPr>
          <p:cNvPr name="Group 65" id="65"/>
          <p:cNvGrpSpPr/>
          <p:nvPr/>
        </p:nvGrpSpPr>
        <p:grpSpPr>
          <a:xfrm rot="0">
            <a:off x="9848088" y="7420356"/>
            <a:ext cx="960120" cy="960120"/>
            <a:chOff x="0" y="0"/>
            <a:chExt cx="1280160" cy="1280160"/>
          </a:xfrm>
        </p:grpSpPr>
        <p:sp>
          <p:nvSpPr>
            <p:cNvPr name="Freeform 66" id="66"/>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512BD4"/>
            </a:solidFill>
          </p:spPr>
        </p:sp>
      </p:grpSp>
      <p:grpSp>
        <p:nvGrpSpPr>
          <p:cNvPr name="Group 67" id="67"/>
          <p:cNvGrpSpPr/>
          <p:nvPr/>
        </p:nvGrpSpPr>
        <p:grpSpPr>
          <a:xfrm rot="0">
            <a:off x="9848088" y="7420356"/>
            <a:ext cx="960120" cy="960120"/>
            <a:chOff x="0" y="0"/>
            <a:chExt cx="1280160" cy="1280160"/>
          </a:xfrm>
        </p:grpSpPr>
        <p:sp>
          <p:nvSpPr>
            <p:cNvPr name="Freeform 68" id="68"/>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3">
                <a:alphaModFix amt="0"/>
              </a:blip>
              <a:stretch>
                <a:fillRect l="-78303" t="0" r="-78303" b="0"/>
              </a:stretch>
            </a:blipFill>
          </p:spPr>
        </p:sp>
        <p:sp>
          <p:nvSpPr>
            <p:cNvPr name="TextBox 69" id="69"/>
            <p:cNvSpPr txBox="true"/>
            <p:nvPr/>
          </p:nvSpPr>
          <p:spPr>
            <a:xfrm>
              <a:off x="0" y="-19050"/>
              <a:ext cx="1280160" cy="1299210"/>
            </a:xfrm>
            <a:prstGeom prst="rect">
              <a:avLst/>
            </a:prstGeom>
          </p:spPr>
          <p:txBody>
            <a:bodyPr anchor="ctr" rtlCol="false" tIns="0" lIns="0" bIns="0" rIns="0"/>
            <a:lstStyle/>
            <a:p>
              <a:pPr algn="ctr">
                <a:lnSpc>
                  <a:spcPts val="3600"/>
                </a:lnSpc>
              </a:pPr>
              <a:r>
                <a:rPr lang="en-US" sz="3000" b="true">
                  <a:solidFill>
                    <a:srgbClr val="FFFFFF"/>
                  </a:solidFill>
                  <a:latin typeface="Arial Bold"/>
                  <a:ea typeface="Arial Bold"/>
                  <a:cs typeface="Arial Bold"/>
                  <a:sym typeface="Arial Bold"/>
                </a:rPr>
                <a:t>06</a:t>
              </a:r>
            </a:p>
          </p:txBody>
        </p:sp>
      </p:grpSp>
      <p:grpSp>
        <p:nvGrpSpPr>
          <p:cNvPr name="Group 70" id="70"/>
          <p:cNvGrpSpPr/>
          <p:nvPr/>
        </p:nvGrpSpPr>
        <p:grpSpPr>
          <a:xfrm rot="0">
            <a:off x="11041380" y="7146036"/>
            <a:ext cx="6103620" cy="548640"/>
            <a:chOff x="0" y="0"/>
            <a:chExt cx="8138160" cy="731520"/>
          </a:xfrm>
        </p:grpSpPr>
        <p:sp>
          <p:nvSpPr>
            <p:cNvPr name="Freeform 71" id="71"/>
            <p:cNvSpPr/>
            <p:nvPr/>
          </p:nvSpPr>
          <p:spPr>
            <a:xfrm flipH="false" flipV="false" rot="0">
              <a:off x="0" y="0"/>
              <a:ext cx="8138160" cy="731520"/>
            </a:xfrm>
            <a:custGeom>
              <a:avLst/>
              <a:gdLst/>
              <a:ahLst/>
              <a:cxnLst/>
              <a:rect r="r" b="b" t="t" l="l"/>
              <a:pathLst>
                <a:path h="731520" w="8138160">
                  <a:moveTo>
                    <a:pt x="0" y="0"/>
                  </a:moveTo>
                  <a:lnTo>
                    <a:pt x="8138160" y="0"/>
                  </a:lnTo>
                  <a:lnTo>
                    <a:pt x="8138160" y="731520"/>
                  </a:lnTo>
                  <a:lnTo>
                    <a:pt x="0" y="731520"/>
                  </a:lnTo>
                  <a:close/>
                </a:path>
              </a:pathLst>
            </a:custGeom>
            <a:blipFill>
              <a:blip r:embed="rId3">
                <a:alphaModFix amt="0"/>
              </a:blip>
              <a:stretch>
                <a:fillRect l="0" t="-166771" r="0" b="-166771"/>
              </a:stretch>
            </a:blipFill>
          </p:spPr>
        </p:sp>
        <p:sp>
          <p:nvSpPr>
            <p:cNvPr name="TextBox 72" id="72"/>
            <p:cNvSpPr txBox="true"/>
            <p:nvPr/>
          </p:nvSpPr>
          <p:spPr>
            <a:xfrm>
              <a:off x="0" y="-9525"/>
              <a:ext cx="8138160" cy="741045"/>
            </a:xfrm>
            <a:prstGeom prst="rect">
              <a:avLst/>
            </a:prstGeom>
          </p:spPr>
          <p:txBody>
            <a:bodyPr anchor="ctr" rtlCol="false" tIns="0" lIns="0" bIns="0" rIns="0"/>
            <a:lstStyle/>
            <a:p>
              <a:pPr algn="l">
                <a:lnSpc>
                  <a:spcPts val="2879"/>
                </a:lnSpc>
              </a:pPr>
              <a:r>
                <a:rPr lang="en-US" sz="2400" b="true">
                  <a:solidFill>
                    <a:srgbClr val="201A3A"/>
                  </a:solidFill>
                  <a:latin typeface="Arial Bold"/>
                  <a:ea typeface="Arial Bold"/>
                  <a:cs typeface="Arial Bold"/>
                  <a:sym typeface="Arial Bold"/>
                </a:rPr>
                <a:t>Worked Example</a:t>
              </a:r>
            </a:p>
          </p:txBody>
        </p:sp>
      </p:grpSp>
      <p:sp>
        <p:nvSpPr>
          <p:cNvPr name="TextBox 73" id="73"/>
          <p:cNvSpPr txBox="true"/>
          <p:nvPr/>
        </p:nvSpPr>
        <p:spPr>
          <a:xfrm rot="0">
            <a:off x="11132820" y="7720203"/>
            <a:ext cx="5920740" cy="361950"/>
          </a:xfrm>
          <a:prstGeom prst="rect">
            <a:avLst/>
          </a:prstGeom>
        </p:spPr>
        <p:txBody>
          <a:bodyPr anchor="t" rtlCol="false" tIns="0" lIns="0" bIns="0" rIns="0">
            <a:spAutoFit/>
          </a:bodyPr>
          <a:lstStyle/>
          <a:p>
            <a:pPr algn="l">
              <a:lnSpc>
                <a:spcPts val="2520"/>
              </a:lnSpc>
            </a:pPr>
            <a:r>
              <a:rPr lang="en-US" sz="2100">
                <a:solidFill>
                  <a:srgbClr val="6E668A"/>
                </a:solidFill>
                <a:latin typeface="Calibri (MS)"/>
                <a:ea typeface="Calibri (MS)"/>
                <a:cs typeface="Calibri (MS)"/>
                <a:sym typeface="Calibri (MS)"/>
              </a:rPr>
              <a:t>Wiring all four together into one mini-mapper</a:t>
            </a:r>
          </a:p>
        </p:txBody>
      </p:sp>
      <p:grpSp>
        <p:nvGrpSpPr>
          <p:cNvPr name="Group 74" id="74"/>
          <p:cNvGrpSpPr/>
          <p:nvPr/>
        </p:nvGrpSpPr>
        <p:grpSpPr>
          <a:xfrm rot="0">
            <a:off x="17053103" y="9820656"/>
            <a:ext cx="685800" cy="411480"/>
            <a:chOff x="0" y="0"/>
            <a:chExt cx="914400" cy="548640"/>
          </a:xfrm>
        </p:grpSpPr>
        <p:sp>
          <p:nvSpPr>
            <p:cNvPr name="Freeform 75" id="7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6" id="7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a:t>
              </a:r>
            </a:p>
          </p:txBody>
        </p:sp>
      </p:grpSp>
      <p:grpSp>
        <p:nvGrpSpPr>
          <p:cNvPr name="Group 77" id="77"/>
          <p:cNvGrpSpPr/>
          <p:nvPr/>
        </p:nvGrpSpPr>
        <p:grpSpPr>
          <a:xfrm rot="0">
            <a:off x="17053103" y="9820656"/>
            <a:ext cx="685800" cy="411480"/>
            <a:chOff x="0" y="0"/>
            <a:chExt cx="914400" cy="548640"/>
          </a:xfrm>
        </p:grpSpPr>
        <p:sp>
          <p:nvSpPr>
            <p:cNvPr name="Freeform 78" id="7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79" id="7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1316736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512BD4">
                <a:alpha val="17255"/>
              </a:srgbClr>
            </a:solidFill>
          </p:spPr>
        </p:sp>
      </p:grpSp>
      <p:grpSp>
        <p:nvGrpSpPr>
          <p:cNvPr name="Group 4" id="4"/>
          <p:cNvGrpSpPr/>
          <p:nvPr/>
        </p:nvGrpSpPr>
        <p:grpSpPr>
          <a:xfrm rot="0">
            <a:off x="1234440" y="3497580"/>
            <a:ext cx="8229600" cy="548640"/>
            <a:chOff x="0" y="0"/>
            <a:chExt cx="10972800" cy="731520"/>
          </a:xfrm>
        </p:grpSpPr>
        <p:sp>
          <p:nvSpPr>
            <p:cNvPr name="Freeform 5" id="5"/>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6" id="6"/>
            <p:cNvSpPr txBox="true"/>
            <p:nvPr/>
          </p:nvSpPr>
          <p:spPr>
            <a:xfrm>
              <a:off x="0" y="-47625"/>
              <a:ext cx="10972800" cy="779145"/>
            </a:xfrm>
            <a:prstGeom prst="rect">
              <a:avLst/>
            </a:prstGeom>
          </p:spPr>
          <p:txBody>
            <a:bodyPr anchor="ctr" rtlCol="false" tIns="0" lIns="0" bIns="0" rIns="0"/>
            <a:lstStyle/>
            <a:p>
              <a:pPr algn="l">
                <a:lnSpc>
                  <a:spcPts val="2340"/>
                </a:lnSpc>
              </a:pPr>
              <a:r>
                <a:rPr lang="en-US" b="true" sz="1950" spc="450">
                  <a:solidFill>
                    <a:srgbClr val="22D3EE"/>
                  </a:solidFill>
                  <a:latin typeface="Calibri (MS) Bold"/>
                  <a:ea typeface="Calibri (MS) Bold"/>
                  <a:cs typeface="Calibri (MS) Bold"/>
                  <a:sym typeface="Calibri (MS) Bold"/>
                </a:rPr>
                <a:t>SECTION 01 / 05</a:t>
              </a:r>
            </a:p>
          </p:txBody>
        </p:sp>
      </p:grpSp>
      <p:grpSp>
        <p:nvGrpSpPr>
          <p:cNvPr name="Group 7" id="7"/>
          <p:cNvGrpSpPr/>
          <p:nvPr/>
        </p:nvGrpSpPr>
        <p:grpSpPr>
          <a:xfrm rot="0">
            <a:off x="1165860" y="4114800"/>
            <a:ext cx="13030200" cy="1920240"/>
            <a:chOff x="0" y="0"/>
            <a:chExt cx="17373600" cy="2560320"/>
          </a:xfrm>
        </p:grpSpPr>
        <p:sp>
          <p:nvSpPr>
            <p:cNvPr name="Freeform 8" id="8"/>
            <p:cNvSpPr/>
            <p:nvPr/>
          </p:nvSpPr>
          <p:spPr>
            <a:xfrm flipH="false" flipV="false" rot="0">
              <a:off x="0" y="0"/>
              <a:ext cx="17373600" cy="2560320"/>
            </a:xfrm>
            <a:custGeom>
              <a:avLst/>
              <a:gdLst/>
              <a:ahLst/>
              <a:cxnLst/>
              <a:rect r="r" b="b" t="t" l="l"/>
              <a:pathLst>
                <a:path h="2560320" w="17373600">
                  <a:moveTo>
                    <a:pt x="0" y="0"/>
                  </a:moveTo>
                  <a:lnTo>
                    <a:pt x="17373600" y="0"/>
                  </a:lnTo>
                  <a:lnTo>
                    <a:pt x="17373600" y="2560320"/>
                  </a:lnTo>
                  <a:lnTo>
                    <a:pt x="0" y="2560320"/>
                  </a:lnTo>
                  <a:close/>
                </a:path>
              </a:pathLst>
            </a:custGeom>
            <a:blipFill>
              <a:blip r:embed="rId3">
                <a:alphaModFix amt="0"/>
              </a:blip>
              <a:stretch>
                <a:fillRect l="0" t="-82219" r="0" b="-82219"/>
              </a:stretch>
            </a:blipFill>
          </p:spPr>
        </p:sp>
        <p:sp>
          <p:nvSpPr>
            <p:cNvPr name="TextBox 9" id="9"/>
            <p:cNvSpPr txBox="true"/>
            <p:nvPr/>
          </p:nvSpPr>
          <p:spPr>
            <a:xfrm>
              <a:off x="0" y="-19050"/>
              <a:ext cx="17373600" cy="2579370"/>
            </a:xfrm>
            <a:prstGeom prst="rect">
              <a:avLst/>
            </a:prstGeom>
          </p:spPr>
          <p:txBody>
            <a:bodyPr anchor="ctr" rtlCol="false" tIns="0" lIns="0" bIns="0" rIns="0"/>
            <a:lstStyle/>
            <a:p>
              <a:pPr algn="l">
                <a:lnSpc>
                  <a:spcPts val="7559"/>
                </a:lnSpc>
              </a:pPr>
              <a:r>
                <a:rPr lang="en-US" sz="6300" b="true">
                  <a:solidFill>
                    <a:srgbClr val="FFFFFF"/>
                  </a:solidFill>
                  <a:latin typeface="Arial Bold"/>
                  <a:ea typeface="Arial Bold"/>
                  <a:cs typeface="Arial Bold"/>
                  <a:sym typeface="Arial Bold"/>
                </a:rPr>
                <a:t>Async Programming</a:t>
              </a:r>
            </a:p>
          </p:txBody>
        </p:sp>
      </p:grpSp>
      <p:grpSp>
        <p:nvGrpSpPr>
          <p:cNvPr name="Group 10" id="10"/>
          <p:cNvGrpSpPr/>
          <p:nvPr/>
        </p:nvGrpSpPr>
        <p:grpSpPr>
          <a:xfrm rot="0">
            <a:off x="1234440" y="5966460"/>
            <a:ext cx="11795760" cy="1097280"/>
            <a:chOff x="0" y="0"/>
            <a:chExt cx="15727680" cy="1463040"/>
          </a:xfrm>
        </p:grpSpPr>
        <p:sp>
          <p:nvSpPr>
            <p:cNvPr name="Freeform 11" id="11"/>
            <p:cNvSpPr/>
            <p:nvPr/>
          </p:nvSpPr>
          <p:spPr>
            <a:xfrm flipH="false" flipV="false" rot="0">
              <a:off x="0" y="0"/>
              <a:ext cx="15727680" cy="1463040"/>
            </a:xfrm>
            <a:custGeom>
              <a:avLst/>
              <a:gdLst/>
              <a:ahLst/>
              <a:cxnLst/>
              <a:rect r="r" b="b" t="t" l="l"/>
              <a:pathLst>
                <a:path h="1463040" w="15727680">
                  <a:moveTo>
                    <a:pt x="0" y="0"/>
                  </a:moveTo>
                  <a:lnTo>
                    <a:pt x="15727680" y="0"/>
                  </a:lnTo>
                  <a:lnTo>
                    <a:pt x="15727680" y="1463040"/>
                  </a:lnTo>
                  <a:lnTo>
                    <a:pt x="0" y="1463040"/>
                  </a:lnTo>
                  <a:close/>
                </a:path>
              </a:pathLst>
            </a:custGeom>
            <a:blipFill>
              <a:blip r:embed="rId3">
                <a:alphaModFix amt="0"/>
              </a:blip>
              <a:stretch>
                <a:fillRect l="0" t="-159464" r="0" b="-159464"/>
              </a:stretch>
            </a:blipFill>
          </p:spPr>
        </p:sp>
        <p:sp>
          <p:nvSpPr>
            <p:cNvPr name="TextBox 12" id="12"/>
            <p:cNvSpPr txBox="true"/>
            <p:nvPr/>
          </p:nvSpPr>
          <p:spPr>
            <a:xfrm>
              <a:off x="0" y="-38100"/>
              <a:ext cx="15727680" cy="1501140"/>
            </a:xfrm>
            <a:prstGeom prst="rect">
              <a:avLst/>
            </a:prstGeom>
          </p:spPr>
          <p:txBody>
            <a:bodyPr anchor="ctr" rtlCol="false" tIns="0" lIns="0" bIns="0" rIns="0"/>
            <a:lstStyle/>
            <a:p>
              <a:pPr algn="l">
                <a:lnSpc>
                  <a:spcPts val="2879"/>
                </a:lnSpc>
              </a:pPr>
              <a:r>
                <a:rPr lang="en-US" sz="2400" i="true">
                  <a:solidFill>
                    <a:srgbClr val="C9BFEF"/>
                  </a:solidFill>
                  <a:latin typeface="Calibri (MS) Italics"/>
                  <a:ea typeface="Calibri (MS) Italics"/>
                  <a:cs typeface="Calibri (MS) Italics"/>
                  <a:sym typeface="Calibri (MS) Italics"/>
                </a:rPr>
                <a:t>Threads, Task, and why await never blocks the caller.</a:t>
              </a:r>
            </a:p>
          </p:txBody>
        </p:sp>
      </p:grpSp>
      <p:grpSp>
        <p:nvGrpSpPr>
          <p:cNvPr name="Group 13" id="13"/>
          <p:cNvGrpSpPr/>
          <p:nvPr/>
        </p:nvGrpSpPr>
        <p:grpSpPr>
          <a:xfrm rot="0">
            <a:off x="1234440" y="7406640"/>
            <a:ext cx="192024" cy="192024"/>
            <a:chOff x="0" y="0"/>
            <a:chExt cx="256032" cy="256032"/>
          </a:xfrm>
        </p:grpSpPr>
        <p:sp>
          <p:nvSpPr>
            <p:cNvPr name="Freeform 14" id="14"/>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EE"/>
            </a:solidFill>
          </p:spPr>
        </p:sp>
      </p:grpSp>
      <p:grpSp>
        <p:nvGrpSpPr>
          <p:cNvPr name="Group 15" id="15"/>
          <p:cNvGrpSpPr/>
          <p:nvPr/>
        </p:nvGrpSpPr>
        <p:grpSpPr>
          <a:xfrm rot="0">
            <a:off x="1700784" y="7406640"/>
            <a:ext cx="192024" cy="192024"/>
            <a:chOff x="0" y="0"/>
            <a:chExt cx="256032" cy="256032"/>
          </a:xfrm>
        </p:grpSpPr>
        <p:sp>
          <p:nvSpPr>
            <p:cNvPr name="Freeform 16" id="16"/>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7" id="17"/>
          <p:cNvGrpSpPr/>
          <p:nvPr/>
        </p:nvGrpSpPr>
        <p:grpSpPr>
          <a:xfrm rot="0">
            <a:off x="2167128" y="7406640"/>
            <a:ext cx="192024" cy="192024"/>
            <a:chOff x="0" y="0"/>
            <a:chExt cx="256032" cy="256032"/>
          </a:xfrm>
        </p:grpSpPr>
        <p:sp>
          <p:nvSpPr>
            <p:cNvPr name="Freeform 18" id="1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9" id="19"/>
          <p:cNvGrpSpPr/>
          <p:nvPr/>
        </p:nvGrpSpPr>
        <p:grpSpPr>
          <a:xfrm rot="0">
            <a:off x="2633472" y="7406640"/>
            <a:ext cx="192024" cy="192024"/>
            <a:chOff x="0" y="0"/>
            <a:chExt cx="256032" cy="256032"/>
          </a:xfrm>
        </p:grpSpPr>
        <p:sp>
          <p:nvSpPr>
            <p:cNvPr name="Freeform 20" id="20"/>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1" id="21"/>
          <p:cNvGrpSpPr/>
          <p:nvPr/>
        </p:nvGrpSpPr>
        <p:grpSpPr>
          <a:xfrm rot="0">
            <a:off x="3099816" y="7406640"/>
            <a:ext cx="192024" cy="192024"/>
            <a:chOff x="0" y="0"/>
            <a:chExt cx="256032" cy="256032"/>
          </a:xfrm>
        </p:grpSpPr>
        <p:sp>
          <p:nvSpPr>
            <p:cNvPr name="Freeform 22" id="22"/>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What Is a Thread? Starting From Zero</a:t>
              </a:r>
            </a:p>
          </p:txBody>
        </p:sp>
      </p:grpSp>
      <p:grpSp>
        <p:nvGrpSpPr>
          <p:cNvPr name="Group 8" id="8"/>
          <p:cNvGrpSpPr/>
          <p:nvPr/>
        </p:nvGrpSpPr>
        <p:grpSpPr>
          <a:xfrm rot="0">
            <a:off x="960120" y="2715768"/>
            <a:ext cx="685800" cy="685800"/>
            <a:chOff x="0" y="0"/>
            <a:chExt cx="914400" cy="914400"/>
          </a:xfrm>
        </p:grpSpPr>
        <p:sp>
          <p:nvSpPr>
            <p:cNvPr name="Freeform 9" id="9"/>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0" id="10"/>
          <p:cNvGrpSpPr/>
          <p:nvPr/>
        </p:nvGrpSpPr>
        <p:grpSpPr>
          <a:xfrm rot="0">
            <a:off x="960120" y="2715768"/>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2" id="12"/>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1</a:t>
              </a:r>
            </a:p>
          </p:txBody>
        </p:sp>
      </p:grpSp>
      <p:grpSp>
        <p:nvGrpSpPr>
          <p:cNvPr name="Group 13" id="13"/>
          <p:cNvGrpSpPr/>
          <p:nvPr/>
        </p:nvGrpSpPr>
        <p:grpSpPr>
          <a:xfrm rot="0">
            <a:off x="1920240" y="2647188"/>
            <a:ext cx="15224760" cy="548640"/>
            <a:chOff x="0" y="0"/>
            <a:chExt cx="20299680" cy="731520"/>
          </a:xfrm>
        </p:grpSpPr>
        <p:sp>
          <p:nvSpPr>
            <p:cNvPr name="Freeform 14" id="14"/>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15" id="15"/>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A process</a:t>
              </a:r>
            </a:p>
          </p:txBody>
        </p:sp>
      </p:grpSp>
      <p:sp>
        <p:nvSpPr>
          <p:cNvPr name="TextBox 16" id="16"/>
          <p:cNvSpPr txBox="true"/>
          <p:nvPr/>
        </p:nvSpPr>
        <p:spPr>
          <a:xfrm rot="0">
            <a:off x="2011680" y="3137916"/>
            <a:ext cx="15041880" cy="851459"/>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A running instance of your program. The OS gives it its own private chunk of memory and starts executing your code inside it.</a:t>
            </a:r>
          </a:p>
        </p:txBody>
      </p:sp>
      <p:grpSp>
        <p:nvGrpSpPr>
          <p:cNvPr name="Group 17" id="17"/>
          <p:cNvGrpSpPr/>
          <p:nvPr/>
        </p:nvGrpSpPr>
        <p:grpSpPr>
          <a:xfrm rot="0">
            <a:off x="960120" y="5001768"/>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9" id="19"/>
          <p:cNvGrpSpPr/>
          <p:nvPr/>
        </p:nvGrpSpPr>
        <p:grpSpPr>
          <a:xfrm rot="0">
            <a:off x="960120" y="5001768"/>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1" id="21"/>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2</a:t>
              </a:r>
            </a:p>
          </p:txBody>
        </p:sp>
      </p:grpSp>
      <p:grpSp>
        <p:nvGrpSpPr>
          <p:cNvPr name="Group 22" id="22"/>
          <p:cNvGrpSpPr/>
          <p:nvPr/>
        </p:nvGrpSpPr>
        <p:grpSpPr>
          <a:xfrm rot="0">
            <a:off x="1920240" y="4933188"/>
            <a:ext cx="15224760" cy="548640"/>
            <a:chOff x="0" y="0"/>
            <a:chExt cx="20299680" cy="731520"/>
          </a:xfrm>
        </p:grpSpPr>
        <p:sp>
          <p:nvSpPr>
            <p:cNvPr name="Freeform 23" id="23"/>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24" id="24"/>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A thread</a:t>
              </a:r>
            </a:p>
          </p:txBody>
        </p:sp>
      </p:grpSp>
      <p:sp>
        <p:nvSpPr>
          <p:cNvPr name="TextBox 25" id="25"/>
          <p:cNvSpPr txBox="true"/>
          <p:nvPr/>
        </p:nvSpPr>
        <p:spPr>
          <a:xfrm rot="0">
            <a:off x="2011680" y="5423916"/>
            <a:ext cx="15041880" cy="851459"/>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One sequential path of execution within a process — one instruction after another, in order. Every process starts with exactly one “main” thread.</a:t>
            </a:r>
          </a:p>
        </p:txBody>
      </p:sp>
      <p:grpSp>
        <p:nvGrpSpPr>
          <p:cNvPr name="Group 26" id="26"/>
          <p:cNvGrpSpPr/>
          <p:nvPr/>
        </p:nvGrpSpPr>
        <p:grpSpPr>
          <a:xfrm rot="0">
            <a:off x="960120" y="7287768"/>
            <a:ext cx="685800" cy="685800"/>
            <a:chOff x="0" y="0"/>
            <a:chExt cx="914400" cy="914400"/>
          </a:xfrm>
        </p:grpSpPr>
        <p:sp>
          <p:nvSpPr>
            <p:cNvPr name="Freeform 27" id="27"/>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28" id="28"/>
          <p:cNvGrpSpPr/>
          <p:nvPr/>
        </p:nvGrpSpPr>
        <p:grpSpPr>
          <a:xfrm rot="0">
            <a:off x="960120" y="7287768"/>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0" id="30"/>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3</a:t>
              </a:r>
            </a:p>
          </p:txBody>
        </p:sp>
      </p:grpSp>
      <p:grpSp>
        <p:nvGrpSpPr>
          <p:cNvPr name="Group 31" id="31"/>
          <p:cNvGrpSpPr/>
          <p:nvPr/>
        </p:nvGrpSpPr>
        <p:grpSpPr>
          <a:xfrm rot="0">
            <a:off x="1920240" y="7219188"/>
            <a:ext cx="15224760" cy="548640"/>
            <a:chOff x="0" y="0"/>
            <a:chExt cx="20299680" cy="731520"/>
          </a:xfrm>
        </p:grpSpPr>
        <p:sp>
          <p:nvSpPr>
            <p:cNvPr name="Freeform 32" id="32"/>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33" id="33"/>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Multiple threads</a:t>
              </a:r>
            </a:p>
          </p:txBody>
        </p:sp>
      </p:grpSp>
      <p:sp>
        <p:nvSpPr>
          <p:cNvPr name="TextBox 34" id="34"/>
          <p:cNvSpPr txBox="true"/>
          <p:nvPr/>
        </p:nvSpPr>
        <p:spPr>
          <a:xfrm rot="0">
            <a:off x="2011680" y="7709916"/>
            <a:ext cx="15041880" cy="851459"/>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A process can run several threads concurrently — genuinely in parallel on multiple cores, or rapidly time-sliced on one. That's how a UI stays responsive while work happens in the background.</a:t>
            </a:r>
          </a:p>
        </p:txBody>
      </p:sp>
      <p:grpSp>
        <p:nvGrpSpPr>
          <p:cNvPr name="Group 35" id="35"/>
          <p:cNvGrpSpPr/>
          <p:nvPr/>
        </p:nvGrpSpPr>
        <p:grpSpPr>
          <a:xfrm rot="0">
            <a:off x="17053103" y="9820656"/>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53103" y="9820656"/>
            <a:ext cx="685800" cy="411480"/>
            <a:chOff x="0" y="0"/>
            <a:chExt cx="914400" cy="548640"/>
          </a:xfrm>
        </p:grpSpPr>
        <p:sp>
          <p:nvSpPr>
            <p:cNvPr name="Freeform 3" id="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 id="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4</a:t>
              </a:r>
            </a:p>
          </p:txBody>
        </p:sp>
      </p:grpSp>
      <p:sp>
        <p:nvSpPr>
          <p:cNvPr name="Freeform 5" id="5"/>
          <p:cNvSpPr/>
          <p:nvPr/>
        </p:nvSpPr>
        <p:spPr>
          <a:xfrm flipH="false" flipV="false" rot="0">
            <a:off x="2952809" y="1619959"/>
            <a:ext cx="12382382" cy="7638341"/>
          </a:xfrm>
          <a:custGeom>
            <a:avLst/>
            <a:gdLst/>
            <a:ahLst/>
            <a:cxnLst/>
            <a:rect r="r" b="b" t="t" l="l"/>
            <a:pathLst>
              <a:path h="7638341" w="12382382">
                <a:moveTo>
                  <a:pt x="0" y="0"/>
                </a:moveTo>
                <a:lnTo>
                  <a:pt x="12382382" y="0"/>
                </a:lnTo>
                <a:lnTo>
                  <a:pt x="12382382" y="7638341"/>
                </a:lnTo>
                <a:lnTo>
                  <a:pt x="0" y="7638341"/>
                </a:lnTo>
                <a:lnTo>
                  <a:pt x="0" y="0"/>
                </a:lnTo>
                <a:close/>
              </a:path>
            </a:pathLst>
          </a:custGeom>
          <a:blipFill>
            <a:blip r:embed="rId4"/>
            <a:stretch>
              <a:fillRect l="0" t="0" r="0" b="0"/>
            </a:stretch>
          </a:blipFill>
        </p:spPr>
      </p:sp>
      <p:sp>
        <p:nvSpPr>
          <p:cNvPr name="TextBox 6" id="6"/>
          <p:cNvSpPr txBox="true"/>
          <p:nvPr/>
        </p:nvSpPr>
        <p:spPr>
          <a:xfrm rot="0">
            <a:off x="7472411" y="9229725"/>
            <a:ext cx="2224088" cy="714375"/>
          </a:xfrm>
          <a:prstGeom prst="rect">
            <a:avLst/>
          </a:prstGeom>
        </p:spPr>
        <p:txBody>
          <a:bodyPr anchor="t" rtlCol="false" tIns="0" lIns="0" bIns="0" rIns="0">
            <a:spAutoFit/>
          </a:bodyPr>
          <a:lstStyle/>
          <a:p>
            <a:pPr algn="ctr">
              <a:lnSpc>
                <a:spcPts val="5400"/>
              </a:lnSpc>
              <a:spcBef>
                <a:spcPct val="0"/>
              </a:spcBef>
            </a:pPr>
            <a:r>
              <a:rPr lang="en-US" b="true" sz="4500">
                <a:solidFill>
                  <a:srgbClr val="000000"/>
                </a:solidFill>
                <a:latin typeface="Arial Bold"/>
                <a:ea typeface="Arial Bold"/>
                <a:cs typeface="Arial Bold"/>
                <a:sym typeface="Arial Bold"/>
              </a:rPr>
              <a:t>Process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One Thread, One Line at a Time</a:t>
              </a:r>
            </a:p>
          </p:txBody>
        </p:sp>
      </p:grpSp>
      <p:grpSp>
        <p:nvGrpSpPr>
          <p:cNvPr name="Group 8" id="8"/>
          <p:cNvGrpSpPr/>
          <p:nvPr/>
        </p:nvGrpSpPr>
        <p:grpSpPr>
          <a:xfrm rot="0">
            <a:off x="960120" y="2606040"/>
            <a:ext cx="10424160" cy="6858000"/>
            <a:chOff x="0" y="0"/>
            <a:chExt cx="13898880" cy="9144000"/>
          </a:xfrm>
        </p:grpSpPr>
        <p:sp>
          <p:nvSpPr>
            <p:cNvPr name="Freeform 9" id="9"/>
            <p:cNvSpPr/>
            <p:nvPr/>
          </p:nvSpPr>
          <p:spPr>
            <a:xfrm flipH="false" flipV="false" rot="0">
              <a:off x="0" y="0"/>
              <a:ext cx="13898880" cy="9144000"/>
            </a:xfrm>
            <a:custGeom>
              <a:avLst/>
              <a:gdLst/>
              <a:ahLst/>
              <a:cxnLst/>
              <a:rect r="r" b="b" t="t" l="l"/>
              <a:pathLst>
                <a:path h="9144000" w="13898880">
                  <a:moveTo>
                    <a:pt x="0" y="146304"/>
                  </a:moveTo>
                  <a:cubicBezTo>
                    <a:pt x="0" y="65532"/>
                    <a:pt x="65532" y="0"/>
                    <a:pt x="146304" y="0"/>
                  </a:cubicBezTo>
                  <a:lnTo>
                    <a:pt x="13752576" y="0"/>
                  </a:lnTo>
                  <a:cubicBezTo>
                    <a:pt x="13833348" y="0"/>
                    <a:pt x="13898880" y="65532"/>
                    <a:pt x="13898880" y="146304"/>
                  </a:cubicBezTo>
                  <a:lnTo>
                    <a:pt x="13898880" y="8997696"/>
                  </a:lnTo>
                  <a:cubicBezTo>
                    <a:pt x="13898880" y="9078468"/>
                    <a:pt x="13833348" y="9144000"/>
                    <a:pt x="1375257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9732"/>
            <a:ext cx="9473184" cy="5172380"/>
          </a:xfrm>
          <a:prstGeom prst="rect">
            <a:avLst/>
          </a:prstGeom>
        </p:spPr>
        <p:txBody>
          <a:bodyPr anchor="t" rtlCol="false" tIns="0" lIns="0" bIns="0" rIns="0">
            <a:spAutoFit/>
          </a:bodyPr>
          <a:lstStyle/>
          <a:p>
            <a:pPr algn="l">
              <a:lnSpc>
                <a:spcPts val="2442"/>
              </a:lnSpc>
            </a:pPr>
            <a:r>
              <a:rPr lang="en-US" sz="1725">
                <a:solidFill>
                  <a:srgbClr val="8B84AE"/>
                </a:solidFill>
                <a:latin typeface="Courier New"/>
                <a:ea typeface="Courier New"/>
                <a:cs typeface="Courier New"/>
                <a:sym typeface="Courier New"/>
              </a:rPr>
              <a:t>// A single thread does one instruction, then the next, then the next</a:t>
            </a:r>
          </a:p>
          <a:p>
            <a:pPr algn="l">
              <a:lnSpc>
                <a:spcPts val="2442"/>
              </a:lnSpc>
            </a:pPr>
            <a:r>
              <a:rPr lang="en-US" sz="1725">
                <a:solidFill>
                  <a:srgbClr val="D9D4F0"/>
                </a:solidFill>
                <a:latin typeface="Courier New"/>
                <a:ea typeface="Courier New"/>
                <a:cs typeface="Courier New"/>
                <a:sym typeface="Courier New"/>
              </a:rPr>
              <a:t>Console.WriteLine("Step 1");</a:t>
            </a:r>
          </a:p>
          <a:p>
            <a:pPr algn="l">
              <a:lnSpc>
                <a:spcPts val="2442"/>
              </a:lnSpc>
            </a:pPr>
            <a:r>
              <a:rPr lang="en-US" sz="1725">
                <a:solidFill>
                  <a:srgbClr val="D9D4F0"/>
                </a:solidFill>
                <a:latin typeface="Courier New"/>
                <a:ea typeface="Courier New"/>
                <a:cs typeface="Courier New"/>
                <a:sym typeface="Courier New"/>
              </a:rPr>
              <a:t>Console.WriteLine("Step 2");</a:t>
            </a:r>
          </a:p>
          <a:p>
            <a:pPr algn="l">
              <a:lnSpc>
                <a:spcPts val="2442"/>
              </a:lnSpc>
            </a:pPr>
            <a:r>
              <a:rPr lang="en-US" sz="1725">
                <a:solidFill>
                  <a:srgbClr val="D9D4F0"/>
                </a:solidFill>
                <a:latin typeface="Courier New"/>
                <a:ea typeface="Courier New"/>
                <a:cs typeface="Courier New"/>
                <a:sym typeface="Courier New"/>
              </a:rPr>
              <a:t>Console.WriteLine("Step 3");</a:t>
            </a:r>
          </a:p>
          <a:p>
            <a:pPr algn="l">
              <a:lnSpc>
                <a:spcPts val="2442"/>
              </a:lnSpc>
            </a:pPr>
            <a:r>
              <a:rPr lang="en-US" sz="1725">
                <a:solidFill>
                  <a:srgbClr val="8B84AE"/>
                </a:solidFill>
                <a:latin typeface="Courier New"/>
                <a:ea typeface="Courier New"/>
                <a:cs typeface="Courier New"/>
                <a:sym typeface="Courier New"/>
              </a:rPr>
              <a:t>// It cannot be in two places in this list at once — it runs top to bottom.</a:t>
            </a:r>
          </a:p>
          <a:p>
            <a:pPr algn="l">
              <a:lnSpc>
                <a:spcPts val="2442"/>
              </a:lnSpc>
            </a:pPr>
          </a:p>
          <a:p>
            <a:pPr algn="l">
              <a:lnSpc>
                <a:spcPts val="2442"/>
              </a:lnSpc>
            </a:pPr>
            <a:r>
              <a:rPr lang="en-US" sz="1725">
                <a:solidFill>
                  <a:srgbClr val="8B84AE"/>
                </a:solidFill>
                <a:latin typeface="Courier New"/>
                <a:ea typeface="Courier New"/>
                <a:cs typeface="Courier New"/>
                <a:sym typeface="Courier New"/>
              </a:rPr>
              <a:t>// Manually starting a second thread (rare in day-to-day C#;</a:t>
            </a:r>
          </a:p>
          <a:p>
            <a:pPr algn="l">
              <a:lnSpc>
                <a:spcPts val="2442"/>
              </a:lnSpc>
            </a:pPr>
            <a:r>
              <a:rPr lang="en-US" sz="1725">
                <a:solidFill>
                  <a:srgbClr val="8B84AE"/>
                </a:solidFill>
                <a:latin typeface="Courier New"/>
                <a:ea typeface="Courier New"/>
                <a:cs typeface="Courier New"/>
                <a:sym typeface="Courier New"/>
              </a:rPr>
              <a:t>// you'll almost always use Task/async instead):</a:t>
            </a:r>
          </a:p>
          <a:p>
            <a:pPr algn="l">
              <a:lnSpc>
                <a:spcPts val="2442"/>
              </a:lnSpc>
            </a:pPr>
            <a:r>
              <a:rPr lang="en-US" sz="1725">
                <a:solidFill>
                  <a:srgbClr val="D9D4F0"/>
                </a:solidFill>
                <a:latin typeface="Courier New"/>
                <a:ea typeface="Courier New"/>
                <a:cs typeface="Courier New"/>
                <a:sym typeface="Courier New"/>
              </a:rPr>
              <a:t>Thread backgroundThread = new Thread(() =&gt;</a:t>
            </a:r>
          </a:p>
          <a:p>
            <a:pPr algn="l">
              <a:lnSpc>
                <a:spcPts val="2442"/>
              </a:lnSpc>
            </a:pPr>
            <a:r>
              <a:rPr lang="en-US" sz="1725">
                <a:solidFill>
                  <a:srgbClr val="D9D4F0"/>
                </a:solidFill>
                <a:latin typeface="Courier New"/>
                <a:ea typeface="Courier New"/>
                <a:cs typeface="Courier New"/>
                <a:sym typeface="Courier New"/>
              </a:rPr>
              <a:t>{</a:t>
            </a:r>
          </a:p>
          <a:p>
            <a:pPr algn="l">
              <a:lnSpc>
                <a:spcPts val="2442"/>
              </a:lnSpc>
            </a:pPr>
            <a:r>
              <a:rPr lang="en-US" sz="1725">
                <a:solidFill>
                  <a:srgbClr val="D9D4F0"/>
                </a:solidFill>
                <a:latin typeface="Courier New"/>
                <a:ea typeface="Courier New"/>
                <a:cs typeface="Courier New"/>
                <a:sym typeface="Courier New"/>
              </a:rPr>
              <a:t>    Console.WriteLine("Running on a separate thread!");</a:t>
            </a:r>
          </a:p>
          <a:p>
            <a:pPr algn="l">
              <a:lnSpc>
                <a:spcPts val="2442"/>
              </a:lnSpc>
            </a:pPr>
            <a:r>
              <a:rPr lang="en-US" sz="1725">
                <a:solidFill>
                  <a:srgbClr val="D9D4F0"/>
                </a:solidFill>
                <a:latin typeface="Courier New"/>
                <a:ea typeface="Courier New"/>
                <a:cs typeface="Courier New"/>
                <a:sym typeface="Courier New"/>
              </a:rPr>
              <a:t>});</a:t>
            </a:r>
          </a:p>
          <a:p>
            <a:pPr algn="l">
              <a:lnSpc>
                <a:spcPts val="2442"/>
              </a:lnSpc>
            </a:pPr>
            <a:r>
              <a:rPr lang="en-US" sz="1725">
                <a:solidFill>
                  <a:srgbClr val="D9D4F0"/>
                </a:solidFill>
                <a:latin typeface="Courier New"/>
                <a:ea typeface="Courier New"/>
                <a:cs typeface="Courier New"/>
                <a:sym typeface="Courier New"/>
              </a:rPr>
              <a:t>backgroundThread.Start();</a:t>
            </a:r>
          </a:p>
          <a:p>
            <a:pPr algn="l">
              <a:lnSpc>
                <a:spcPts val="2442"/>
              </a:lnSpc>
            </a:pPr>
          </a:p>
          <a:p>
            <a:pPr algn="l">
              <a:lnSpc>
                <a:spcPts val="2442"/>
              </a:lnSpc>
            </a:pPr>
            <a:r>
              <a:rPr lang="en-US" sz="1725">
                <a:solidFill>
                  <a:srgbClr val="D9D4F0"/>
                </a:solidFill>
                <a:latin typeface="Courier New"/>
                <a:ea typeface="Courier New"/>
                <a:cs typeface="Courier New"/>
                <a:sym typeface="Courier New"/>
              </a:rPr>
              <a:t>Console.WriteLine("This might print before OR after the line above —");</a:t>
            </a:r>
          </a:p>
          <a:p>
            <a:pPr algn="l">
              <a:lnSpc>
                <a:spcPts val="2442"/>
              </a:lnSpc>
            </a:pPr>
            <a:r>
              <a:rPr lang="en-US" sz="1725">
                <a:solidFill>
                  <a:srgbClr val="D9D4F0"/>
                </a:solidFill>
                <a:latin typeface="Courier New"/>
                <a:ea typeface="Courier New"/>
                <a:cs typeface="Courier New"/>
                <a:sym typeface="Courier New"/>
              </a:rPr>
              <a:t>Console.WriteLine("the two threads are running independently.");</a:t>
            </a:r>
          </a:p>
        </p:txBody>
      </p:sp>
      <p:grpSp>
        <p:nvGrpSpPr>
          <p:cNvPr name="Group 17" id="17"/>
          <p:cNvGrpSpPr/>
          <p:nvPr/>
        </p:nvGrpSpPr>
        <p:grpSpPr>
          <a:xfrm rot="0">
            <a:off x="1186434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2298680" y="2593467"/>
            <a:ext cx="507446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A process can have multiple threads, each an independent instruction sequence.</a:t>
            </a:r>
          </a:p>
        </p:txBody>
      </p:sp>
      <p:grpSp>
        <p:nvGrpSpPr>
          <p:cNvPr name="Group 20" id="20"/>
          <p:cNvGrpSpPr/>
          <p:nvPr/>
        </p:nvGrpSpPr>
        <p:grpSpPr>
          <a:xfrm rot="0">
            <a:off x="11864340" y="432054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2298680" y="4170807"/>
            <a:ext cx="507446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Two threads racing to print: order between them is NOT guaranteed.</a:t>
            </a:r>
          </a:p>
        </p:txBody>
      </p:sp>
      <p:grpSp>
        <p:nvGrpSpPr>
          <p:cNvPr name="Group 23" id="23"/>
          <p:cNvGrpSpPr/>
          <p:nvPr/>
        </p:nvGrpSpPr>
        <p:grpSpPr>
          <a:xfrm rot="0">
            <a:off x="11864340" y="589788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2298680" y="5748147"/>
            <a:ext cx="5074463" cy="1179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In practice you'll reach for Task / async, not raw Thread — this is what's happening underneath.</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4</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22D3EE"/>
                  </a:solidFill>
                  <a:latin typeface="Calibri (MS) Bold"/>
                  <a:ea typeface="Calibri (MS) Bold"/>
                  <a:cs typeface="Calibri (MS) Bold"/>
                  <a:sym typeface="Calibri (MS) Bold"/>
                </a:rPr>
                <a:t>1.1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Threads Aren't Free — The Resource Cost</a:t>
              </a:r>
            </a:p>
          </p:txBody>
        </p:sp>
      </p:grpSp>
      <p:grpSp>
        <p:nvGrpSpPr>
          <p:cNvPr name="Group 8" id="8"/>
          <p:cNvGrpSpPr/>
          <p:nvPr/>
        </p:nvGrpSpPr>
        <p:grpSpPr>
          <a:xfrm rot="0">
            <a:off x="950595" y="3145155"/>
            <a:ext cx="5153406" cy="5093970"/>
            <a:chOff x="0" y="0"/>
            <a:chExt cx="6871208" cy="6791960"/>
          </a:xfrm>
        </p:grpSpPr>
        <p:sp>
          <p:nvSpPr>
            <p:cNvPr name="Freeform 9" id="9"/>
            <p:cNvSpPr/>
            <p:nvPr/>
          </p:nvSpPr>
          <p:spPr>
            <a:xfrm flipH="false" flipV="false" rot="0">
              <a:off x="0" y="0"/>
              <a:ext cx="6871208" cy="6791961"/>
            </a:xfrm>
            <a:custGeom>
              <a:avLst/>
              <a:gdLst/>
              <a:ahLst/>
              <a:cxnLst/>
              <a:rect r="r" b="b" t="t" l="l"/>
              <a:pathLst>
                <a:path h="6791961" w="6871208">
                  <a:moveTo>
                    <a:pt x="0" y="183642"/>
                  </a:moveTo>
                  <a:cubicBezTo>
                    <a:pt x="0" y="82169"/>
                    <a:pt x="82169" y="0"/>
                    <a:pt x="183642" y="0"/>
                  </a:cubicBezTo>
                  <a:lnTo>
                    <a:pt x="6687566" y="0"/>
                  </a:lnTo>
                  <a:cubicBezTo>
                    <a:pt x="6788912" y="0"/>
                    <a:pt x="6871208" y="82169"/>
                    <a:pt x="6871208" y="183642"/>
                  </a:cubicBezTo>
                  <a:lnTo>
                    <a:pt x="6871208" y="6608318"/>
                  </a:lnTo>
                  <a:cubicBezTo>
                    <a:pt x="6871208" y="6709664"/>
                    <a:pt x="6789039" y="6791961"/>
                    <a:pt x="6687566" y="6791961"/>
                  </a:cubicBezTo>
                  <a:lnTo>
                    <a:pt x="183642" y="6791961"/>
                  </a:lnTo>
                  <a:cubicBezTo>
                    <a:pt x="82169" y="6791960"/>
                    <a:pt x="0" y="6709791"/>
                    <a:pt x="0" y="6608318"/>
                  </a:cubicBezTo>
                  <a:close/>
                </a:path>
              </a:pathLst>
            </a:custGeom>
            <a:solidFill>
              <a:srgbClr val="241659"/>
            </a:solidFill>
            <a:ln w="19050" cap="sq">
              <a:solidFill>
                <a:srgbClr val="3C2B85"/>
              </a:solidFill>
              <a:prstDash val="solid"/>
              <a:miter/>
            </a:ln>
          </p:spPr>
        </p:sp>
      </p:grpSp>
      <p:grpSp>
        <p:nvGrpSpPr>
          <p:cNvPr name="Group 10" id="10"/>
          <p:cNvGrpSpPr/>
          <p:nvPr/>
        </p:nvGrpSpPr>
        <p:grpSpPr>
          <a:xfrm rot="0">
            <a:off x="960120" y="3497580"/>
            <a:ext cx="5134356" cy="1783080"/>
            <a:chOff x="0" y="0"/>
            <a:chExt cx="6845808" cy="2377440"/>
          </a:xfrm>
        </p:grpSpPr>
        <p:sp>
          <p:nvSpPr>
            <p:cNvPr name="Freeform 11" id="11"/>
            <p:cNvSpPr/>
            <p:nvPr/>
          </p:nvSpPr>
          <p:spPr>
            <a:xfrm flipH="false" flipV="false" rot="0">
              <a:off x="0" y="0"/>
              <a:ext cx="6845808" cy="2377440"/>
            </a:xfrm>
            <a:custGeom>
              <a:avLst/>
              <a:gdLst/>
              <a:ahLst/>
              <a:cxnLst/>
              <a:rect r="r" b="b" t="t" l="l"/>
              <a:pathLst>
                <a:path h="2377440" w="6845808">
                  <a:moveTo>
                    <a:pt x="0" y="0"/>
                  </a:moveTo>
                  <a:lnTo>
                    <a:pt x="6845808" y="0"/>
                  </a:lnTo>
                  <a:lnTo>
                    <a:pt x="6845808" y="2377440"/>
                  </a:lnTo>
                  <a:lnTo>
                    <a:pt x="0" y="2377440"/>
                  </a:lnTo>
                  <a:close/>
                </a:path>
              </a:pathLst>
            </a:custGeom>
            <a:blipFill>
              <a:blip r:embed="rId3">
                <a:alphaModFix amt="0"/>
              </a:blip>
              <a:stretch>
                <a:fillRect l="0" t="-6106" r="0" b="-6106"/>
              </a:stretch>
            </a:blipFill>
          </p:spPr>
        </p:sp>
        <p:sp>
          <p:nvSpPr>
            <p:cNvPr name="TextBox 12" id="12"/>
            <p:cNvSpPr txBox="true"/>
            <p:nvPr/>
          </p:nvSpPr>
          <p:spPr>
            <a:xfrm>
              <a:off x="0" y="-28575"/>
              <a:ext cx="6845808" cy="240601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~1 MB</a:t>
              </a:r>
            </a:p>
          </p:txBody>
        </p:sp>
      </p:grpSp>
      <p:grpSp>
        <p:nvGrpSpPr>
          <p:cNvPr name="Group 13" id="13"/>
          <p:cNvGrpSpPr/>
          <p:nvPr/>
        </p:nvGrpSpPr>
        <p:grpSpPr>
          <a:xfrm rot="0">
            <a:off x="1303020" y="5280660"/>
            <a:ext cx="4448556" cy="685800"/>
            <a:chOff x="0" y="0"/>
            <a:chExt cx="5931408" cy="914400"/>
          </a:xfrm>
        </p:grpSpPr>
        <p:sp>
          <p:nvSpPr>
            <p:cNvPr name="Freeform 14" id="14"/>
            <p:cNvSpPr/>
            <p:nvPr/>
          </p:nvSpPr>
          <p:spPr>
            <a:xfrm flipH="false" flipV="false" rot="0">
              <a:off x="0" y="0"/>
              <a:ext cx="5931408" cy="914400"/>
            </a:xfrm>
            <a:custGeom>
              <a:avLst/>
              <a:gdLst/>
              <a:ahLst/>
              <a:cxnLst/>
              <a:rect r="r" b="b" t="t" l="l"/>
              <a:pathLst>
                <a:path h="914400" w="5931408">
                  <a:moveTo>
                    <a:pt x="0" y="0"/>
                  </a:moveTo>
                  <a:lnTo>
                    <a:pt x="5931408" y="0"/>
                  </a:lnTo>
                  <a:lnTo>
                    <a:pt x="5931408" y="914400"/>
                  </a:lnTo>
                  <a:lnTo>
                    <a:pt x="0" y="914400"/>
                  </a:lnTo>
                  <a:close/>
                </a:path>
              </a:pathLst>
            </a:custGeom>
            <a:blipFill>
              <a:blip r:embed="rId3">
                <a:alphaModFix amt="0"/>
              </a:blip>
              <a:stretch>
                <a:fillRect l="0" t="-76392" r="0" b="-76392"/>
              </a:stretch>
            </a:blipFill>
          </p:spPr>
        </p:sp>
        <p:sp>
          <p:nvSpPr>
            <p:cNvPr name="TextBox 15" id="15"/>
            <p:cNvSpPr txBox="true"/>
            <p:nvPr/>
          </p:nvSpPr>
          <p:spPr>
            <a:xfrm>
              <a:off x="0" y="-9525"/>
              <a:ext cx="5931408" cy="923925"/>
            </a:xfrm>
            <a:prstGeom prst="rect">
              <a:avLst/>
            </a:prstGeom>
          </p:spPr>
          <p:txBody>
            <a:bodyPr anchor="ctr" rtlCol="false" tIns="0" lIns="0" bIns="0" rIns="0"/>
            <a:lstStyle/>
            <a:p>
              <a:pPr algn="ctr">
                <a:lnSpc>
                  <a:spcPts val="2430"/>
                </a:lnSpc>
              </a:pPr>
              <a:r>
                <a:rPr lang="en-US" sz="2025" b="true">
                  <a:solidFill>
                    <a:srgbClr val="FFFFFF"/>
                  </a:solidFill>
                  <a:latin typeface="Arial Bold"/>
                  <a:ea typeface="Arial Bold"/>
                  <a:cs typeface="Arial Bold"/>
                  <a:sym typeface="Arial Bold"/>
                </a:rPr>
                <a:t>Stack per thread</a:t>
              </a:r>
            </a:p>
          </p:txBody>
        </p:sp>
      </p:grpSp>
      <p:sp>
        <p:nvSpPr>
          <p:cNvPr name="TextBox 16" id="16"/>
          <p:cNvSpPr txBox="true"/>
          <p:nvPr/>
        </p:nvSpPr>
        <p:spPr>
          <a:xfrm rot="0">
            <a:off x="1463040" y="5995035"/>
            <a:ext cx="4128516" cy="1137666"/>
          </a:xfrm>
          <a:prstGeom prst="rect">
            <a:avLst/>
          </a:prstGeom>
        </p:spPr>
        <p:txBody>
          <a:bodyPr anchor="t" rtlCol="false" tIns="0" lIns="0" bIns="0" rIns="0">
            <a:spAutoFit/>
          </a:bodyPr>
          <a:lstStyle/>
          <a:p>
            <a:pPr algn="ctr">
              <a:lnSpc>
                <a:spcPts val="2951"/>
              </a:lnSpc>
            </a:pPr>
            <a:r>
              <a:rPr lang="en-US" sz="2049">
                <a:solidFill>
                  <a:srgbClr val="C9BFEF"/>
                </a:solidFill>
                <a:latin typeface="Calibri (MS)"/>
                <a:ea typeface="Calibri (MS)"/>
                <a:cs typeface="Calibri (MS)"/>
                <a:sym typeface="Calibri (MS)"/>
              </a:rPr>
              <a:t>The OS reserves real memory for every thread's call stack, whether the thread is busy or not.</a:t>
            </a:r>
          </a:p>
        </p:txBody>
      </p:sp>
      <p:grpSp>
        <p:nvGrpSpPr>
          <p:cNvPr name="Group 17" id="17"/>
          <p:cNvGrpSpPr/>
          <p:nvPr/>
        </p:nvGrpSpPr>
        <p:grpSpPr>
          <a:xfrm rot="0">
            <a:off x="6565011" y="3145155"/>
            <a:ext cx="5153406" cy="5093970"/>
            <a:chOff x="0" y="0"/>
            <a:chExt cx="6871208" cy="6791960"/>
          </a:xfrm>
        </p:grpSpPr>
        <p:sp>
          <p:nvSpPr>
            <p:cNvPr name="Freeform 18" id="18"/>
            <p:cNvSpPr/>
            <p:nvPr/>
          </p:nvSpPr>
          <p:spPr>
            <a:xfrm flipH="false" flipV="false" rot="0">
              <a:off x="0" y="0"/>
              <a:ext cx="6871208" cy="6791961"/>
            </a:xfrm>
            <a:custGeom>
              <a:avLst/>
              <a:gdLst/>
              <a:ahLst/>
              <a:cxnLst/>
              <a:rect r="r" b="b" t="t" l="l"/>
              <a:pathLst>
                <a:path h="6791961" w="6871208">
                  <a:moveTo>
                    <a:pt x="0" y="183642"/>
                  </a:moveTo>
                  <a:cubicBezTo>
                    <a:pt x="0" y="82169"/>
                    <a:pt x="82169" y="0"/>
                    <a:pt x="183642" y="0"/>
                  </a:cubicBezTo>
                  <a:lnTo>
                    <a:pt x="6687566" y="0"/>
                  </a:lnTo>
                  <a:cubicBezTo>
                    <a:pt x="6788912" y="0"/>
                    <a:pt x="6871208" y="82169"/>
                    <a:pt x="6871208" y="183642"/>
                  </a:cubicBezTo>
                  <a:lnTo>
                    <a:pt x="6871208" y="6608318"/>
                  </a:lnTo>
                  <a:cubicBezTo>
                    <a:pt x="6871208" y="6709664"/>
                    <a:pt x="6789039" y="6791961"/>
                    <a:pt x="6687566" y="6791961"/>
                  </a:cubicBezTo>
                  <a:lnTo>
                    <a:pt x="183642" y="6791961"/>
                  </a:lnTo>
                  <a:cubicBezTo>
                    <a:pt x="82169" y="6791960"/>
                    <a:pt x="0" y="6709791"/>
                    <a:pt x="0" y="6608318"/>
                  </a:cubicBezTo>
                  <a:close/>
                </a:path>
              </a:pathLst>
            </a:custGeom>
            <a:solidFill>
              <a:srgbClr val="241659"/>
            </a:solidFill>
            <a:ln w="19050" cap="sq">
              <a:solidFill>
                <a:srgbClr val="3C2B85"/>
              </a:solidFill>
              <a:prstDash val="solid"/>
              <a:miter/>
            </a:ln>
          </p:spPr>
        </p:sp>
      </p:grpSp>
      <p:grpSp>
        <p:nvGrpSpPr>
          <p:cNvPr name="Group 19" id="19"/>
          <p:cNvGrpSpPr/>
          <p:nvPr/>
        </p:nvGrpSpPr>
        <p:grpSpPr>
          <a:xfrm rot="0">
            <a:off x="6574536" y="3497580"/>
            <a:ext cx="5134356" cy="1783080"/>
            <a:chOff x="0" y="0"/>
            <a:chExt cx="6845808" cy="2377440"/>
          </a:xfrm>
        </p:grpSpPr>
        <p:sp>
          <p:nvSpPr>
            <p:cNvPr name="Freeform 20" id="20"/>
            <p:cNvSpPr/>
            <p:nvPr/>
          </p:nvSpPr>
          <p:spPr>
            <a:xfrm flipH="false" flipV="false" rot="0">
              <a:off x="0" y="0"/>
              <a:ext cx="6845808" cy="2377440"/>
            </a:xfrm>
            <a:custGeom>
              <a:avLst/>
              <a:gdLst/>
              <a:ahLst/>
              <a:cxnLst/>
              <a:rect r="r" b="b" t="t" l="l"/>
              <a:pathLst>
                <a:path h="2377440" w="6845808">
                  <a:moveTo>
                    <a:pt x="0" y="0"/>
                  </a:moveTo>
                  <a:lnTo>
                    <a:pt x="6845808" y="0"/>
                  </a:lnTo>
                  <a:lnTo>
                    <a:pt x="6845808" y="2377440"/>
                  </a:lnTo>
                  <a:lnTo>
                    <a:pt x="0" y="2377440"/>
                  </a:lnTo>
                  <a:close/>
                </a:path>
              </a:pathLst>
            </a:custGeom>
            <a:blipFill>
              <a:blip r:embed="rId3">
                <a:alphaModFix amt="0"/>
              </a:blip>
              <a:stretch>
                <a:fillRect l="0" t="-6106" r="0" b="-6106"/>
              </a:stretch>
            </a:blipFill>
          </p:spPr>
        </p:sp>
        <p:sp>
          <p:nvSpPr>
            <p:cNvPr name="TextBox 21" id="21"/>
            <p:cNvSpPr txBox="true"/>
            <p:nvPr/>
          </p:nvSpPr>
          <p:spPr>
            <a:xfrm>
              <a:off x="0" y="-28575"/>
              <a:ext cx="6845808" cy="240601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Context switch</a:t>
              </a:r>
            </a:p>
          </p:txBody>
        </p:sp>
      </p:grpSp>
      <p:grpSp>
        <p:nvGrpSpPr>
          <p:cNvPr name="Group 22" id="22"/>
          <p:cNvGrpSpPr/>
          <p:nvPr/>
        </p:nvGrpSpPr>
        <p:grpSpPr>
          <a:xfrm rot="0">
            <a:off x="6917436" y="5280660"/>
            <a:ext cx="4448556" cy="685800"/>
            <a:chOff x="0" y="0"/>
            <a:chExt cx="5931408" cy="914400"/>
          </a:xfrm>
        </p:grpSpPr>
        <p:sp>
          <p:nvSpPr>
            <p:cNvPr name="Freeform 23" id="23"/>
            <p:cNvSpPr/>
            <p:nvPr/>
          </p:nvSpPr>
          <p:spPr>
            <a:xfrm flipH="false" flipV="false" rot="0">
              <a:off x="0" y="0"/>
              <a:ext cx="5931408" cy="914400"/>
            </a:xfrm>
            <a:custGeom>
              <a:avLst/>
              <a:gdLst/>
              <a:ahLst/>
              <a:cxnLst/>
              <a:rect r="r" b="b" t="t" l="l"/>
              <a:pathLst>
                <a:path h="914400" w="5931408">
                  <a:moveTo>
                    <a:pt x="0" y="0"/>
                  </a:moveTo>
                  <a:lnTo>
                    <a:pt x="5931408" y="0"/>
                  </a:lnTo>
                  <a:lnTo>
                    <a:pt x="5931408" y="914400"/>
                  </a:lnTo>
                  <a:lnTo>
                    <a:pt x="0" y="914400"/>
                  </a:lnTo>
                  <a:close/>
                </a:path>
              </a:pathLst>
            </a:custGeom>
            <a:blipFill>
              <a:blip r:embed="rId3">
                <a:alphaModFix amt="0"/>
              </a:blip>
              <a:stretch>
                <a:fillRect l="0" t="-76392" r="0" b="-76392"/>
              </a:stretch>
            </a:blipFill>
          </p:spPr>
        </p:sp>
        <p:sp>
          <p:nvSpPr>
            <p:cNvPr name="TextBox 24" id="24"/>
            <p:cNvSpPr txBox="true"/>
            <p:nvPr/>
          </p:nvSpPr>
          <p:spPr>
            <a:xfrm>
              <a:off x="0" y="-9525"/>
              <a:ext cx="5931408" cy="923925"/>
            </a:xfrm>
            <a:prstGeom prst="rect">
              <a:avLst/>
            </a:prstGeom>
          </p:spPr>
          <p:txBody>
            <a:bodyPr anchor="ctr" rtlCol="false" tIns="0" lIns="0" bIns="0" rIns="0"/>
            <a:lstStyle/>
            <a:p>
              <a:pPr algn="ctr">
                <a:lnSpc>
                  <a:spcPts val="2430"/>
                </a:lnSpc>
              </a:pPr>
              <a:r>
                <a:rPr lang="en-US" sz="2025" b="true">
                  <a:solidFill>
                    <a:srgbClr val="FFFFFF"/>
                  </a:solidFill>
                  <a:latin typeface="Arial Bold"/>
                  <a:ea typeface="Arial Bold"/>
                  <a:cs typeface="Arial Bold"/>
                  <a:sym typeface="Arial Bold"/>
                </a:rPr>
                <a:t>Scheduler overhead</a:t>
              </a:r>
            </a:p>
          </p:txBody>
        </p:sp>
      </p:grpSp>
      <p:sp>
        <p:nvSpPr>
          <p:cNvPr name="TextBox 25" id="25"/>
          <p:cNvSpPr txBox="true"/>
          <p:nvPr/>
        </p:nvSpPr>
        <p:spPr>
          <a:xfrm rot="0">
            <a:off x="7077456" y="5995035"/>
            <a:ext cx="4128516" cy="766191"/>
          </a:xfrm>
          <a:prstGeom prst="rect">
            <a:avLst/>
          </a:prstGeom>
        </p:spPr>
        <p:txBody>
          <a:bodyPr anchor="t" rtlCol="false" tIns="0" lIns="0" bIns="0" rIns="0">
            <a:spAutoFit/>
          </a:bodyPr>
          <a:lstStyle/>
          <a:p>
            <a:pPr algn="ctr">
              <a:lnSpc>
                <a:spcPts val="2951"/>
              </a:lnSpc>
            </a:pPr>
            <a:r>
              <a:rPr lang="en-US" sz="2049">
                <a:solidFill>
                  <a:srgbClr val="C9BFEF"/>
                </a:solidFill>
                <a:latin typeface="Calibri (MS)"/>
                <a:ea typeface="Calibri (MS)"/>
                <a:cs typeface="Calibri (MS)"/>
                <a:sym typeface="Calibri (MS)"/>
              </a:rPr>
              <a:t>Switching the CPU's attention between threads has real, non-zero cost.</a:t>
            </a:r>
          </a:p>
        </p:txBody>
      </p:sp>
      <p:grpSp>
        <p:nvGrpSpPr>
          <p:cNvPr name="Group 26" id="26"/>
          <p:cNvGrpSpPr/>
          <p:nvPr/>
        </p:nvGrpSpPr>
        <p:grpSpPr>
          <a:xfrm rot="0">
            <a:off x="12179427" y="3145155"/>
            <a:ext cx="5153406" cy="5093970"/>
            <a:chOff x="0" y="0"/>
            <a:chExt cx="6871208" cy="6791960"/>
          </a:xfrm>
        </p:grpSpPr>
        <p:sp>
          <p:nvSpPr>
            <p:cNvPr name="Freeform 27" id="27"/>
            <p:cNvSpPr/>
            <p:nvPr/>
          </p:nvSpPr>
          <p:spPr>
            <a:xfrm flipH="false" flipV="false" rot="0">
              <a:off x="0" y="0"/>
              <a:ext cx="6871208" cy="6791961"/>
            </a:xfrm>
            <a:custGeom>
              <a:avLst/>
              <a:gdLst/>
              <a:ahLst/>
              <a:cxnLst/>
              <a:rect r="r" b="b" t="t" l="l"/>
              <a:pathLst>
                <a:path h="6791961" w="6871208">
                  <a:moveTo>
                    <a:pt x="0" y="183642"/>
                  </a:moveTo>
                  <a:cubicBezTo>
                    <a:pt x="0" y="82169"/>
                    <a:pt x="82169" y="0"/>
                    <a:pt x="183642" y="0"/>
                  </a:cubicBezTo>
                  <a:lnTo>
                    <a:pt x="6687566" y="0"/>
                  </a:lnTo>
                  <a:cubicBezTo>
                    <a:pt x="6788912" y="0"/>
                    <a:pt x="6871208" y="82169"/>
                    <a:pt x="6871208" y="183642"/>
                  </a:cubicBezTo>
                  <a:lnTo>
                    <a:pt x="6871208" y="6608318"/>
                  </a:lnTo>
                  <a:cubicBezTo>
                    <a:pt x="6871208" y="6709664"/>
                    <a:pt x="6789039" y="6791961"/>
                    <a:pt x="6687566" y="6791961"/>
                  </a:cubicBezTo>
                  <a:lnTo>
                    <a:pt x="183642" y="6791961"/>
                  </a:lnTo>
                  <a:cubicBezTo>
                    <a:pt x="82169" y="6791960"/>
                    <a:pt x="0" y="6709791"/>
                    <a:pt x="0" y="6608318"/>
                  </a:cubicBezTo>
                  <a:close/>
                </a:path>
              </a:pathLst>
            </a:custGeom>
            <a:solidFill>
              <a:srgbClr val="241659"/>
            </a:solidFill>
            <a:ln w="19050" cap="sq">
              <a:solidFill>
                <a:srgbClr val="3C2B85"/>
              </a:solidFill>
              <a:prstDash val="solid"/>
              <a:miter/>
            </a:ln>
          </p:spPr>
        </p:sp>
      </p:grpSp>
      <p:grpSp>
        <p:nvGrpSpPr>
          <p:cNvPr name="Group 28" id="28"/>
          <p:cNvGrpSpPr/>
          <p:nvPr/>
        </p:nvGrpSpPr>
        <p:grpSpPr>
          <a:xfrm rot="0">
            <a:off x="12188952" y="3497580"/>
            <a:ext cx="5134356" cy="1783080"/>
            <a:chOff x="0" y="0"/>
            <a:chExt cx="6845808" cy="2377440"/>
          </a:xfrm>
        </p:grpSpPr>
        <p:sp>
          <p:nvSpPr>
            <p:cNvPr name="Freeform 29" id="29"/>
            <p:cNvSpPr/>
            <p:nvPr/>
          </p:nvSpPr>
          <p:spPr>
            <a:xfrm flipH="false" flipV="false" rot="0">
              <a:off x="0" y="0"/>
              <a:ext cx="6845808" cy="2377440"/>
            </a:xfrm>
            <a:custGeom>
              <a:avLst/>
              <a:gdLst/>
              <a:ahLst/>
              <a:cxnLst/>
              <a:rect r="r" b="b" t="t" l="l"/>
              <a:pathLst>
                <a:path h="2377440" w="6845808">
                  <a:moveTo>
                    <a:pt x="0" y="0"/>
                  </a:moveTo>
                  <a:lnTo>
                    <a:pt x="6845808" y="0"/>
                  </a:lnTo>
                  <a:lnTo>
                    <a:pt x="6845808" y="2377440"/>
                  </a:lnTo>
                  <a:lnTo>
                    <a:pt x="0" y="2377440"/>
                  </a:lnTo>
                  <a:close/>
                </a:path>
              </a:pathLst>
            </a:custGeom>
            <a:blipFill>
              <a:blip r:embed="rId3">
                <a:alphaModFix amt="0"/>
              </a:blip>
              <a:stretch>
                <a:fillRect l="0" t="-6106" r="0" b="-6106"/>
              </a:stretch>
            </a:blipFill>
          </p:spPr>
        </p:sp>
        <p:sp>
          <p:nvSpPr>
            <p:cNvPr name="TextBox 30" id="30"/>
            <p:cNvSpPr txBox="true"/>
            <p:nvPr/>
          </p:nvSpPr>
          <p:spPr>
            <a:xfrm>
              <a:off x="0" y="-28575"/>
              <a:ext cx="6845808" cy="240601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Thousands vs. many</a:t>
              </a:r>
            </a:p>
          </p:txBody>
        </p:sp>
      </p:grpSp>
      <p:grpSp>
        <p:nvGrpSpPr>
          <p:cNvPr name="Group 31" id="31"/>
          <p:cNvGrpSpPr/>
          <p:nvPr/>
        </p:nvGrpSpPr>
        <p:grpSpPr>
          <a:xfrm rot="0">
            <a:off x="12531852" y="5280660"/>
            <a:ext cx="4448556" cy="685800"/>
            <a:chOff x="0" y="0"/>
            <a:chExt cx="5931408" cy="914400"/>
          </a:xfrm>
        </p:grpSpPr>
        <p:sp>
          <p:nvSpPr>
            <p:cNvPr name="Freeform 32" id="32"/>
            <p:cNvSpPr/>
            <p:nvPr/>
          </p:nvSpPr>
          <p:spPr>
            <a:xfrm flipH="false" flipV="false" rot="0">
              <a:off x="0" y="0"/>
              <a:ext cx="5931408" cy="914400"/>
            </a:xfrm>
            <a:custGeom>
              <a:avLst/>
              <a:gdLst/>
              <a:ahLst/>
              <a:cxnLst/>
              <a:rect r="r" b="b" t="t" l="l"/>
              <a:pathLst>
                <a:path h="914400" w="5931408">
                  <a:moveTo>
                    <a:pt x="0" y="0"/>
                  </a:moveTo>
                  <a:lnTo>
                    <a:pt x="5931408" y="0"/>
                  </a:lnTo>
                  <a:lnTo>
                    <a:pt x="5931408" y="914400"/>
                  </a:lnTo>
                  <a:lnTo>
                    <a:pt x="0" y="914400"/>
                  </a:lnTo>
                  <a:close/>
                </a:path>
              </a:pathLst>
            </a:custGeom>
            <a:blipFill>
              <a:blip r:embed="rId3">
                <a:alphaModFix amt="0"/>
              </a:blip>
              <a:stretch>
                <a:fillRect l="0" t="-76392" r="0" b="-76392"/>
              </a:stretch>
            </a:blipFill>
          </p:spPr>
        </p:sp>
        <p:sp>
          <p:nvSpPr>
            <p:cNvPr name="TextBox 33" id="33"/>
            <p:cNvSpPr txBox="true"/>
            <p:nvPr/>
          </p:nvSpPr>
          <p:spPr>
            <a:xfrm>
              <a:off x="0" y="-9525"/>
              <a:ext cx="5931408" cy="923925"/>
            </a:xfrm>
            <a:prstGeom prst="rect">
              <a:avLst/>
            </a:prstGeom>
          </p:spPr>
          <p:txBody>
            <a:bodyPr anchor="ctr" rtlCol="false" tIns="0" lIns="0" bIns="0" rIns="0"/>
            <a:lstStyle/>
            <a:p>
              <a:pPr algn="ctr">
                <a:lnSpc>
                  <a:spcPts val="2430"/>
                </a:lnSpc>
              </a:pPr>
              <a:r>
                <a:rPr lang="en-US" sz="2025" b="true">
                  <a:solidFill>
                    <a:srgbClr val="FFFFFF"/>
                  </a:solidFill>
                  <a:latin typeface="Arial Bold"/>
                  <a:ea typeface="Arial Bold"/>
                  <a:cs typeface="Arial Bold"/>
                  <a:sym typeface="Arial Bold"/>
                </a:rPr>
                <a:t>Objects vs. OS threads</a:t>
              </a:r>
            </a:p>
          </p:txBody>
        </p:sp>
      </p:grpSp>
      <p:sp>
        <p:nvSpPr>
          <p:cNvPr name="TextBox 34" id="34"/>
          <p:cNvSpPr txBox="true"/>
          <p:nvPr/>
        </p:nvSpPr>
        <p:spPr>
          <a:xfrm rot="0">
            <a:off x="12691872" y="5995035"/>
            <a:ext cx="4128516" cy="1509141"/>
          </a:xfrm>
          <a:prstGeom prst="rect">
            <a:avLst/>
          </a:prstGeom>
        </p:spPr>
        <p:txBody>
          <a:bodyPr anchor="t" rtlCol="false" tIns="0" lIns="0" bIns="0" rIns="0">
            <a:spAutoFit/>
          </a:bodyPr>
          <a:lstStyle/>
          <a:p>
            <a:pPr algn="ctr">
              <a:lnSpc>
                <a:spcPts val="2951"/>
              </a:lnSpc>
            </a:pPr>
            <a:r>
              <a:rPr lang="en-US" sz="2049">
                <a:solidFill>
                  <a:srgbClr val="C9BFEF"/>
                </a:solidFill>
                <a:latin typeface="Calibri (MS)"/>
                <a:ea typeface="Calibri (MS)"/>
                <a:cs typeface="Calibri (MS)"/>
                <a:sym typeface="Calibri (MS)"/>
              </a:rPr>
              <a:t>A machine can run many thousands of lightweight objects, but only a much smaller number of OS threads before performance degrades.</a:t>
            </a:r>
          </a:p>
        </p:txBody>
      </p:sp>
      <p:grpSp>
        <p:nvGrpSpPr>
          <p:cNvPr name="Group 35" id="35"/>
          <p:cNvGrpSpPr/>
          <p:nvPr/>
        </p:nvGrpSpPr>
        <p:grpSpPr>
          <a:xfrm rot="0">
            <a:off x="17053103" y="9820656"/>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The Thread Pool — Reusing Threads</a:t>
              </a:r>
            </a:p>
          </p:txBody>
        </p:sp>
      </p:grpSp>
      <p:grpSp>
        <p:nvGrpSpPr>
          <p:cNvPr name="Group 8" id="8"/>
          <p:cNvGrpSpPr/>
          <p:nvPr/>
        </p:nvGrpSpPr>
        <p:grpSpPr>
          <a:xfrm rot="0">
            <a:off x="960120" y="2715768"/>
            <a:ext cx="685800" cy="685800"/>
            <a:chOff x="0" y="0"/>
            <a:chExt cx="914400" cy="914400"/>
          </a:xfrm>
        </p:grpSpPr>
        <p:sp>
          <p:nvSpPr>
            <p:cNvPr name="Freeform 9" id="9"/>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0" id="10"/>
          <p:cNvGrpSpPr/>
          <p:nvPr/>
        </p:nvGrpSpPr>
        <p:grpSpPr>
          <a:xfrm rot="0">
            <a:off x="960120" y="2715768"/>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2" id="12"/>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1</a:t>
              </a:r>
            </a:p>
          </p:txBody>
        </p:sp>
      </p:grpSp>
      <p:grpSp>
        <p:nvGrpSpPr>
          <p:cNvPr name="Group 13" id="13"/>
          <p:cNvGrpSpPr/>
          <p:nvPr/>
        </p:nvGrpSpPr>
        <p:grpSpPr>
          <a:xfrm rot="0">
            <a:off x="1920240" y="2647188"/>
            <a:ext cx="15224760" cy="548640"/>
            <a:chOff x="0" y="0"/>
            <a:chExt cx="20299680" cy="731520"/>
          </a:xfrm>
        </p:grpSpPr>
        <p:sp>
          <p:nvSpPr>
            <p:cNvPr name="Freeform 14" id="14"/>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15" id="15"/>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Why it exists</a:t>
              </a:r>
            </a:p>
          </p:txBody>
        </p:sp>
      </p:grpSp>
      <p:sp>
        <p:nvSpPr>
          <p:cNvPr name="TextBox 16" id="16"/>
          <p:cNvSpPr txBox="true"/>
          <p:nvPr/>
        </p:nvSpPr>
        <p:spPr>
          <a:xfrm rot="0">
            <a:off x="2011680" y="3137916"/>
            <a:ext cx="15041880" cy="851459"/>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Creating and destroying an OS thread is relatively expensive, so .NET keeps a standing collection of already-created threads ready to be handed work.</a:t>
            </a:r>
          </a:p>
        </p:txBody>
      </p:sp>
      <p:grpSp>
        <p:nvGrpSpPr>
          <p:cNvPr name="Group 17" id="17"/>
          <p:cNvGrpSpPr/>
          <p:nvPr/>
        </p:nvGrpSpPr>
        <p:grpSpPr>
          <a:xfrm rot="0">
            <a:off x="960120" y="5001768"/>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9" id="19"/>
          <p:cNvGrpSpPr/>
          <p:nvPr/>
        </p:nvGrpSpPr>
        <p:grpSpPr>
          <a:xfrm rot="0">
            <a:off x="960120" y="5001768"/>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1" id="21"/>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2</a:t>
              </a:r>
            </a:p>
          </p:txBody>
        </p:sp>
      </p:grpSp>
      <p:grpSp>
        <p:nvGrpSpPr>
          <p:cNvPr name="Group 22" id="22"/>
          <p:cNvGrpSpPr/>
          <p:nvPr/>
        </p:nvGrpSpPr>
        <p:grpSpPr>
          <a:xfrm rot="0">
            <a:off x="1920240" y="4933188"/>
            <a:ext cx="15224760" cy="548640"/>
            <a:chOff x="0" y="0"/>
            <a:chExt cx="20299680" cy="731520"/>
          </a:xfrm>
        </p:grpSpPr>
        <p:sp>
          <p:nvSpPr>
            <p:cNvPr name="Freeform 23" id="23"/>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24" id="24"/>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How it works</a:t>
              </a:r>
            </a:p>
          </p:txBody>
        </p:sp>
      </p:grpSp>
      <p:sp>
        <p:nvSpPr>
          <p:cNvPr name="TextBox 25" id="25"/>
          <p:cNvSpPr txBox="true"/>
          <p:nvPr/>
        </p:nvSpPr>
        <p:spPr>
          <a:xfrm rot="0">
            <a:off x="2011680" y="5423916"/>
            <a:ext cx="15041880" cy="851459"/>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When you queue work onto the pool, an existing thread picks it up, runs it, then goes back to waiting — instead of the runtime spinning up a brand-new OS thread every time.</a:t>
            </a:r>
          </a:p>
        </p:txBody>
      </p:sp>
      <p:grpSp>
        <p:nvGrpSpPr>
          <p:cNvPr name="Group 26" id="26"/>
          <p:cNvGrpSpPr/>
          <p:nvPr/>
        </p:nvGrpSpPr>
        <p:grpSpPr>
          <a:xfrm rot="0">
            <a:off x="960120" y="7287768"/>
            <a:ext cx="685800" cy="685800"/>
            <a:chOff x="0" y="0"/>
            <a:chExt cx="914400" cy="914400"/>
          </a:xfrm>
        </p:grpSpPr>
        <p:sp>
          <p:nvSpPr>
            <p:cNvPr name="Freeform 27" id="27"/>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28" id="28"/>
          <p:cNvGrpSpPr/>
          <p:nvPr/>
        </p:nvGrpSpPr>
        <p:grpSpPr>
          <a:xfrm rot="0">
            <a:off x="960120" y="7287768"/>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0" id="30"/>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3</a:t>
              </a:r>
            </a:p>
          </p:txBody>
        </p:sp>
      </p:grpSp>
      <p:grpSp>
        <p:nvGrpSpPr>
          <p:cNvPr name="Group 31" id="31"/>
          <p:cNvGrpSpPr/>
          <p:nvPr/>
        </p:nvGrpSpPr>
        <p:grpSpPr>
          <a:xfrm rot="0">
            <a:off x="1920240" y="7219188"/>
            <a:ext cx="15224760" cy="548640"/>
            <a:chOff x="0" y="0"/>
            <a:chExt cx="20299680" cy="731520"/>
          </a:xfrm>
        </p:grpSpPr>
        <p:sp>
          <p:nvSpPr>
            <p:cNvPr name="Freeform 32" id="32"/>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33" id="33"/>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Where you'll meet it</a:t>
              </a:r>
            </a:p>
          </p:txBody>
        </p:sp>
      </p:grpSp>
      <p:sp>
        <p:nvSpPr>
          <p:cNvPr name="TextBox 34" id="34"/>
          <p:cNvSpPr txBox="true"/>
          <p:nvPr/>
        </p:nvSpPr>
        <p:spPr>
          <a:xfrm rot="0">
            <a:off x="2011680" y="7709916"/>
            <a:ext cx="15041880" cy="441884"/>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Task.Run hands work to this pool rather than creating a dedicated thread of its own.</a:t>
            </a:r>
          </a:p>
        </p:txBody>
      </p:sp>
      <p:grpSp>
        <p:nvGrpSpPr>
          <p:cNvPr name="Group 35" id="35"/>
          <p:cNvGrpSpPr/>
          <p:nvPr/>
        </p:nvGrpSpPr>
        <p:grpSpPr>
          <a:xfrm rot="0">
            <a:off x="17053103" y="9820656"/>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6</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22D3EE"/>
                  </a:solidFill>
                  <a:latin typeface="Calibri (MS) Bold"/>
                  <a:ea typeface="Calibri (MS) Bold"/>
                  <a:cs typeface="Calibri (MS) Bold"/>
                  <a:sym typeface="Calibri (MS) Bold"/>
                </a:rPr>
                <a:t>1.1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Task vs. Thread — The Key Distinction</a:t>
              </a:r>
            </a:p>
          </p:txBody>
        </p:sp>
      </p:grpSp>
      <p:grpSp>
        <p:nvGrpSpPr>
          <p:cNvPr name="Group 8" id="8"/>
          <p:cNvGrpSpPr/>
          <p:nvPr/>
        </p:nvGrpSpPr>
        <p:grpSpPr>
          <a:xfrm rot="0">
            <a:off x="1222534" y="2868454"/>
            <a:ext cx="15797212" cy="1601152"/>
            <a:chOff x="0" y="0"/>
            <a:chExt cx="21062950" cy="2134870"/>
          </a:xfrm>
        </p:grpSpPr>
        <p:sp>
          <p:nvSpPr>
            <p:cNvPr name="Freeform 9" id="9"/>
            <p:cNvSpPr/>
            <p:nvPr/>
          </p:nvSpPr>
          <p:spPr>
            <a:xfrm flipH="false" flipV="false" rot="0">
              <a:off x="0" y="0"/>
              <a:ext cx="21062950" cy="2134870"/>
            </a:xfrm>
            <a:custGeom>
              <a:avLst/>
              <a:gdLst/>
              <a:ahLst/>
              <a:cxnLst/>
              <a:rect r="r" b="b" t="t" l="l"/>
              <a:pathLst>
                <a:path h="2134870" w="21062950">
                  <a:moveTo>
                    <a:pt x="0" y="185674"/>
                  </a:moveTo>
                  <a:cubicBezTo>
                    <a:pt x="0" y="83058"/>
                    <a:pt x="83058" y="0"/>
                    <a:pt x="185674" y="0"/>
                  </a:cubicBezTo>
                  <a:lnTo>
                    <a:pt x="20877276" y="0"/>
                  </a:lnTo>
                  <a:cubicBezTo>
                    <a:pt x="20979764" y="0"/>
                    <a:pt x="21062950" y="83058"/>
                    <a:pt x="21062950" y="185674"/>
                  </a:cubicBezTo>
                  <a:lnTo>
                    <a:pt x="21062950" y="1949196"/>
                  </a:lnTo>
                  <a:cubicBezTo>
                    <a:pt x="21062950" y="2051685"/>
                    <a:pt x="20979892" y="2134870"/>
                    <a:pt x="20877276" y="2134870"/>
                  </a:cubicBezTo>
                  <a:lnTo>
                    <a:pt x="185674" y="2134870"/>
                  </a:lnTo>
                  <a:cubicBezTo>
                    <a:pt x="83058" y="2134870"/>
                    <a:pt x="0" y="2051812"/>
                    <a:pt x="0" y="1949196"/>
                  </a:cubicBezTo>
                  <a:close/>
                </a:path>
              </a:pathLst>
            </a:custGeom>
            <a:solidFill>
              <a:srgbClr val="241659"/>
            </a:solidFill>
            <a:ln w="23812" cap="sq">
              <a:solidFill>
                <a:srgbClr val="22D3EE"/>
              </a:solidFill>
              <a:prstDash val="solid"/>
              <a:miter/>
            </a:ln>
          </p:spPr>
        </p:sp>
      </p:grpSp>
      <p:grpSp>
        <p:nvGrpSpPr>
          <p:cNvPr name="Group 10" id="10"/>
          <p:cNvGrpSpPr/>
          <p:nvPr/>
        </p:nvGrpSpPr>
        <p:grpSpPr>
          <a:xfrm rot="0">
            <a:off x="1508760" y="2880360"/>
            <a:ext cx="1234440" cy="1577340"/>
            <a:chOff x="0" y="0"/>
            <a:chExt cx="1645920" cy="2103120"/>
          </a:xfrm>
        </p:grpSpPr>
        <p:sp>
          <p:nvSpPr>
            <p:cNvPr name="Freeform 11" id="11"/>
            <p:cNvSpPr/>
            <p:nvPr/>
          </p:nvSpPr>
          <p:spPr>
            <a:xfrm flipH="false" flipV="false" rot="0">
              <a:off x="0" y="0"/>
              <a:ext cx="1645920" cy="2103120"/>
            </a:xfrm>
            <a:custGeom>
              <a:avLst/>
              <a:gdLst/>
              <a:ahLst/>
              <a:cxnLst/>
              <a:rect r="r" b="b" t="t" l="l"/>
              <a:pathLst>
                <a:path h="2103120" w="1645920">
                  <a:moveTo>
                    <a:pt x="0" y="0"/>
                  </a:moveTo>
                  <a:lnTo>
                    <a:pt x="1645920" y="0"/>
                  </a:lnTo>
                  <a:lnTo>
                    <a:pt x="1645920" y="2103120"/>
                  </a:lnTo>
                  <a:lnTo>
                    <a:pt x="0" y="2103120"/>
                  </a:lnTo>
                  <a:close/>
                </a:path>
              </a:pathLst>
            </a:custGeom>
            <a:blipFill>
              <a:blip r:embed="rId3">
                <a:alphaModFix amt="0"/>
              </a:blip>
              <a:stretch>
                <a:fillRect l="-113943" t="0" r="-113943" b="0"/>
              </a:stretch>
            </a:blipFill>
          </p:spPr>
        </p:sp>
        <p:sp>
          <p:nvSpPr>
            <p:cNvPr name="TextBox 12" id="12"/>
            <p:cNvSpPr txBox="true"/>
            <p:nvPr/>
          </p:nvSpPr>
          <p:spPr>
            <a:xfrm>
              <a:off x="0" y="-28575"/>
              <a:ext cx="1645920" cy="213169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Q</a:t>
              </a:r>
            </a:p>
          </p:txBody>
        </p:sp>
      </p:grpSp>
      <p:grpSp>
        <p:nvGrpSpPr>
          <p:cNvPr name="Group 13" id="13"/>
          <p:cNvGrpSpPr/>
          <p:nvPr/>
        </p:nvGrpSpPr>
        <p:grpSpPr>
          <a:xfrm rot="0">
            <a:off x="2811780" y="2880360"/>
            <a:ext cx="13921740" cy="1577340"/>
            <a:chOff x="0" y="0"/>
            <a:chExt cx="18562320" cy="2103120"/>
          </a:xfrm>
        </p:grpSpPr>
        <p:sp>
          <p:nvSpPr>
            <p:cNvPr name="Freeform 14" id="14"/>
            <p:cNvSpPr/>
            <p:nvPr/>
          </p:nvSpPr>
          <p:spPr>
            <a:xfrm flipH="false" flipV="false" rot="0">
              <a:off x="0" y="0"/>
              <a:ext cx="18562320" cy="2103120"/>
            </a:xfrm>
            <a:custGeom>
              <a:avLst/>
              <a:gdLst/>
              <a:ahLst/>
              <a:cxnLst/>
              <a:rect r="r" b="b" t="t" l="l"/>
              <a:pathLst>
                <a:path h="2103120" w="18562320">
                  <a:moveTo>
                    <a:pt x="0" y="0"/>
                  </a:moveTo>
                  <a:lnTo>
                    <a:pt x="18562320" y="0"/>
                  </a:lnTo>
                  <a:lnTo>
                    <a:pt x="18562320" y="2103120"/>
                  </a:lnTo>
                  <a:lnTo>
                    <a:pt x="0" y="2103120"/>
                  </a:lnTo>
                  <a:close/>
                </a:path>
              </a:pathLst>
            </a:custGeom>
            <a:blipFill>
              <a:blip r:embed="rId3">
                <a:alphaModFix amt="0"/>
              </a:blip>
              <a:stretch>
                <a:fillRect l="0" t="-121976" r="0" b="-121976"/>
              </a:stretch>
            </a:blipFill>
          </p:spPr>
        </p:sp>
        <p:sp>
          <p:nvSpPr>
            <p:cNvPr name="TextBox 15" id="15"/>
            <p:cNvSpPr txBox="true"/>
            <p:nvPr/>
          </p:nvSpPr>
          <p:spPr>
            <a:xfrm>
              <a:off x="0" y="-9525"/>
              <a:ext cx="18562320" cy="2112645"/>
            </a:xfrm>
            <a:prstGeom prst="rect">
              <a:avLst/>
            </a:prstGeom>
          </p:spPr>
          <p:txBody>
            <a:bodyPr anchor="ctr" rtlCol="false" tIns="0" lIns="0" bIns="0" rIns="0"/>
            <a:lstStyle/>
            <a:p>
              <a:pPr algn="l">
                <a:lnSpc>
                  <a:spcPts val="3060"/>
                </a:lnSpc>
              </a:pPr>
              <a:r>
                <a:rPr lang="en-US" b="true" sz="2550" i="true">
                  <a:solidFill>
                    <a:srgbClr val="FFFFFF"/>
                  </a:solidFill>
                  <a:latin typeface="Arial Bold Italics"/>
                  <a:ea typeface="Arial Bold Italics"/>
                  <a:cs typeface="Arial Bold Italics"/>
                  <a:sym typeface="Arial Bold Italics"/>
                </a:rPr>
                <a:t>Is a Task the same thing as a thread?</a:t>
              </a:r>
            </a:p>
          </p:txBody>
        </p:sp>
      </p:grpSp>
      <p:grpSp>
        <p:nvGrpSpPr>
          <p:cNvPr name="Group 16" id="16"/>
          <p:cNvGrpSpPr/>
          <p:nvPr/>
        </p:nvGrpSpPr>
        <p:grpSpPr>
          <a:xfrm rot="0">
            <a:off x="1234440" y="4869180"/>
            <a:ext cx="15773400" cy="4251960"/>
            <a:chOff x="0" y="0"/>
            <a:chExt cx="21031200" cy="5669280"/>
          </a:xfrm>
        </p:grpSpPr>
        <p:sp>
          <p:nvSpPr>
            <p:cNvPr name="Freeform 17" id="17"/>
            <p:cNvSpPr/>
            <p:nvPr/>
          </p:nvSpPr>
          <p:spPr>
            <a:xfrm flipH="false" flipV="false" rot="0">
              <a:off x="0" y="0"/>
              <a:ext cx="21031200" cy="5669280"/>
            </a:xfrm>
            <a:custGeom>
              <a:avLst/>
              <a:gdLst/>
              <a:ahLst/>
              <a:cxnLst/>
              <a:rect r="r" b="b" t="t" l="l"/>
              <a:pathLst>
                <a:path h="5669280" w="21031200">
                  <a:moveTo>
                    <a:pt x="0" y="182880"/>
                  </a:moveTo>
                  <a:cubicBezTo>
                    <a:pt x="0" y="81915"/>
                    <a:pt x="81915" y="0"/>
                    <a:pt x="182880" y="0"/>
                  </a:cubicBezTo>
                  <a:lnTo>
                    <a:pt x="20848320" y="0"/>
                  </a:lnTo>
                  <a:cubicBezTo>
                    <a:pt x="20949284" y="0"/>
                    <a:pt x="21031200" y="81915"/>
                    <a:pt x="21031200" y="182880"/>
                  </a:cubicBezTo>
                  <a:lnTo>
                    <a:pt x="21031200" y="5486400"/>
                  </a:lnTo>
                  <a:cubicBezTo>
                    <a:pt x="21031200" y="5587365"/>
                    <a:pt x="20949284" y="5669280"/>
                    <a:pt x="20848320" y="5669280"/>
                  </a:cubicBezTo>
                  <a:lnTo>
                    <a:pt x="182880" y="5669280"/>
                  </a:lnTo>
                  <a:cubicBezTo>
                    <a:pt x="81915" y="5669280"/>
                    <a:pt x="0" y="5587365"/>
                    <a:pt x="0" y="5486400"/>
                  </a:cubicBezTo>
                  <a:close/>
                </a:path>
              </a:pathLst>
            </a:custGeom>
            <a:solidFill>
              <a:srgbClr val="FFFFFF"/>
            </a:solidFill>
          </p:spPr>
        </p:sp>
      </p:grpSp>
      <p:sp>
        <p:nvSpPr>
          <p:cNvPr name="TextBox 18" id="18"/>
          <p:cNvSpPr txBox="true"/>
          <p:nvPr/>
        </p:nvSpPr>
        <p:spPr>
          <a:xfrm rot="0">
            <a:off x="1600200" y="4886325"/>
            <a:ext cx="1051560" cy="4189095"/>
          </a:xfrm>
          <a:prstGeom prst="rect">
            <a:avLst/>
          </a:prstGeom>
        </p:spPr>
        <p:txBody>
          <a:bodyPr anchor="t" rtlCol="false" tIns="0" lIns="0" bIns="0" rIns="0">
            <a:spAutoFit/>
          </a:bodyPr>
          <a:lstStyle/>
          <a:p>
            <a:pPr algn="ctr">
              <a:lnSpc>
                <a:spcPts val="6120"/>
              </a:lnSpc>
            </a:pPr>
            <a:r>
              <a:rPr lang="en-US" sz="5100" b="true">
                <a:solidFill>
                  <a:srgbClr val="512BD4"/>
                </a:solidFill>
                <a:latin typeface="Arial Bold"/>
                <a:ea typeface="Arial Bold"/>
                <a:cs typeface="Arial Bold"/>
                <a:sym typeface="Arial Bold"/>
              </a:rPr>
              <a:t>A</a:t>
            </a:r>
          </a:p>
        </p:txBody>
      </p:sp>
      <p:sp>
        <p:nvSpPr>
          <p:cNvPr name="TextBox 19" id="19"/>
          <p:cNvSpPr txBox="true"/>
          <p:nvPr/>
        </p:nvSpPr>
        <p:spPr>
          <a:xfrm rot="0">
            <a:off x="2903220" y="5084445"/>
            <a:ext cx="13738860" cy="3716655"/>
          </a:xfrm>
          <a:prstGeom prst="rect">
            <a:avLst/>
          </a:prstGeom>
        </p:spPr>
        <p:txBody>
          <a:bodyPr anchor="t" rtlCol="false" tIns="0" lIns="0" bIns="0" rIns="0">
            <a:spAutoFit/>
          </a:bodyPr>
          <a:lstStyle/>
          <a:p>
            <a:pPr algn="l">
              <a:lnSpc>
                <a:spcPts val="3262"/>
              </a:lnSpc>
            </a:pPr>
            <a:r>
              <a:rPr lang="en-US" sz="2175">
                <a:solidFill>
                  <a:srgbClr val="201A3A"/>
                </a:solidFill>
                <a:latin typeface="Calibri (MS)"/>
                <a:ea typeface="Calibri (MS)"/>
                <a:cs typeface="Calibri (MS)"/>
                <a:sym typeface="Calibri (MS)"/>
              </a:rPr>
              <a:t>No — this is the single most important distinction to get right before continuing. A Task represents a unit of work that will complete at some point; it may run on a thread-pool thread, but for I/O-bound async work it often uses no dedicated thread at all while it's waiting.</a:t>
            </a:r>
          </a:p>
          <a:p>
            <a:pPr algn="l">
              <a:lnSpc>
                <a:spcPts val="3262"/>
              </a:lnSpc>
            </a:pPr>
          </a:p>
          <a:p>
            <a:pPr algn="l">
              <a:lnSpc>
                <a:spcPts val="3262"/>
              </a:lnSpc>
            </a:pPr>
            <a:r>
              <a:rPr lang="en-US" sz="2175">
                <a:solidFill>
                  <a:srgbClr val="201A3A"/>
                </a:solidFill>
                <a:latin typeface="Calibri (MS)"/>
                <a:ea typeface="Calibri (MS)"/>
                <a:cs typeface="Calibri (MS)"/>
                <a:sym typeface="Calibri (MS)"/>
              </a:rPr>
              <a:t>A thread that is blocked — synchronously waiting for something like a network response — is still a full thread: still occupying OS resources, still unavailable for other work, even though it isn't computing anything. That “expensive thread doing nothing” problem is exactly what async exists to solve.</a:t>
            </a:r>
          </a:p>
        </p:txBody>
      </p:sp>
      <p:grpSp>
        <p:nvGrpSpPr>
          <p:cNvPr name="Group 20" id="20"/>
          <p:cNvGrpSpPr/>
          <p:nvPr/>
        </p:nvGrpSpPr>
        <p:grpSpPr>
          <a:xfrm rot="0">
            <a:off x="17053103" y="9820656"/>
            <a:ext cx="685800" cy="411480"/>
            <a:chOff x="0" y="0"/>
            <a:chExt cx="914400" cy="548640"/>
          </a:xfrm>
        </p:grpSpPr>
        <p:sp>
          <p:nvSpPr>
            <p:cNvPr name="Freeform 21" id="2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2" id="22"/>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7</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1.2 THE PROBLEM</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Why Does Async Exist At All?</a:t>
              </a:r>
            </a:p>
          </p:txBody>
        </p:sp>
      </p:grpSp>
      <p:grpSp>
        <p:nvGrpSpPr>
          <p:cNvPr name="Group 8" id="8"/>
          <p:cNvGrpSpPr/>
          <p:nvPr/>
        </p:nvGrpSpPr>
        <p:grpSpPr>
          <a:xfrm rot="0">
            <a:off x="960120" y="2674620"/>
            <a:ext cx="7886700" cy="6720840"/>
            <a:chOff x="0" y="0"/>
            <a:chExt cx="10515600" cy="8961120"/>
          </a:xfrm>
        </p:grpSpPr>
        <p:sp>
          <p:nvSpPr>
            <p:cNvPr name="Freeform 9" id="9"/>
            <p:cNvSpPr/>
            <p:nvPr/>
          </p:nvSpPr>
          <p:spPr>
            <a:xfrm flipH="false" flipV="false" rot="0">
              <a:off x="0" y="0"/>
              <a:ext cx="10515600" cy="8961120"/>
            </a:xfrm>
            <a:custGeom>
              <a:avLst/>
              <a:gdLst/>
              <a:ahLst/>
              <a:cxnLst/>
              <a:rect r="r" b="b" t="t" l="l"/>
              <a:pathLst>
                <a:path h="8961120" w="10515600">
                  <a:moveTo>
                    <a:pt x="0" y="182880"/>
                  </a:moveTo>
                  <a:cubicBezTo>
                    <a:pt x="0" y="81915"/>
                    <a:pt x="81915" y="0"/>
                    <a:pt x="182880" y="0"/>
                  </a:cubicBezTo>
                  <a:lnTo>
                    <a:pt x="10332720" y="0"/>
                  </a:lnTo>
                  <a:cubicBezTo>
                    <a:pt x="10433685" y="0"/>
                    <a:pt x="10515600" y="81915"/>
                    <a:pt x="10515600" y="182880"/>
                  </a:cubicBezTo>
                  <a:lnTo>
                    <a:pt x="10515600" y="8778240"/>
                  </a:lnTo>
                  <a:cubicBezTo>
                    <a:pt x="10515600" y="8879205"/>
                    <a:pt x="10433685" y="8961120"/>
                    <a:pt x="10332720" y="8961120"/>
                  </a:cubicBezTo>
                  <a:lnTo>
                    <a:pt x="182880" y="8961120"/>
                  </a:lnTo>
                  <a:cubicBezTo>
                    <a:pt x="81915" y="8961120"/>
                    <a:pt x="0" y="8879205"/>
                    <a:pt x="0" y="8778240"/>
                  </a:cubicBezTo>
                  <a:close/>
                </a:path>
              </a:pathLst>
            </a:custGeom>
            <a:solidFill>
              <a:srgbClr val="F4F1FC"/>
            </a:solidFill>
          </p:spPr>
        </p:sp>
      </p:grpSp>
      <p:grpSp>
        <p:nvGrpSpPr>
          <p:cNvPr name="Group 10" id="10"/>
          <p:cNvGrpSpPr/>
          <p:nvPr/>
        </p:nvGrpSpPr>
        <p:grpSpPr>
          <a:xfrm rot="0">
            <a:off x="960120" y="2674620"/>
            <a:ext cx="7886700" cy="891540"/>
            <a:chOff x="0" y="0"/>
            <a:chExt cx="10515600" cy="1188720"/>
          </a:xfrm>
        </p:grpSpPr>
        <p:sp>
          <p:nvSpPr>
            <p:cNvPr name="Freeform 11" id="11"/>
            <p:cNvSpPr/>
            <p:nvPr/>
          </p:nvSpPr>
          <p:spPr>
            <a:xfrm flipH="false" flipV="false" rot="0">
              <a:off x="0" y="0"/>
              <a:ext cx="10515600" cy="1188720"/>
            </a:xfrm>
            <a:custGeom>
              <a:avLst/>
              <a:gdLst/>
              <a:ahLst/>
              <a:cxnLst/>
              <a:rect r="r" b="b" t="t" l="l"/>
              <a:pathLst>
                <a:path h="1188720" w="10515600">
                  <a:moveTo>
                    <a:pt x="0" y="182880"/>
                  </a:moveTo>
                  <a:cubicBezTo>
                    <a:pt x="0" y="81915"/>
                    <a:pt x="81915" y="0"/>
                    <a:pt x="182880" y="0"/>
                  </a:cubicBezTo>
                  <a:lnTo>
                    <a:pt x="10332720" y="0"/>
                  </a:lnTo>
                  <a:cubicBezTo>
                    <a:pt x="10433685" y="0"/>
                    <a:pt x="10515600" y="81915"/>
                    <a:pt x="10515600" y="182880"/>
                  </a:cubicBezTo>
                  <a:lnTo>
                    <a:pt x="10515600" y="1005840"/>
                  </a:lnTo>
                  <a:cubicBezTo>
                    <a:pt x="10515600" y="1106805"/>
                    <a:pt x="10433685" y="1188720"/>
                    <a:pt x="10332720" y="1188720"/>
                  </a:cubicBezTo>
                  <a:lnTo>
                    <a:pt x="182880" y="1188720"/>
                  </a:lnTo>
                  <a:cubicBezTo>
                    <a:pt x="81915" y="1188720"/>
                    <a:pt x="0" y="1106805"/>
                    <a:pt x="0" y="1005840"/>
                  </a:cubicBezTo>
                  <a:close/>
                </a:path>
              </a:pathLst>
            </a:custGeom>
            <a:solidFill>
              <a:srgbClr val="512BD4"/>
            </a:solidFill>
          </p:spPr>
        </p:sp>
      </p:grpSp>
      <p:grpSp>
        <p:nvGrpSpPr>
          <p:cNvPr name="Group 12" id="12"/>
          <p:cNvGrpSpPr/>
          <p:nvPr/>
        </p:nvGrpSpPr>
        <p:grpSpPr>
          <a:xfrm rot="0">
            <a:off x="960120" y="3154680"/>
            <a:ext cx="7886700" cy="411480"/>
            <a:chOff x="0" y="0"/>
            <a:chExt cx="10515600" cy="548640"/>
          </a:xfrm>
        </p:grpSpPr>
        <p:sp>
          <p:nvSpPr>
            <p:cNvPr name="Freeform 13" id="13"/>
            <p:cNvSpPr/>
            <p:nvPr/>
          </p:nvSpPr>
          <p:spPr>
            <a:xfrm flipH="false" flipV="false" rot="0">
              <a:off x="0" y="0"/>
              <a:ext cx="10515600" cy="548640"/>
            </a:xfrm>
            <a:custGeom>
              <a:avLst/>
              <a:gdLst/>
              <a:ahLst/>
              <a:cxnLst/>
              <a:rect r="r" b="b" t="t" l="l"/>
              <a:pathLst>
                <a:path h="548640" w="10515600">
                  <a:moveTo>
                    <a:pt x="0" y="0"/>
                  </a:moveTo>
                  <a:lnTo>
                    <a:pt x="10515600" y="0"/>
                  </a:lnTo>
                  <a:lnTo>
                    <a:pt x="10515600" y="548640"/>
                  </a:lnTo>
                  <a:lnTo>
                    <a:pt x="0" y="548640"/>
                  </a:lnTo>
                  <a:close/>
                </a:path>
              </a:pathLst>
            </a:custGeom>
            <a:solidFill>
              <a:srgbClr val="512BD4"/>
            </a:solidFill>
          </p:spPr>
        </p:sp>
      </p:grpSp>
      <p:grpSp>
        <p:nvGrpSpPr>
          <p:cNvPr name="Group 14" id="14"/>
          <p:cNvGrpSpPr/>
          <p:nvPr/>
        </p:nvGrpSpPr>
        <p:grpSpPr>
          <a:xfrm rot="0">
            <a:off x="1371600" y="2674620"/>
            <a:ext cx="7063740" cy="891540"/>
            <a:chOff x="0" y="0"/>
            <a:chExt cx="9418320" cy="1188720"/>
          </a:xfrm>
        </p:grpSpPr>
        <p:sp>
          <p:nvSpPr>
            <p:cNvPr name="Freeform 15" id="15"/>
            <p:cNvSpPr/>
            <p:nvPr/>
          </p:nvSpPr>
          <p:spPr>
            <a:xfrm flipH="false" flipV="false" rot="0">
              <a:off x="0" y="0"/>
              <a:ext cx="9418320" cy="1188720"/>
            </a:xfrm>
            <a:custGeom>
              <a:avLst/>
              <a:gdLst/>
              <a:ahLst/>
              <a:cxnLst/>
              <a:rect r="r" b="b" t="t" l="l"/>
              <a:pathLst>
                <a:path h="1188720" w="9418320">
                  <a:moveTo>
                    <a:pt x="0" y="0"/>
                  </a:moveTo>
                  <a:lnTo>
                    <a:pt x="9418320" y="0"/>
                  </a:lnTo>
                  <a:lnTo>
                    <a:pt x="9418320" y="1188720"/>
                  </a:lnTo>
                  <a:lnTo>
                    <a:pt x="0" y="1188720"/>
                  </a:lnTo>
                  <a:close/>
                </a:path>
              </a:pathLst>
            </a:custGeom>
            <a:blipFill>
              <a:blip r:embed="rId3">
                <a:alphaModFix amt="0"/>
              </a:blip>
              <a:stretch>
                <a:fillRect l="0" t="-104381" r="0" b="-104381"/>
              </a:stretch>
            </a:blipFill>
          </p:spPr>
        </p:sp>
        <p:sp>
          <p:nvSpPr>
            <p:cNvPr name="TextBox 16" id="16"/>
            <p:cNvSpPr txBox="true"/>
            <p:nvPr/>
          </p:nvSpPr>
          <p:spPr>
            <a:xfrm>
              <a:off x="0" y="-9525"/>
              <a:ext cx="9418320" cy="119824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Synchronous — Thread Blocked</a:t>
              </a:r>
            </a:p>
          </p:txBody>
        </p:sp>
      </p:grpSp>
      <p:sp>
        <p:nvSpPr>
          <p:cNvPr name="TextBox 17" id="17"/>
          <p:cNvSpPr txBox="true"/>
          <p:nvPr/>
        </p:nvSpPr>
        <p:spPr>
          <a:xfrm rot="0">
            <a:off x="1531620" y="3928110"/>
            <a:ext cx="6812280" cy="450533"/>
          </a:xfrm>
          <a:prstGeom prst="rect">
            <a:avLst/>
          </a:prstGeom>
        </p:spPr>
        <p:txBody>
          <a:bodyPr anchor="t" rtlCol="false" tIns="0" lIns="0" bIns="0" rIns="0">
            <a:spAutoFit/>
          </a:bodyPr>
          <a:lstStyle/>
          <a:p>
            <a:pPr algn="l">
              <a:lnSpc>
                <a:spcPts val="3277"/>
              </a:lnSpc>
            </a:pPr>
            <a:r>
              <a:rPr lang="en-US" sz="2374">
                <a:solidFill>
                  <a:srgbClr val="201A3A"/>
                </a:solidFill>
                <a:latin typeface="Calibri (MS)"/>
                <a:ea typeface="Calibri (MS)"/>
                <a:cs typeface="Calibri (MS)"/>
                <a:sym typeface="Calibri (MS)"/>
              </a:rPr>
              <a:t>•  Calling thread sits idle for the entire 200ms DB wait</a:t>
            </a:r>
          </a:p>
        </p:txBody>
      </p:sp>
      <p:sp>
        <p:nvSpPr>
          <p:cNvPr name="TextBox 18" id="18"/>
          <p:cNvSpPr txBox="true"/>
          <p:nvPr/>
        </p:nvSpPr>
        <p:spPr>
          <a:xfrm rot="0">
            <a:off x="1531620" y="4915662"/>
            <a:ext cx="6812280" cy="450533"/>
          </a:xfrm>
          <a:prstGeom prst="rect">
            <a:avLst/>
          </a:prstGeom>
        </p:spPr>
        <p:txBody>
          <a:bodyPr anchor="t" rtlCol="false" tIns="0" lIns="0" bIns="0" rIns="0">
            <a:spAutoFit/>
          </a:bodyPr>
          <a:lstStyle/>
          <a:p>
            <a:pPr algn="l">
              <a:lnSpc>
                <a:spcPts val="3277"/>
              </a:lnSpc>
            </a:pPr>
            <a:r>
              <a:rPr lang="en-US" sz="2374">
                <a:solidFill>
                  <a:srgbClr val="201A3A"/>
                </a:solidFill>
                <a:latin typeface="Calibri (MS)"/>
                <a:ea typeface="Calibri (MS)"/>
                <a:cs typeface="Calibri (MS)"/>
                <a:sym typeface="Calibri (MS)"/>
              </a:rPr>
              <a:t>•  A pool of 50 threads = only 50 in-flight I/O requests</a:t>
            </a:r>
          </a:p>
        </p:txBody>
      </p:sp>
      <p:sp>
        <p:nvSpPr>
          <p:cNvPr name="TextBox 19" id="19"/>
          <p:cNvSpPr txBox="true"/>
          <p:nvPr/>
        </p:nvSpPr>
        <p:spPr>
          <a:xfrm rot="0">
            <a:off x="1531620" y="5903214"/>
            <a:ext cx="6812280" cy="860108"/>
          </a:xfrm>
          <a:prstGeom prst="rect">
            <a:avLst/>
          </a:prstGeom>
        </p:spPr>
        <p:txBody>
          <a:bodyPr anchor="t" rtlCol="false" tIns="0" lIns="0" bIns="0" rIns="0">
            <a:spAutoFit/>
          </a:bodyPr>
          <a:lstStyle/>
          <a:p>
            <a:pPr algn="l">
              <a:lnSpc>
                <a:spcPts val="3277"/>
              </a:lnSpc>
            </a:pPr>
            <a:r>
              <a:rPr lang="en-US" sz="2374">
                <a:solidFill>
                  <a:srgbClr val="201A3A"/>
                </a:solidFill>
                <a:latin typeface="Calibri (MS)"/>
                <a:ea typeface="Calibri (MS)"/>
                <a:cs typeface="Calibri (MS)"/>
                <a:sym typeface="Calibri (MS)"/>
              </a:rPr>
              <a:t>•  CPU is almost entirely idle during the wait, yet no other work can happen</a:t>
            </a:r>
          </a:p>
        </p:txBody>
      </p:sp>
      <p:grpSp>
        <p:nvGrpSpPr>
          <p:cNvPr name="Group 20" id="20"/>
          <p:cNvGrpSpPr/>
          <p:nvPr/>
        </p:nvGrpSpPr>
        <p:grpSpPr>
          <a:xfrm rot="0">
            <a:off x="9326880" y="2674620"/>
            <a:ext cx="7886700" cy="6720840"/>
            <a:chOff x="0" y="0"/>
            <a:chExt cx="10515600" cy="8961120"/>
          </a:xfrm>
        </p:grpSpPr>
        <p:sp>
          <p:nvSpPr>
            <p:cNvPr name="Freeform 21" id="21"/>
            <p:cNvSpPr/>
            <p:nvPr/>
          </p:nvSpPr>
          <p:spPr>
            <a:xfrm flipH="false" flipV="false" rot="0">
              <a:off x="0" y="0"/>
              <a:ext cx="10515600" cy="8961120"/>
            </a:xfrm>
            <a:custGeom>
              <a:avLst/>
              <a:gdLst/>
              <a:ahLst/>
              <a:cxnLst/>
              <a:rect r="r" b="b" t="t" l="l"/>
              <a:pathLst>
                <a:path h="8961120" w="10515600">
                  <a:moveTo>
                    <a:pt x="0" y="182880"/>
                  </a:moveTo>
                  <a:cubicBezTo>
                    <a:pt x="0" y="81915"/>
                    <a:pt x="81915" y="0"/>
                    <a:pt x="182880" y="0"/>
                  </a:cubicBezTo>
                  <a:lnTo>
                    <a:pt x="10332720" y="0"/>
                  </a:lnTo>
                  <a:cubicBezTo>
                    <a:pt x="10433685" y="0"/>
                    <a:pt x="10515600" y="81915"/>
                    <a:pt x="10515600" y="182880"/>
                  </a:cubicBezTo>
                  <a:lnTo>
                    <a:pt x="10515600" y="8778240"/>
                  </a:lnTo>
                  <a:cubicBezTo>
                    <a:pt x="10515600" y="8879205"/>
                    <a:pt x="10433685" y="8961120"/>
                    <a:pt x="10332720" y="8961120"/>
                  </a:cubicBezTo>
                  <a:lnTo>
                    <a:pt x="182880" y="8961120"/>
                  </a:lnTo>
                  <a:cubicBezTo>
                    <a:pt x="81915" y="8961120"/>
                    <a:pt x="0" y="8879205"/>
                    <a:pt x="0" y="8778240"/>
                  </a:cubicBezTo>
                  <a:close/>
                </a:path>
              </a:pathLst>
            </a:custGeom>
            <a:solidFill>
              <a:srgbClr val="F4F1FC"/>
            </a:solidFill>
          </p:spPr>
        </p:sp>
      </p:grpSp>
      <p:grpSp>
        <p:nvGrpSpPr>
          <p:cNvPr name="Group 22" id="22"/>
          <p:cNvGrpSpPr/>
          <p:nvPr/>
        </p:nvGrpSpPr>
        <p:grpSpPr>
          <a:xfrm rot="0">
            <a:off x="9326880" y="2674620"/>
            <a:ext cx="7886700" cy="891540"/>
            <a:chOff x="0" y="0"/>
            <a:chExt cx="10515600" cy="1188720"/>
          </a:xfrm>
        </p:grpSpPr>
        <p:sp>
          <p:nvSpPr>
            <p:cNvPr name="Freeform 23" id="23"/>
            <p:cNvSpPr/>
            <p:nvPr/>
          </p:nvSpPr>
          <p:spPr>
            <a:xfrm flipH="false" flipV="false" rot="0">
              <a:off x="0" y="0"/>
              <a:ext cx="10515600" cy="1188720"/>
            </a:xfrm>
            <a:custGeom>
              <a:avLst/>
              <a:gdLst/>
              <a:ahLst/>
              <a:cxnLst/>
              <a:rect r="r" b="b" t="t" l="l"/>
              <a:pathLst>
                <a:path h="1188720" w="10515600">
                  <a:moveTo>
                    <a:pt x="0" y="182880"/>
                  </a:moveTo>
                  <a:cubicBezTo>
                    <a:pt x="0" y="81915"/>
                    <a:pt x="81915" y="0"/>
                    <a:pt x="182880" y="0"/>
                  </a:cubicBezTo>
                  <a:lnTo>
                    <a:pt x="10332720" y="0"/>
                  </a:lnTo>
                  <a:cubicBezTo>
                    <a:pt x="10433685" y="0"/>
                    <a:pt x="10515600" y="81915"/>
                    <a:pt x="10515600" y="182880"/>
                  </a:cubicBezTo>
                  <a:lnTo>
                    <a:pt x="10515600" y="1005840"/>
                  </a:lnTo>
                  <a:cubicBezTo>
                    <a:pt x="10515600" y="1106805"/>
                    <a:pt x="10433685" y="1188720"/>
                    <a:pt x="10332720" y="1188720"/>
                  </a:cubicBezTo>
                  <a:lnTo>
                    <a:pt x="182880" y="1188720"/>
                  </a:lnTo>
                  <a:cubicBezTo>
                    <a:pt x="81915" y="1188720"/>
                    <a:pt x="0" y="1106805"/>
                    <a:pt x="0" y="1005840"/>
                  </a:cubicBezTo>
                  <a:close/>
                </a:path>
              </a:pathLst>
            </a:custGeom>
            <a:solidFill>
              <a:srgbClr val="1C7293"/>
            </a:solidFill>
          </p:spPr>
        </p:sp>
      </p:grpSp>
      <p:grpSp>
        <p:nvGrpSpPr>
          <p:cNvPr name="Group 24" id="24"/>
          <p:cNvGrpSpPr/>
          <p:nvPr/>
        </p:nvGrpSpPr>
        <p:grpSpPr>
          <a:xfrm rot="0">
            <a:off x="9326880" y="3154680"/>
            <a:ext cx="7886700" cy="411480"/>
            <a:chOff x="0" y="0"/>
            <a:chExt cx="10515600" cy="548640"/>
          </a:xfrm>
        </p:grpSpPr>
        <p:sp>
          <p:nvSpPr>
            <p:cNvPr name="Freeform 25" id="25"/>
            <p:cNvSpPr/>
            <p:nvPr/>
          </p:nvSpPr>
          <p:spPr>
            <a:xfrm flipH="false" flipV="false" rot="0">
              <a:off x="0" y="0"/>
              <a:ext cx="10515600" cy="548640"/>
            </a:xfrm>
            <a:custGeom>
              <a:avLst/>
              <a:gdLst/>
              <a:ahLst/>
              <a:cxnLst/>
              <a:rect r="r" b="b" t="t" l="l"/>
              <a:pathLst>
                <a:path h="548640" w="10515600">
                  <a:moveTo>
                    <a:pt x="0" y="0"/>
                  </a:moveTo>
                  <a:lnTo>
                    <a:pt x="10515600" y="0"/>
                  </a:lnTo>
                  <a:lnTo>
                    <a:pt x="10515600" y="548640"/>
                  </a:lnTo>
                  <a:lnTo>
                    <a:pt x="0" y="548640"/>
                  </a:lnTo>
                  <a:close/>
                </a:path>
              </a:pathLst>
            </a:custGeom>
            <a:solidFill>
              <a:srgbClr val="1C7293"/>
            </a:solidFill>
          </p:spPr>
        </p:sp>
      </p:grpSp>
      <p:grpSp>
        <p:nvGrpSpPr>
          <p:cNvPr name="Group 26" id="26"/>
          <p:cNvGrpSpPr/>
          <p:nvPr/>
        </p:nvGrpSpPr>
        <p:grpSpPr>
          <a:xfrm rot="0">
            <a:off x="9738360" y="2674620"/>
            <a:ext cx="7063740" cy="891540"/>
            <a:chOff x="0" y="0"/>
            <a:chExt cx="9418320" cy="1188720"/>
          </a:xfrm>
        </p:grpSpPr>
        <p:sp>
          <p:nvSpPr>
            <p:cNvPr name="Freeform 27" id="27"/>
            <p:cNvSpPr/>
            <p:nvPr/>
          </p:nvSpPr>
          <p:spPr>
            <a:xfrm flipH="false" flipV="false" rot="0">
              <a:off x="0" y="0"/>
              <a:ext cx="9418320" cy="1188720"/>
            </a:xfrm>
            <a:custGeom>
              <a:avLst/>
              <a:gdLst/>
              <a:ahLst/>
              <a:cxnLst/>
              <a:rect r="r" b="b" t="t" l="l"/>
              <a:pathLst>
                <a:path h="1188720" w="9418320">
                  <a:moveTo>
                    <a:pt x="0" y="0"/>
                  </a:moveTo>
                  <a:lnTo>
                    <a:pt x="9418320" y="0"/>
                  </a:lnTo>
                  <a:lnTo>
                    <a:pt x="9418320" y="1188720"/>
                  </a:lnTo>
                  <a:lnTo>
                    <a:pt x="0" y="1188720"/>
                  </a:lnTo>
                  <a:close/>
                </a:path>
              </a:pathLst>
            </a:custGeom>
            <a:blipFill>
              <a:blip r:embed="rId3">
                <a:alphaModFix amt="0"/>
              </a:blip>
              <a:stretch>
                <a:fillRect l="0" t="-104381" r="0" b="-104381"/>
              </a:stretch>
            </a:blipFill>
          </p:spPr>
        </p:sp>
        <p:sp>
          <p:nvSpPr>
            <p:cNvPr name="TextBox 28" id="28"/>
            <p:cNvSpPr txBox="true"/>
            <p:nvPr/>
          </p:nvSpPr>
          <p:spPr>
            <a:xfrm>
              <a:off x="0" y="-9525"/>
              <a:ext cx="9418320" cy="119824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Asynchronous — Thread Released</a:t>
              </a:r>
            </a:p>
          </p:txBody>
        </p:sp>
      </p:grpSp>
      <p:sp>
        <p:nvSpPr>
          <p:cNvPr name="TextBox 29" id="29"/>
          <p:cNvSpPr txBox="true"/>
          <p:nvPr/>
        </p:nvSpPr>
        <p:spPr>
          <a:xfrm rot="0">
            <a:off x="9898380" y="3928110"/>
            <a:ext cx="6812280" cy="860108"/>
          </a:xfrm>
          <a:prstGeom prst="rect">
            <a:avLst/>
          </a:prstGeom>
        </p:spPr>
        <p:txBody>
          <a:bodyPr anchor="t" rtlCol="false" tIns="0" lIns="0" bIns="0" rIns="0">
            <a:spAutoFit/>
          </a:bodyPr>
          <a:lstStyle/>
          <a:p>
            <a:pPr algn="l">
              <a:lnSpc>
                <a:spcPts val="3277"/>
              </a:lnSpc>
            </a:pPr>
            <a:r>
              <a:rPr lang="en-US" sz="2374">
                <a:solidFill>
                  <a:srgbClr val="201A3A"/>
                </a:solidFill>
                <a:latin typeface="Calibri (MS)"/>
                <a:ea typeface="Calibri (MS)"/>
                <a:cs typeface="Calibri (MS)"/>
                <a:sym typeface="Calibri (MS)"/>
              </a:rPr>
              <a:t>•  await releases the thread back to the pool while waiting</a:t>
            </a:r>
          </a:p>
        </p:txBody>
      </p:sp>
      <p:sp>
        <p:nvSpPr>
          <p:cNvPr name="TextBox 30" id="30"/>
          <p:cNvSpPr txBox="true"/>
          <p:nvPr/>
        </p:nvSpPr>
        <p:spPr>
          <a:xfrm rot="0">
            <a:off x="9898380" y="4915662"/>
            <a:ext cx="6812280" cy="860108"/>
          </a:xfrm>
          <a:prstGeom prst="rect">
            <a:avLst/>
          </a:prstGeom>
        </p:spPr>
        <p:txBody>
          <a:bodyPr anchor="t" rtlCol="false" tIns="0" lIns="0" bIns="0" rIns="0">
            <a:spAutoFit/>
          </a:bodyPr>
          <a:lstStyle/>
          <a:p>
            <a:pPr algn="l">
              <a:lnSpc>
                <a:spcPts val="3277"/>
              </a:lnSpc>
            </a:pPr>
            <a:r>
              <a:rPr lang="en-US" sz="2374">
                <a:solidFill>
                  <a:srgbClr val="201A3A"/>
                </a:solidFill>
                <a:latin typeface="Calibri (MS)"/>
                <a:ea typeface="Calibri (MS)"/>
                <a:cs typeface="Calibri (MS)"/>
                <a:sym typeface="Calibri (MS)"/>
              </a:rPr>
              <a:t>•  The same 50 threads can now serve far more concurrent requests</a:t>
            </a:r>
          </a:p>
        </p:txBody>
      </p:sp>
      <p:sp>
        <p:nvSpPr>
          <p:cNvPr name="TextBox 31" id="31"/>
          <p:cNvSpPr txBox="true"/>
          <p:nvPr/>
        </p:nvSpPr>
        <p:spPr>
          <a:xfrm rot="0">
            <a:off x="9898380" y="5903214"/>
            <a:ext cx="6812280" cy="860108"/>
          </a:xfrm>
          <a:prstGeom prst="rect">
            <a:avLst/>
          </a:prstGeom>
        </p:spPr>
        <p:txBody>
          <a:bodyPr anchor="t" rtlCol="false" tIns="0" lIns="0" bIns="0" rIns="0">
            <a:spAutoFit/>
          </a:bodyPr>
          <a:lstStyle/>
          <a:p>
            <a:pPr algn="l">
              <a:lnSpc>
                <a:spcPts val="3277"/>
              </a:lnSpc>
            </a:pPr>
            <a:r>
              <a:rPr lang="en-US" sz="2374">
                <a:solidFill>
                  <a:srgbClr val="201A3A"/>
                </a:solidFill>
                <a:latin typeface="Calibri (MS)"/>
                <a:ea typeface="Calibri (MS)"/>
                <a:cs typeface="Calibri (MS)"/>
                <a:sym typeface="Calibri (MS)"/>
              </a:rPr>
              <a:t>•  The thread goes and does other useful work in the meantime</a:t>
            </a:r>
          </a:p>
        </p:txBody>
      </p:sp>
      <p:grpSp>
        <p:nvGrpSpPr>
          <p:cNvPr name="Group 32" id="32"/>
          <p:cNvGrpSpPr/>
          <p:nvPr/>
        </p:nvGrpSpPr>
        <p:grpSpPr>
          <a:xfrm rot="0">
            <a:off x="17053103" y="9820656"/>
            <a:ext cx="685800" cy="411480"/>
            <a:chOff x="0" y="0"/>
            <a:chExt cx="914400" cy="548640"/>
          </a:xfrm>
        </p:grpSpPr>
        <p:sp>
          <p:nvSpPr>
            <p:cNvPr name="Freeform 33" id="3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4" id="3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8</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1.2 THE PROBLEM</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Synchronous vs. Asynchronous — Side by Side</a:t>
              </a:r>
            </a:p>
          </p:txBody>
        </p:sp>
      </p:grpSp>
      <p:grpSp>
        <p:nvGrpSpPr>
          <p:cNvPr name="Group 8" id="8"/>
          <p:cNvGrpSpPr/>
          <p:nvPr/>
        </p:nvGrpSpPr>
        <p:grpSpPr>
          <a:xfrm rot="0">
            <a:off x="960120" y="2537460"/>
            <a:ext cx="16363188" cy="5074920"/>
            <a:chOff x="0" y="0"/>
            <a:chExt cx="21817584" cy="6766560"/>
          </a:xfrm>
        </p:grpSpPr>
        <p:sp>
          <p:nvSpPr>
            <p:cNvPr name="Freeform 9" id="9"/>
            <p:cNvSpPr/>
            <p:nvPr/>
          </p:nvSpPr>
          <p:spPr>
            <a:xfrm flipH="false" flipV="false" rot="0">
              <a:off x="0" y="0"/>
              <a:ext cx="21817585" cy="6766561"/>
            </a:xfrm>
            <a:custGeom>
              <a:avLst/>
              <a:gdLst/>
              <a:ahLst/>
              <a:cxnLst/>
              <a:rect r="r" b="b" t="t" l="l"/>
              <a:pathLst>
                <a:path h="6766561" w="21817585">
                  <a:moveTo>
                    <a:pt x="0" y="146304"/>
                  </a:moveTo>
                  <a:cubicBezTo>
                    <a:pt x="0" y="65532"/>
                    <a:pt x="65532" y="0"/>
                    <a:pt x="146304" y="0"/>
                  </a:cubicBezTo>
                  <a:lnTo>
                    <a:pt x="21671280" y="0"/>
                  </a:lnTo>
                  <a:cubicBezTo>
                    <a:pt x="21752052" y="0"/>
                    <a:pt x="21817585" y="65532"/>
                    <a:pt x="21817585" y="146304"/>
                  </a:cubicBezTo>
                  <a:lnTo>
                    <a:pt x="21817585" y="6620256"/>
                  </a:lnTo>
                  <a:cubicBezTo>
                    <a:pt x="21817585" y="6701028"/>
                    <a:pt x="21752052" y="6766561"/>
                    <a:pt x="21671280" y="6766561"/>
                  </a:cubicBezTo>
                  <a:lnTo>
                    <a:pt x="146304" y="6766561"/>
                  </a:lnTo>
                  <a:cubicBezTo>
                    <a:pt x="65532" y="6766560"/>
                    <a:pt x="0" y="6701028"/>
                    <a:pt x="0" y="662025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11627"/>
            <a:ext cx="15412212" cy="4208145"/>
          </a:xfrm>
          <a:prstGeom prst="rect">
            <a:avLst/>
          </a:prstGeom>
        </p:spPr>
        <p:txBody>
          <a:bodyPr anchor="t" rtlCol="false" tIns="0" lIns="0" bIns="0" rIns="0">
            <a:spAutoFit/>
          </a:bodyPr>
          <a:lstStyle/>
          <a:p>
            <a:pPr algn="l">
              <a:lnSpc>
                <a:spcPts val="2548"/>
              </a:lnSpc>
            </a:pPr>
            <a:r>
              <a:rPr lang="en-US" sz="1800">
                <a:solidFill>
                  <a:srgbClr val="8B84AE"/>
                </a:solidFill>
                <a:latin typeface="Courier New"/>
                <a:ea typeface="Courier New"/>
                <a:cs typeface="Courier New"/>
                <a:sym typeface="Courier New"/>
              </a:rPr>
              <a:t>// SYNCHRONOUS — the calling thread is blocked for the entire duration of the call</a:t>
            </a:r>
          </a:p>
          <a:p>
            <a:pPr algn="l">
              <a:lnSpc>
                <a:spcPts val="2548"/>
              </a:lnSpc>
            </a:pPr>
            <a:r>
              <a:rPr lang="en-US" sz="1800">
                <a:solidFill>
                  <a:srgbClr val="D9D4F0"/>
                </a:solidFill>
                <a:latin typeface="Courier New"/>
                <a:ea typeface="Courier New"/>
                <a:cs typeface="Courier New"/>
                <a:sym typeface="Courier New"/>
              </a:rPr>
              <a:t>public string GetWeatherReport(string city)</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string result = httpClient.GetString($"https://api.weather.com/{city}");  // Thread blocked here</a:t>
            </a:r>
          </a:p>
          <a:p>
            <a:pPr algn="l">
              <a:lnSpc>
                <a:spcPts val="2548"/>
              </a:lnSpc>
            </a:pPr>
            <a:r>
              <a:rPr lang="en-US" sz="1800">
                <a:solidFill>
                  <a:srgbClr val="D9D4F0"/>
                </a:solidFill>
                <a:latin typeface="Courier New"/>
                <a:ea typeface="Courier New"/>
                <a:cs typeface="Courier New"/>
                <a:sym typeface="Courier New"/>
              </a:rPr>
              <a:t>    return result;</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p>
          <a:p>
            <a:pPr algn="l">
              <a:lnSpc>
                <a:spcPts val="2548"/>
              </a:lnSpc>
            </a:pPr>
            <a:r>
              <a:rPr lang="en-US" sz="1800">
                <a:solidFill>
                  <a:srgbClr val="8B84AE"/>
                </a:solidFill>
                <a:latin typeface="Courier New"/>
                <a:ea typeface="Courier New"/>
                <a:cs typeface="Courier New"/>
                <a:sym typeface="Courier New"/>
              </a:rPr>
              <a:t>// ASYNCHRONOUS — the thread is released back to the pool while waiting for the network</a:t>
            </a:r>
          </a:p>
          <a:p>
            <a:pPr algn="l">
              <a:lnSpc>
                <a:spcPts val="2548"/>
              </a:lnSpc>
            </a:pPr>
            <a:r>
              <a:rPr lang="en-US" sz="1800">
                <a:solidFill>
                  <a:srgbClr val="D9D4F0"/>
                </a:solidFill>
                <a:latin typeface="Courier New"/>
                <a:ea typeface="Courier New"/>
                <a:cs typeface="Courier New"/>
                <a:sym typeface="Courier New"/>
              </a:rPr>
              <a:t>public async Task&lt;string&gt; GetWeatherReportAsync(string city)</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string result = await httpClient.GetStringAsync($"https://api.weather.com/{city}");</a:t>
            </a:r>
          </a:p>
          <a:p>
            <a:pPr algn="l">
              <a:lnSpc>
                <a:spcPts val="2548"/>
              </a:lnSpc>
            </a:pPr>
            <a:r>
              <a:rPr lang="en-US" sz="1800">
                <a:solidFill>
                  <a:srgbClr val="D9D4F0"/>
                </a:solidFill>
                <a:latin typeface="Courier New"/>
                <a:ea typeface="Courier New"/>
                <a:cs typeface="Courier New"/>
                <a:sym typeface="Courier New"/>
              </a:rPr>
              <a:t>    return result;</a:t>
            </a:r>
          </a:p>
          <a:p>
            <a:pPr algn="l">
              <a:lnSpc>
                <a:spcPts val="2548"/>
              </a:lnSpc>
            </a:pPr>
            <a:r>
              <a:rPr lang="en-US" sz="1800">
                <a:solidFill>
                  <a:srgbClr val="D9D4F0"/>
                </a:solidFill>
                <a:latin typeface="Courier New"/>
                <a:ea typeface="Courier New"/>
                <a:cs typeface="Courier New"/>
                <a:sym typeface="Courier New"/>
              </a:rPr>
              <a:t>}</a:t>
            </a:r>
          </a:p>
        </p:txBody>
      </p:sp>
      <p:grpSp>
        <p:nvGrpSpPr>
          <p:cNvPr name="Group 17" id="17"/>
          <p:cNvGrpSpPr/>
          <p:nvPr/>
        </p:nvGrpSpPr>
        <p:grpSpPr>
          <a:xfrm rot="0">
            <a:off x="960120" y="7886700"/>
            <a:ext cx="16363188" cy="1165860"/>
            <a:chOff x="0" y="0"/>
            <a:chExt cx="21817584" cy="1554480"/>
          </a:xfrm>
        </p:grpSpPr>
        <p:sp>
          <p:nvSpPr>
            <p:cNvPr name="Freeform 18" id="18"/>
            <p:cNvSpPr/>
            <p:nvPr/>
          </p:nvSpPr>
          <p:spPr>
            <a:xfrm flipH="false" flipV="false" rot="0">
              <a:off x="0" y="0"/>
              <a:ext cx="21817585" cy="1554480"/>
            </a:xfrm>
            <a:custGeom>
              <a:avLst/>
              <a:gdLst/>
              <a:ahLst/>
              <a:cxnLst/>
              <a:rect r="r" b="b" t="t" l="l"/>
              <a:pathLst>
                <a:path h="1554480" w="21817585">
                  <a:moveTo>
                    <a:pt x="0" y="146304"/>
                  </a:moveTo>
                  <a:cubicBezTo>
                    <a:pt x="0" y="65532"/>
                    <a:pt x="65532" y="0"/>
                    <a:pt x="146304" y="0"/>
                  </a:cubicBezTo>
                  <a:lnTo>
                    <a:pt x="21671280" y="0"/>
                  </a:lnTo>
                  <a:cubicBezTo>
                    <a:pt x="21752052" y="0"/>
                    <a:pt x="21817585" y="65532"/>
                    <a:pt x="21817585" y="146304"/>
                  </a:cubicBezTo>
                  <a:lnTo>
                    <a:pt x="21817585" y="1408176"/>
                  </a:lnTo>
                  <a:cubicBezTo>
                    <a:pt x="21817585" y="1488948"/>
                    <a:pt x="21752052" y="1554480"/>
                    <a:pt x="21671280" y="1554480"/>
                  </a:cubicBezTo>
                  <a:lnTo>
                    <a:pt x="146304" y="1554480"/>
                  </a:lnTo>
                  <a:cubicBezTo>
                    <a:pt x="65532" y="1554480"/>
                    <a:pt x="0" y="1488948"/>
                    <a:pt x="0" y="1408176"/>
                  </a:cubicBezTo>
                  <a:close/>
                </a:path>
              </a:pathLst>
            </a:custGeom>
            <a:solidFill>
              <a:srgbClr val="F4F1FC"/>
            </a:solidFill>
          </p:spPr>
        </p:sp>
      </p:grpSp>
      <p:grpSp>
        <p:nvGrpSpPr>
          <p:cNvPr name="Group 19" id="19"/>
          <p:cNvGrpSpPr/>
          <p:nvPr/>
        </p:nvGrpSpPr>
        <p:grpSpPr>
          <a:xfrm rot="0">
            <a:off x="1371600" y="7886700"/>
            <a:ext cx="15636240" cy="1165860"/>
            <a:chOff x="0" y="0"/>
            <a:chExt cx="20848320" cy="1554480"/>
          </a:xfrm>
        </p:grpSpPr>
        <p:sp>
          <p:nvSpPr>
            <p:cNvPr name="Freeform 20" id="20"/>
            <p:cNvSpPr/>
            <p:nvPr/>
          </p:nvSpPr>
          <p:spPr>
            <a:xfrm flipH="false" flipV="false" rot="0">
              <a:off x="0" y="0"/>
              <a:ext cx="20848320" cy="1554480"/>
            </a:xfrm>
            <a:custGeom>
              <a:avLst/>
              <a:gdLst/>
              <a:ahLst/>
              <a:cxnLst/>
              <a:rect r="r" b="b" t="t" l="l"/>
              <a:pathLst>
                <a:path h="1554480" w="20848320">
                  <a:moveTo>
                    <a:pt x="0" y="0"/>
                  </a:moveTo>
                  <a:lnTo>
                    <a:pt x="20848320" y="0"/>
                  </a:lnTo>
                  <a:lnTo>
                    <a:pt x="20848320" y="1554480"/>
                  </a:lnTo>
                  <a:lnTo>
                    <a:pt x="0" y="1554480"/>
                  </a:lnTo>
                  <a:close/>
                </a:path>
              </a:pathLst>
            </a:custGeom>
            <a:blipFill>
              <a:blip r:embed="rId3">
                <a:alphaModFix amt="0"/>
              </a:blip>
              <a:stretch>
                <a:fillRect l="0" t="-211328" r="0" b="-211328"/>
              </a:stretch>
            </a:blipFill>
          </p:spPr>
        </p:sp>
        <p:sp>
          <p:nvSpPr>
            <p:cNvPr name="TextBox 21" id="21"/>
            <p:cNvSpPr txBox="true"/>
            <p:nvPr/>
          </p:nvSpPr>
          <p:spPr>
            <a:xfrm>
              <a:off x="0" y="-38100"/>
              <a:ext cx="20848320" cy="1592580"/>
            </a:xfrm>
            <a:prstGeom prst="rect">
              <a:avLst/>
            </a:prstGeom>
          </p:spPr>
          <p:txBody>
            <a:bodyPr anchor="ctr" rtlCol="false" tIns="0" lIns="0" bIns="0" rIns="0"/>
            <a:lstStyle/>
            <a:p>
              <a:pPr algn="l">
                <a:lnSpc>
                  <a:spcPts val="2250"/>
                </a:lnSpc>
              </a:pPr>
              <a:r>
                <a:rPr lang="en-US" sz="1875" i="true">
                  <a:solidFill>
                    <a:srgbClr val="201A3A"/>
                  </a:solidFill>
                  <a:latin typeface="Calibri (MS) Italics"/>
                  <a:ea typeface="Calibri (MS) Italics"/>
                  <a:cs typeface="Calibri (MS) Italics"/>
                  <a:sym typeface="Calibri (MS) Italics"/>
                </a:rPr>
                <a:t>Interview trap: “async makes code run faster” is wrong for CPU-bound work. Async is about scalability and responsiveness — more concurrent I/O with fewer threads, and a UI thread that stays free to redraw.</a:t>
              </a:r>
            </a:p>
          </p:txBody>
        </p:sp>
      </p:grpSp>
      <p:grpSp>
        <p:nvGrpSpPr>
          <p:cNvPr name="Group 22" id="22"/>
          <p:cNvGrpSpPr/>
          <p:nvPr/>
        </p:nvGrpSpPr>
        <p:grpSpPr>
          <a:xfrm rot="0">
            <a:off x="17053103" y="9820656"/>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4" id="2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9</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1.3 CORE TYPES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Task and Task&lt;T&gt; — The Building Blocks</a:t>
              </a:r>
            </a:p>
          </p:txBody>
        </p:sp>
      </p:grpSp>
      <p:grpSp>
        <p:nvGrpSpPr>
          <p:cNvPr name="Group 8" id="8"/>
          <p:cNvGrpSpPr/>
          <p:nvPr/>
        </p:nvGrpSpPr>
        <p:grpSpPr>
          <a:xfrm rot="0">
            <a:off x="960120" y="2606040"/>
            <a:ext cx="9875520" cy="6858000"/>
            <a:chOff x="0" y="0"/>
            <a:chExt cx="13167360" cy="9144000"/>
          </a:xfrm>
        </p:grpSpPr>
        <p:sp>
          <p:nvSpPr>
            <p:cNvPr name="Freeform 9" id="9"/>
            <p:cNvSpPr/>
            <p:nvPr/>
          </p:nvSpPr>
          <p:spPr>
            <a:xfrm flipH="false" flipV="false" rot="0">
              <a:off x="0" y="0"/>
              <a:ext cx="13167361" cy="9144000"/>
            </a:xfrm>
            <a:custGeom>
              <a:avLst/>
              <a:gdLst/>
              <a:ahLst/>
              <a:cxnLst/>
              <a:rect r="r" b="b" t="t" l="l"/>
              <a:pathLst>
                <a:path h="9144000" w="13167361">
                  <a:moveTo>
                    <a:pt x="0" y="146304"/>
                  </a:moveTo>
                  <a:cubicBezTo>
                    <a:pt x="0" y="65532"/>
                    <a:pt x="65532" y="0"/>
                    <a:pt x="146304" y="0"/>
                  </a:cubicBezTo>
                  <a:lnTo>
                    <a:pt x="13021056" y="0"/>
                  </a:lnTo>
                  <a:cubicBezTo>
                    <a:pt x="13101828" y="0"/>
                    <a:pt x="13167361" y="65532"/>
                    <a:pt x="13167361" y="146304"/>
                  </a:cubicBezTo>
                  <a:lnTo>
                    <a:pt x="13167361" y="8997696"/>
                  </a:lnTo>
                  <a:cubicBezTo>
                    <a:pt x="13167361" y="9078468"/>
                    <a:pt x="13101828" y="9144000"/>
                    <a:pt x="1302105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924544" cy="5991225"/>
          </a:xfrm>
          <a:prstGeom prst="rect">
            <a:avLst/>
          </a:prstGeom>
        </p:spPr>
        <p:txBody>
          <a:bodyPr anchor="t" rtlCol="false" tIns="0" lIns="0" bIns="0" rIns="0">
            <a:spAutoFit/>
          </a:bodyPr>
          <a:lstStyle/>
          <a:p>
            <a:pPr algn="l">
              <a:lnSpc>
                <a:spcPts val="2761"/>
              </a:lnSpc>
            </a:pPr>
            <a:r>
              <a:rPr lang="en-US" sz="1950">
                <a:solidFill>
                  <a:srgbClr val="D9D4F0"/>
                </a:solidFill>
                <a:latin typeface="Courier New"/>
                <a:ea typeface="Courier New"/>
                <a:cs typeface="Courier New"/>
                <a:sym typeface="Courier New"/>
              </a:rPr>
              <a:t>Task DoSomething();           // "an operation that will finish" — no result</a:t>
            </a:r>
          </a:p>
          <a:p>
            <a:pPr algn="l">
              <a:lnSpc>
                <a:spcPts val="2761"/>
              </a:lnSpc>
            </a:pPr>
            <a:r>
              <a:rPr lang="en-US" sz="1950">
                <a:solidFill>
                  <a:srgbClr val="D9D4F0"/>
                </a:solidFill>
                <a:latin typeface="Courier New"/>
                <a:ea typeface="Courier New"/>
                <a:cs typeface="Courier New"/>
                <a:sym typeface="Courier New"/>
              </a:rPr>
              <a:t>Task&lt;int&gt; ComputeSomething();  // "an operation that will finish and hand back an int"</a:t>
            </a:r>
          </a:p>
          <a:p>
            <a:pPr algn="l">
              <a:lnSpc>
                <a:spcPts val="2761"/>
              </a:lnSpc>
            </a:pPr>
          </a:p>
          <a:p>
            <a:pPr algn="l">
              <a:lnSpc>
                <a:spcPts val="2761"/>
              </a:lnSpc>
            </a:pPr>
            <a:r>
              <a:rPr lang="en-US" sz="1950">
                <a:solidFill>
                  <a:srgbClr val="D9D4F0"/>
                </a:solidFill>
                <a:latin typeface="Courier New"/>
                <a:ea typeface="Courier New"/>
                <a:cs typeface="Courier New"/>
                <a:sym typeface="Courier New"/>
              </a:rPr>
              <a:t>public async Task&lt;int&gt; GetTotalGoalsAsync(int teamId)</a:t>
            </a:r>
          </a:p>
          <a:p>
            <a:pPr algn="l">
              <a:lnSpc>
                <a:spcPts val="2761"/>
              </a:lnSpc>
            </a:pPr>
            <a:r>
              <a:rPr lang="en-US" sz="1950">
                <a:solidFill>
                  <a:srgbClr val="D9D4F0"/>
                </a:solidFill>
                <a:latin typeface="Courier New"/>
                <a:ea typeface="Courier New"/>
                <a:cs typeface="Courier New"/>
                <a:sym typeface="Courier New"/>
              </a:rPr>
              <a:t>{</a:t>
            </a:r>
          </a:p>
          <a:p>
            <a:pPr algn="l">
              <a:lnSpc>
                <a:spcPts val="2761"/>
              </a:lnSpc>
            </a:pPr>
            <a:r>
              <a:rPr lang="en-US" sz="1950">
                <a:solidFill>
                  <a:srgbClr val="D9D4F0"/>
                </a:solidFill>
                <a:latin typeface="Courier New"/>
                <a:ea typeface="Courier New"/>
                <a:cs typeface="Courier New"/>
                <a:sym typeface="Courier New"/>
              </a:rPr>
              <a:t>    List&lt;Player&gt; players =</a:t>
            </a:r>
          </a:p>
          <a:p>
            <a:pPr algn="l">
              <a:lnSpc>
                <a:spcPts val="2761"/>
              </a:lnSpc>
            </a:pPr>
            <a:r>
              <a:rPr lang="en-US" sz="1950">
                <a:solidFill>
                  <a:srgbClr val="D9D4F0"/>
                </a:solidFill>
                <a:latin typeface="Courier New"/>
                <a:ea typeface="Courier New"/>
                <a:cs typeface="Courier New"/>
                <a:sym typeface="Courier New"/>
              </a:rPr>
              <a:t>        await _repository.GetPlayersAsync(teamId);   // suspend here</a:t>
            </a:r>
          </a:p>
          <a:p>
            <a:pPr algn="l">
              <a:lnSpc>
                <a:spcPts val="2761"/>
              </a:lnSpc>
            </a:pPr>
            <a:r>
              <a:rPr lang="en-US" sz="1950">
                <a:solidFill>
                  <a:srgbClr val="D9D4F0"/>
                </a:solidFill>
                <a:latin typeface="Courier New"/>
                <a:ea typeface="Courier New"/>
                <a:cs typeface="Courier New"/>
                <a:sym typeface="Courier New"/>
              </a:rPr>
              <a:t>    int total = players.Sum(p =&gt; p.Goals);            // resumes here once ready</a:t>
            </a:r>
          </a:p>
          <a:p>
            <a:pPr algn="l">
              <a:lnSpc>
                <a:spcPts val="2761"/>
              </a:lnSpc>
            </a:pPr>
            <a:r>
              <a:rPr lang="en-US" sz="1950">
                <a:solidFill>
                  <a:srgbClr val="D9D4F0"/>
                </a:solidFill>
                <a:latin typeface="Courier New"/>
                <a:ea typeface="Courier New"/>
                <a:cs typeface="Courier New"/>
                <a:sym typeface="Courier New"/>
              </a:rPr>
              <a:t>    return total;</a:t>
            </a:r>
          </a:p>
          <a:p>
            <a:pPr algn="l">
              <a:lnSpc>
                <a:spcPts val="2761"/>
              </a:lnSpc>
            </a:pPr>
            <a:r>
              <a:rPr lang="en-US" sz="1950">
                <a:solidFill>
                  <a:srgbClr val="D9D4F0"/>
                </a:solidFill>
                <a:latin typeface="Courier New"/>
                <a:ea typeface="Courier New"/>
                <a:cs typeface="Courier New"/>
                <a:sym typeface="Courier New"/>
              </a:rPr>
              <a:t>}</a:t>
            </a:r>
          </a:p>
        </p:txBody>
      </p:sp>
      <p:grpSp>
        <p:nvGrpSpPr>
          <p:cNvPr name="Group 17" id="17"/>
          <p:cNvGrpSpPr/>
          <p:nvPr/>
        </p:nvGrpSpPr>
        <p:grpSpPr>
          <a:xfrm rot="0">
            <a:off x="1131570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750040" y="2593467"/>
            <a:ext cx="562310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Task represents an operation that will complete at some point in the future.</a:t>
            </a:r>
          </a:p>
        </p:txBody>
      </p:sp>
      <p:grpSp>
        <p:nvGrpSpPr>
          <p:cNvPr name="Group 20" id="20"/>
          <p:cNvGrpSpPr/>
          <p:nvPr/>
        </p:nvGrpSpPr>
        <p:grpSpPr>
          <a:xfrm rot="0">
            <a:off x="11315700" y="418338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750040" y="4033647"/>
            <a:ext cx="562310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Task&lt;T&gt; is the same idea, but produces a value of type T when it finishes.</a:t>
            </a:r>
          </a:p>
        </p:txBody>
      </p:sp>
      <p:grpSp>
        <p:nvGrpSpPr>
          <p:cNvPr name="Group 23" id="23"/>
          <p:cNvGrpSpPr/>
          <p:nvPr/>
        </p:nvGrpSpPr>
        <p:grpSpPr>
          <a:xfrm rot="0">
            <a:off x="11315700" y="562356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1750040" y="5473827"/>
            <a:ext cx="5623103" cy="1179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Think of Task&lt;T&gt; as a promise: “I don't have the int yet, but I'll produce one or fail with an exception.”</a:t>
            </a:r>
          </a:p>
        </p:txBody>
      </p:sp>
      <p:grpSp>
        <p:nvGrpSpPr>
          <p:cNvPr name="Group 26" id="26"/>
          <p:cNvGrpSpPr/>
          <p:nvPr/>
        </p:nvGrpSpPr>
        <p:grpSpPr>
          <a:xfrm rot="0">
            <a:off x="11315700" y="7063740"/>
            <a:ext cx="137160" cy="137160"/>
            <a:chOff x="0" y="0"/>
            <a:chExt cx="182880" cy="182880"/>
          </a:xfrm>
        </p:grpSpPr>
        <p:sp>
          <p:nvSpPr>
            <p:cNvPr name="Freeform 27" id="2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8" id="28"/>
          <p:cNvSpPr txBox="true"/>
          <p:nvPr/>
        </p:nvSpPr>
        <p:spPr>
          <a:xfrm rot="0">
            <a:off x="11750040" y="6914007"/>
            <a:ext cx="562310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await is how you unwrap that promise once it's ready.</a:t>
            </a:r>
          </a:p>
        </p:txBody>
      </p:sp>
      <p:grpSp>
        <p:nvGrpSpPr>
          <p:cNvPr name="Group 29" id="29"/>
          <p:cNvGrpSpPr/>
          <p:nvPr/>
        </p:nvGrpSpPr>
        <p:grpSpPr>
          <a:xfrm rot="0">
            <a:off x="17053103" y="9820656"/>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10</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1.4 SYNTAX</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async / await — What They Actually Do</a:t>
              </a:r>
            </a:p>
          </p:txBody>
        </p:sp>
      </p:grpSp>
      <p:grpSp>
        <p:nvGrpSpPr>
          <p:cNvPr name="Group 8" id="8"/>
          <p:cNvGrpSpPr/>
          <p:nvPr/>
        </p:nvGrpSpPr>
        <p:grpSpPr>
          <a:xfrm rot="0">
            <a:off x="960120" y="2606040"/>
            <a:ext cx="9052560" cy="6858000"/>
            <a:chOff x="0" y="0"/>
            <a:chExt cx="12070080" cy="9144000"/>
          </a:xfrm>
        </p:grpSpPr>
        <p:sp>
          <p:nvSpPr>
            <p:cNvPr name="Freeform 9" id="9"/>
            <p:cNvSpPr/>
            <p:nvPr/>
          </p:nvSpPr>
          <p:spPr>
            <a:xfrm flipH="false" flipV="false" rot="0">
              <a:off x="0" y="0"/>
              <a:ext cx="12070080" cy="9144000"/>
            </a:xfrm>
            <a:custGeom>
              <a:avLst/>
              <a:gdLst/>
              <a:ahLst/>
              <a:cxnLst/>
              <a:rect r="r" b="b" t="t" l="l"/>
              <a:pathLst>
                <a:path h="9144000" w="12070080">
                  <a:moveTo>
                    <a:pt x="0" y="146304"/>
                  </a:moveTo>
                  <a:cubicBezTo>
                    <a:pt x="0" y="65532"/>
                    <a:pt x="65532" y="0"/>
                    <a:pt x="146304" y="0"/>
                  </a:cubicBezTo>
                  <a:lnTo>
                    <a:pt x="11923776" y="0"/>
                  </a:lnTo>
                  <a:cubicBezTo>
                    <a:pt x="12004548" y="0"/>
                    <a:pt x="12070080" y="65532"/>
                    <a:pt x="12070080" y="146304"/>
                  </a:cubicBezTo>
                  <a:lnTo>
                    <a:pt x="12070080" y="8997696"/>
                  </a:lnTo>
                  <a:cubicBezTo>
                    <a:pt x="12070080" y="9078468"/>
                    <a:pt x="12004548" y="9144000"/>
                    <a:pt x="1192377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101584" cy="5991225"/>
          </a:xfrm>
          <a:prstGeom prst="rect">
            <a:avLst/>
          </a:prstGeom>
        </p:spPr>
        <p:txBody>
          <a:bodyPr anchor="t" rtlCol="false" tIns="0" lIns="0" bIns="0" rIns="0">
            <a:spAutoFit/>
          </a:bodyPr>
          <a:lstStyle/>
          <a:p>
            <a:pPr algn="l">
              <a:lnSpc>
                <a:spcPts val="2867"/>
              </a:lnSpc>
            </a:pPr>
            <a:r>
              <a:rPr lang="en-US" sz="2025">
                <a:solidFill>
                  <a:srgbClr val="D9D4F0"/>
                </a:solidFill>
                <a:latin typeface="Courier New"/>
                <a:ea typeface="Courier New"/>
                <a:cs typeface="Courier New"/>
                <a:sym typeface="Courier New"/>
              </a:rPr>
              <a:t>public async Task&lt;int&gt; GetTotalGoalsAsync(int teamId)</a:t>
            </a:r>
          </a:p>
          <a:p>
            <a:pPr algn="l">
              <a:lnSpc>
                <a:spcPts val="2867"/>
              </a:lnSpc>
            </a:pPr>
            <a:r>
              <a:rPr lang="en-US" sz="2025">
                <a:solidFill>
                  <a:srgbClr val="D9D4F0"/>
                </a:solidFill>
                <a:latin typeface="Courier New"/>
                <a:ea typeface="Courier New"/>
                <a:cs typeface="Courier New"/>
                <a:sym typeface="Courier New"/>
              </a:rPr>
              <a:t>{</a:t>
            </a:r>
          </a:p>
          <a:p>
            <a:pPr algn="l">
              <a:lnSpc>
                <a:spcPts val="2867"/>
              </a:lnSpc>
            </a:pPr>
            <a:r>
              <a:rPr lang="en-US" sz="2025">
                <a:solidFill>
                  <a:srgbClr val="D9D4F0"/>
                </a:solidFill>
                <a:latin typeface="Courier New"/>
                <a:ea typeface="Courier New"/>
                <a:cs typeface="Courier New"/>
                <a:sym typeface="Courier New"/>
              </a:rPr>
              <a:t>    List&lt;Player&gt; players =</a:t>
            </a:r>
          </a:p>
          <a:p>
            <a:pPr algn="l">
              <a:lnSpc>
                <a:spcPts val="2867"/>
              </a:lnSpc>
            </a:pPr>
            <a:r>
              <a:rPr lang="en-US" sz="2025">
                <a:solidFill>
                  <a:srgbClr val="D9D4F0"/>
                </a:solidFill>
                <a:latin typeface="Courier New"/>
                <a:ea typeface="Courier New"/>
                <a:cs typeface="Courier New"/>
                <a:sym typeface="Courier New"/>
              </a:rPr>
              <a:t>        await _repository.GetPlayersAsync(teamId);  // suspend here</a:t>
            </a:r>
          </a:p>
          <a:p>
            <a:pPr algn="l">
              <a:lnSpc>
                <a:spcPts val="2867"/>
              </a:lnSpc>
            </a:pPr>
            <a:r>
              <a:rPr lang="en-US" sz="2025">
                <a:solidFill>
                  <a:srgbClr val="D9D4F0"/>
                </a:solidFill>
                <a:latin typeface="Courier New"/>
                <a:ea typeface="Courier New"/>
                <a:cs typeface="Courier New"/>
                <a:sym typeface="Courier New"/>
              </a:rPr>
              <a:t>    int total = players.Sum(p =&gt; p.Goals);</a:t>
            </a:r>
          </a:p>
          <a:p>
            <a:pPr algn="l">
              <a:lnSpc>
                <a:spcPts val="2867"/>
              </a:lnSpc>
            </a:pPr>
            <a:r>
              <a:rPr lang="en-US" sz="2025">
                <a:solidFill>
                  <a:srgbClr val="D9D4F0"/>
                </a:solidFill>
                <a:latin typeface="Courier New"/>
                <a:ea typeface="Courier New"/>
                <a:cs typeface="Courier New"/>
                <a:sym typeface="Courier New"/>
              </a:rPr>
              <a:t>    return total;</a:t>
            </a:r>
          </a:p>
          <a:p>
            <a:pPr algn="l">
              <a:lnSpc>
                <a:spcPts val="2867"/>
              </a:lnSpc>
            </a:pPr>
            <a:r>
              <a:rPr lang="en-US" sz="2025">
                <a:solidFill>
                  <a:srgbClr val="D9D4F0"/>
                </a:solidFill>
                <a:latin typeface="Courier New"/>
                <a:ea typeface="Courier New"/>
                <a:cs typeface="Courier New"/>
                <a:sym typeface="Courier New"/>
              </a:rPr>
              <a:t>}</a:t>
            </a:r>
          </a:p>
        </p:txBody>
      </p:sp>
      <p:grpSp>
        <p:nvGrpSpPr>
          <p:cNvPr name="Group 17" id="17"/>
          <p:cNvGrpSpPr/>
          <p:nvPr/>
        </p:nvGrpSpPr>
        <p:grpSpPr>
          <a:xfrm rot="0">
            <a:off x="1049274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0927080" y="2593467"/>
            <a:ext cx="644606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async marks a method as containing await expressions and changes how the compiler builds it.</a:t>
            </a:r>
          </a:p>
        </p:txBody>
      </p:sp>
      <p:grpSp>
        <p:nvGrpSpPr>
          <p:cNvPr name="Group 20" id="20"/>
          <p:cNvGrpSpPr/>
          <p:nvPr/>
        </p:nvGrpSpPr>
        <p:grpSpPr>
          <a:xfrm rot="0">
            <a:off x="10492740" y="4142232"/>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0927080" y="3992499"/>
            <a:ext cx="644606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await suspends the method without blocking the calling thread — the thread returns to its pool.</a:t>
            </a:r>
          </a:p>
        </p:txBody>
      </p:sp>
      <p:grpSp>
        <p:nvGrpSpPr>
          <p:cNvPr name="Group 23" id="23"/>
          <p:cNvGrpSpPr/>
          <p:nvPr/>
        </p:nvGrpSpPr>
        <p:grpSpPr>
          <a:xfrm rot="0">
            <a:off x="10492740" y="5541264"/>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0927080" y="5391531"/>
            <a:ext cx="644606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When the awaited Task completes, the rest of the method resumes — potentially on a different thread.</a:t>
            </a:r>
          </a:p>
        </p:txBody>
      </p:sp>
      <p:grpSp>
        <p:nvGrpSpPr>
          <p:cNvPr name="Group 26" id="26"/>
          <p:cNvGrpSpPr/>
          <p:nvPr/>
        </p:nvGrpSpPr>
        <p:grpSpPr>
          <a:xfrm rot="0">
            <a:off x="10492740" y="6940296"/>
            <a:ext cx="137160" cy="137160"/>
            <a:chOff x="0" y="0"/>
            <a:chExt cx="182880" cy="182880"/>
          </a:xfrm>
        </p:grpSpPr>
        <p:sp>
          <p:nvSpPr>
            <p:cNvPr name="Freeform 27" id="2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8" id="28"/>
          <p:cNvSpPr txBox="true"/>
          <p:nvPr/>
        </p:nvSpPr>
        <p:spPr>
          <a:xfrm rot="0">
            <a:off x="10927080" y="6790563"/>
            <a:ext cx="6446063" cy="798005"/>
          </a:xfrm>
          <a:prstGeom prst="rect">
            <a:avLst/>
          </a:prstGeom>
        </p:spPr>
        <p:txBody>
          <a:bodyPr anchor="t" rtlCol="false" tIns="0" lIns="0" bIns="0" rIns="0">
            <a:spAutoFit/>
          </a:bodyPr>
          <a:lstStyle/>
          <a:p>
            <a:pPr algn="l">
              <a:lnSpc>
                <a:spcPts val="3001"/>
              </a:lnSpc>
            </a:pPr>
            <a:r>
              <a:rPr lang="en-US" sz="2174">
                <a:solidFill>
                  <a:srgbClr val="201A3A"/>
                </a:solidFill>
                <a:latin typeface="Calibri (MS)"/>
                <a:ea typeface="Calibri (MS)"/>
                <a:cs typeface="Calibri (MS)"/>
                <a:sym typeface="Calibri (MS)"/>
              </a:rPr>
              <a:t>The method's return type becomes Task or Task&lt;T&gt;; the caller can await that in turn.</a:t>
            </a:r>
          </a:p>
        </p:txBody>
      </p:sp>
      <p:grpSp>
        <p:nvGrpSpPr>
          <p:cNvPr name="Group 29" id="29"/>
          <p:cNvGrpSpPr/>
          <p:nvPr/>
        </p:nvGrpSpPr>
        <p:grpSpPr>
          <a:xfrm rot="0">
            <a:off x="17053103" y="9820656"/>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11</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1.6 PITFALLS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async void vs. async Task — Why void Is Dangerous</a:t>
              </a:r>
            </a:p>
          </p:txBody>
        </p:sp>
      </p:grpSp>
      <p:grpSp>
        <p:nvGrpSpPr>
          <p:cNvPr name="Group 8" id="8"/>
          <p:cNvGrpSpPr/>
          <p:nvPr/>
        </p:nvGrpSpPr>
        <p:grpSpPr>
          <a:xfrm rot="0">
            <a:off x="960120" y="2674620"/>
            <a:ext cx="7886700" cy="6720840"/>
            <a:chOff x="0" y="0"/>
            <a:chExt cx="10515600" cy="8961120"/>
          </a:xfrm>
        </p:grpSpPr>
        <p:sp>
          <p:nvSpPr>
            <p:cNvPr name="Freeform 9" id="9"/>
            <p:cNvSpPr/>
            <p:nvPr/>
          </p:nvSpPr>
          <p:spPr>
            <a:xfrm flipH="false" flipV="false" rot="0">
              <a:off x="0" y="0"/>
              <a:ext cx="10515600" cy="8961120"/>
            </a:xfrm>
            <a:custGeom>
              <a:avLst/>
              <a:gdLst/>
              <a:ahLst/>
              <a:cxnLst/>
              <a:rect r="r" b="b" t="t" l="l"/>
              <a:pathLst>
                <a:path h="8961120" w="10515600">
                  <a:moveTo>
                    <a:pt x="0" y="182880"/>
                  </a:moveTo>
                  <a:cubicBezTo>
                    <a:pt x="0" y="81915"/>
                    <a:pt x="81915" y="0"/>
                    <a:pt x="182880" y="0"/>
                  </a:cubicBezTo>
                  <a:lnTo>
                    <a:pt x="10332720" y="0"/>
                  </a:lnTo>
                  <a:cubicBezTo>
                    <a:pt x="10433685" y="0"/>
                    <a:pt x="10515600" y="81915"/>
                    <a:pt x="10515600" y="182880"/>
                  </a:cubicBezTo>
                  <a:lnTo>
                    <a:pt x="10515600" y="8778240"/>
                  </a:lnTo>
                  <a:cubicBezTo>
                    <a:pt x="10515600" y="8879205"/>
                    <a:pt x="10433685" y="8961120"/>
                    <a:pt x="10332720" y="8961120"/>
                  </a:cubicBezTo>
                  <a:lnTo>
                    <a:pt x="182880" y="8961120"/>
                  </a:lnTo>
                  <a:cubicBezTo>
                    <a:pt x="81915" y="8961120"/>
                    <a:pt x="0" y="8879205"/>
                    <a:pt x="0" y="8778240"/>
                  </a:cubicBezTo>
                  <a:close/>
                </a:path>
              </a:pathLst>
            </a:custGeom>
            <a:solidFill>
              <a:srgbClr val="F4F1FC"/>
            </a:solidFill>
          </p:spPr>
        </p:sp>
      </p:grpSp>
      <p:grpSp>
        <p:nvGrpSpPr>
          <p:cNvPr name="Group 10" id="10"/>
          <p:cNvGrpSpPr/>
          <p:nvPr/>
        </p:nvGrpSpPr>
        <p:grpSpPr>
          <a:xfrm rot="0">
            <a:off x="960120" y="2674620"/>
            <a:ext cx="7886700" cy="891540"/>
            <a:chOff x="0" y="0"/>
            <a:chExt cx="10515600" cy="1188720"/>
          </a:xfrm>
        </p:grpSpPr>
        <p:sp>
          <p:nvSpPr>
            <p:cNvPr name="Freeform 11" id="11"/>
            <p:cNvSpPr/>
            <p:nvPr/>
          </p:nvSpPr>
          <p:spPr>
            <a:xfrm flipH="false" flipV="false" rot="0">
              <a:off x="0" y="0"/>
              <a:ext cx="10515600" cy="1188720"/>
            </a:xfrm>
            <a:custGeom>
              <a:avLst/>
              <a:gdLst/>
              <a:ahLst/>
              <a:cxnLst/>
              <a:rect r="r" b="b" t="t" l="l"/>
              <a:pathLst>
                <a:path h="1188720" w="10515600">
                  <a:moveTo>
                    <a:pt x="0" y="182880"/>
                  </a:moveTo>
                  <a:cubicBezTo>
                    <a:pt x="0" y="81915"/>
                    <a:pt x="81915" y="0"/>
                    <a:pt x="182880" y="0"/>
                  </a:cubicBezTo>
                  <a:lnTo>
                    <a:pt x="10332720" y="0"/>
                  </a:lnTo>
                  <a:cubicBezTo>
                    <a:pt x="10433685" y="0"/>
                    <a:pt x="10515600" y="81915"/>
                    <a:pt x="10515600" y="182880"/>
                  </a:cubicBezTo>
                  <a:lnTo>
                    <a:pt x="10515600" y="1005840"/>
                  </a:lnTo>
                  <a:cubicBezTo>
                    <a:pt x="10515600" y="1106805"/>
                    <a:pt x="10433685" y="1188720"/>
                    <a:pt x="10332720" y="1188720"/>
                  </a:cubicBezTo>
                  <a:lnTo>
                    <a:pt x="182880" y="1188720"/>
                  </a:lnTo>
                  <a:cubicBezTo>
                    <a:pt x="81915" y="1188720"/>
                    <a:pt x="0" y="1106805"/>
                    <a:pt x="0" y="1005840"/>
                  </a:cubicBezTo>
                  <a:close/>
                </a:path>
              </a:pathLst>
            </a:custGeom>
            <a:solidFill>
              <a:srgbClr val="C0392B"/>
            </a:solidFill>
          </p:spPr>
        </p:sp>
      </p:grpSp>
      <p:grpSp>
        <p:nvGrpSpPr>
          <p:cNvPr name="Group 12" id="12"/>
          <p:cNvGrpSpPr/>
          <p:nvPr/>
        </p:nvGrpSpPr>
        <p:grpSpPr>
          <a:xfrm rot="0">
            <a:off x="960120" y="3154680"/>
            <a:ext cx="7886700" cy="411480"/>
            <a:chOff x="0" y="0"/>
            <a:chExt cx="10515600" cy="548640"/>
          </a:xfrm>
        </p:grpSpPr>
        <p:sp>
          <p:nvSpPr>
            <p:cNvPr name="Freeform 13" id="13"/>
            <p:cNvSpPr/>
            <p:nvPr/>
          </p:nvSpPr>
          <p:spPr>
            <a:xfrm flipH="false" flipV="false" rot="0">
              <a:off x="0" y="0"/>
              <a:ext cx="10515600" cy="548640"/>
            </a:xfrm>
            <a:custGeom>
              <a:avLst/>
              <a:gdLst/>
              <a:ahLst/>
              <a:cxnLst/>
              <a:rect r="r" b="b" t="t" l="l"/>
              <a:pathLst>
                <a:path h="548640" w="10515600">
                  <a:moveTo>
                    <a:pt x="0" y="0"/>
                  </a:moveTo>
                  <a:lnTo>
                    <a:pt x="10515600" y="0"/>
                  </a:lnTo>
                  <a:lnTo>
                    <a:pt x="10515600" y="548640"/>
                  </a:lnTo>
                  <a:lnTo>
                    <a:pt x="0" y="548640"/>
                  </a:lnTo>
                  <a:close/>
                </a:path>
              </a:pathLst>
            </a:custGeom>
            <a:solidFill>
              <a:srgbClr val="C0392B"/>
            </a:solidFill>
          </p:spPr>
        </p:sp>
      </p:grpSp>
      <p:grpSp>
        <p:nvGrpSpPr>
          <p:cNvPr name="Group 14" id="14"/>
          <p:cNvGrpSpPr/>
          <p:nvPr/>
        </p:nvGrpSpPr>
        <p:grpSpPr>
          <a:xfrm rot="0">
            <a:off x="1371600" y="2674620"/>
            <a:ext cx="7063740" cy="891540"/>
            <a:chOff x="0" y="0"/>
            <a:chExt cx="9418320" cy="1188720"/>
          </a:xfrm>
        </p:grpSpPr>
        <p:sp>
          <p:nvSpPr>
            <p:cNvPr name="Freeform 15" id="15"/>
            <p:cNvSpPr/>
            <p:nvPr/>
          </p:nvSpPr>
          <p:spPr>
            <a:xfrm flipH="false" flipV="false" rot="0">
              <a:off x="0" y="0"/>
              <a:ext cx="9418320" cy="1188720"/>
            </a:xfrm>
            <a:custGeom>
              <a:avLst/>
              <a:gdLst/>
              <a:ahLst/>
              <a:cxnLst/>
              <a:rect r="r" b="b" t="t" l="l"/>
              <a:pathLst>
                <a:path h="1188720" w="9418320">
                  <a:moveTo>
                    <a:pt x="0" y="0"/>
                  </a:moveTo>
                  <a:lnTo>
                    <a:pt x="9418320" y="0"/>
                  </a:lnTo>
                  <a:lnTo>
                    <a:pt x="9418320" y="1188720"/>
                  </a:lnTo>
                  <a:lnTo>
                    <a:pt x="0" y="1188720"/>
                  </a:lnTo>
                  <a:close/>
                </a:path>
              </a:pathLst>
            </a:custGeom>
            <a:blipFill>
              <a:blip r:embed="rId3">
                <a:alphaModFix amt="0"/>
              </a:blip>
              <a:stretch>
                <a:fillRect l="0" t="-104381" r="0" b="-104381"/>
              </a:stretch>
            </a:blipFill>
          </p:spPr>
        </p:sp>
        <p:sp>
          <p:nvSpPr>
            <p:cNvPr name="TextBox 16" id="16"/>
            <p:cNvSpPr txBox="true"/>
            <p:nvPr/>
          </p:nvSpPr>
          <p:spPr>
            <a:xfrm>
              <a:off x="0" y="-9525"/>
              <a:ext cx="9418320" cy="119824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async void — DANGEROUS</a:t>
              </a:r>
            </a:p>
          </p:txBody>
        </p:sp>
      </p:grpSp>
      <p:sp>
        <p:nvSpPr>
          <p:cNvPr name="TextBox 17" id="17"/>
          <p:cNvSpPr txBox="true"/>
          <p:nvPr/>
        </p:nvSpPr>
        <p:spPr>
          <a:xfrm rot="0">
            <a:off x="1531620" y="3937635"/>
            <a:ext cx="6812280" cy="4499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No Task is returned, so no one can await it</a:t>
            </a:r>
          </a:p>
        </p:txBody>
      </p:sp>
      <p:sp>
        <p:nvSpPr>
          <p:cNvPr name="TextBox 18" id="18"/>
          <p:cNvSpPr txBox="true"/>
          <p:nvPr/>
        </p:nvSpPr>
        <p:spPr>
          <a:xfrm rot="0">
            <a:off x="1531620" y="4925187"/>
            <a:ext cx="6812280" cy="4499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Exceptions cannot be caught by the caller at all</a:t>
            </a:r>
          </a:p>
        </p:txBody>
      </p:sp>
      <p:sp>
        <p:nvSpPr>
          <p:cNvPr name="TextBox 19" id="19"/>
          <p:cNvSpPr txBox="true"/>
          <p:nvPr/>
        </p:nvSpPr>
        <p:spPr>
          <a:xfrm rot="0">
            <a:off x="1531620" y="5912739"/>
            <a:ext cx="6812280"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They're thrown onto the sync context: crash, or vanish into an unwatched log</a:t>
            </a:r>
          </a:p>
        </p:txBody>
      </p:sp>
      <p:sp>
        <p:nvSpPr>
          <p:cNvPr name="TextBox 20" id="20"/>
          <p:cNvSpPr txBox="true"/>
          <p:nvPr/>
        </p:nvSpPr>
        <p:spPr>
          <a:xfrm rot="0">
            <a:off x="1531620" y="6900291"/>
            <a:ext cx="6812280" cy="4499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“Fire and forget” whether you meant it or not</a:t>
            </a:r>
          </a:p>
        </p:txBody>
      </p:sp>
      <p:grpSp>
        <p:nvGrpSpPr>
          <p:cNvPr name="Group 21" id="21"/>
          <p:cNvGrpSpPr/>
          <p:nvPr/>
        </p:nvGrpSpPr>
        <p:grpSpPr>
          <a:xfrm rot="0">
            <a:off x="9326880" y="2674620"/>
            <a:ext cx="7886700" cy="6720840"/>
            <a:chOff x="0" y="0"/>
            <a:chExt cx="10515600" cy="8961120"/>
          </a:xfrm>
        </p:grpSpPr>
        <p:sp>
          <p:nvSpPr>
            <p:cNvPr name="Freeform 22" id="22"/>
            <p:cNvSpPr/>
            <p:nvPr/>
          </p:nvSpPr>
          <p:spPr>
            <a:xfrm flipH="false" flipV="false" rot="0">
              <a:off x="0" y="0"/>
              <a:ext cx="10515600" cy="8961120"/>
            </a:xfrm>
            <a:custGeom>
              <a:avLst/>
              <a:gdLst/>
              <a:ahLst/>
              <a:cxnLst/>
              <a:rect r="r" b="b" t="t" l="l"/>
              <a:pathLst>
                <a:path h="8961120" w="10515600">
                  <a:moveTo>
                    <a:pt x="0" y="182880"/>
                  </a:moveTo>
                  <a:cubicBezTo>
                    <a:pt x="0" y="81915"/>
                    <a:pt x="81915" y="0"/>
                    <a:pt x="182880" y="0"/>
                  </a:cubicBezTo>
                  <a:lnTo>
                    <a:pt x="10332720" y="0"/>
                  </a:lnTo>
                  <a:cubicBezTo>
                    <a:pt x="10433685" y="0"/>
                    <a:pt x="10515600" y="81915"/>
                    <a:pt x="10515600" y="182880"/>
                  </a:cubicBezTo>
                  <a:lnTo>
                    <a:pt x="10515600" y="8778240"/>
                  </a:lnTo>
                  <a:cubicBezTo>
                    <a:pt x="10515600" y="8879205"/>
                    <a:pt x="10433685" y="8961120"/>
                    <a:pt x="10332720" y="8961120"/>
                  </a:cubicBezTo>
                  <a:lnTo>
                    <a:pt x="182880" y="8961120"/>
                  </a:lnTo>
                  <a:cubicBezTo>
                    <a:pt x="81915" y="8961120"/>
                    <a:pt x="0" y="8879205"/>
                    <a:pt x="0" y="8778240"/>
                  </a:cubicBezTo>
                  <a:close/>
                </a:path>
              </a:pathLst>
            </a:custGeom>
            <a:solidFill>
              <a:srgbClr val="F4F1FC"/>
            </a:solidFill>
          </p:spPr>
        </p:sp>
      </p:grpSp>
      <p:grpSp>
        <p:nvGrpSpPr>
          <p:cNvPr name="Group 23" id="23"/>
          <p:cNvGrpSpPr/>
          <p:nvPr/>
        </p:nvGrpSpPr>
        <p:grpSpPr>
          <a:xfrm rot="0">
            <a:off x="9326880" y="2674620"/>
            <a:ext cx="7886700" cy="891540"/>
            <a:chOff x="0" y="0"/>
            <a:chExt cx="10515600" cy="1188720"/>
          </a:xfrm>
        </p:grpSpPr>
        <p:sp>
          <p:nvSpPr>
            <p:cNvPr name="Freeform 24" id="24"/>
            <p:cNvSpPr/>
            <p:nvPr/>
          </p:nvSpPr>
          <p:spPr>
            <a:xfrm flipH="false" flipV="false" rot="0">
              <a:off x="0" y="0"/>
              <a:ext cx="10515600" cy="1188720"/>
            </a:xfrm>
            <a:custGeom>
              <a:avLst/>
              <a:gdLst/>
              <a:ahLst/>
              <a:cxnLst/>
              <a:rect r="r" b="b" t="t" l="l"/>
              <a:pathLst>
                <a:path h="1188720" w="10515600">
                  <a:moveTo>
                    <a:pt x="0" y="182880"/>
                  </a:moveTo>
                  <a:cubicBezTo>
                    <a:pt x="0" y="81915"/>
                    <a:pt x="81915" y="0"/>
                    <a:pt x="182880" y="0"/>
                  </a:cubicBezTo>
                  <a:lnTo>
                    <a:pt x="10332720" y="0"/>
                  </a:lnTo>
                  <a:cubicBezTo>
                    <a:pt x="10433685" y="0"/>
                    <a:pt x="10515600" y="81915"/>
                    <a:pt x="10515600" y="182880"/>
                  </a:cubicBezTo>
                  <a:lnTo>
                    <a:pt x="10515600" y="1005840"/>
                  </a:lnTo>
                  <a:cubicBezTo>
                    <a:pt x="10515600" y="1106805"/>
                    <a:pt x="10433685" y="1188720"/>
                    <a:pt x="10332720" y="1188720"/>
                  </a:cubicBezTo>
                  <a:lnTo>
                    <a:pt x="182880" y="1188720"/>
                  </a:lnTo>
                  <a:cubicBezTo>
                    <a:pt x="81915" y="1188720"/>
                    <a:pt x="0" y="1106805"/>
                    <a:pt x="0" y="1005840"/>
                  </a:cubicBezTo>
                  <a:close/>
                </a:path>
              </a:pathLst>
            </a:custGeom>
            <a:solidFill>
              <a:srgbClr val="512BD4"/>
            </a:solidFill>
          </p:spPr>
        </p:sp>
      </p:grpSp>
      <p:grpSp>
        <p:nvGrpSpPr>
          <p:cNvPr name="Group 25" id="25"/>
          <p:cNvGrpSpPr/>
          <p:nvPr/>
        </p:nvGrpSpPr>
        <p:grpSpPr>
          <a:xfrm rot="0">
            <a:off x="9326880" y="3154680"/>
            <a:ext cx="7886700" cy="411480"/>
            <a:chOff x="0" y="0"/>
            <a:chExt cx="10515600" cy="548640"/>
          </a:xfrm>
        </p:grpSpPr>
        <p:sp>
          <p:nvSpPr>
            <p:cNvPr name="Freeform 26" id="26"/>
            <p:cNvSpPr/>
            <p:nvPr/>
          </p:nvSpPr>
          <p:spPr>
            <a:xfrm flipH="false" flipV="false" rot="0">
              <a:off x="0" y="0"/>
              <a:ext cx="10515600" cy="548640"/>
            </a:xfrm>
            <a:custGeom>
              <a:avLst/>
              <a:gdLst/>
              <a:ahLst/>
              <a:cxnLst/>
              <a:rect r="r" b="b" t="t" l="l"/>
              <a:pathLst>
                <a:path h="548640" w="10515600">
                  <a:moveTo>
                    <a:pt x="0" y="0"/>
                  </a:moveTo>
                  <a:lnTo>
                    <a:pt x="10515600" y="0"/>
                  </a:lnTo>
                  <a:lnTo>
                    <a:pt x="10515600" y="548640"/>
                  </a:lnTo>
                  <a:lnTo>
                    <a:pt x="0" y="548640"/>
                  </a:lnTo>
                  <a:close/>
                </a:path>
              </a:pathLst>
            </a:custGeom>
            <a:solidFill>
              <a:srgbClr val="512BD4"/>
            </a:solidFill>
          </p:spPr>
        </p:sp>
      </p:grpSp>
      <p:grpSp>
        <p:nvGrpSpPr>
          <p:cNvPr name="Group 27" id="27"/>
          <p:cNvGrpSpPr/>
          <p:nvPr/>
        </p:nvGrpSpPr>
        <p:grpSpPr>
          <a:xfrm rot="0">
            <a:off x="9738360" y="2674620"/>
            <a:ext cx="7063740" cy="891540"/>
            <a:chOff x="0" y="0"/>
            <a:chExt cx="9418320" cy="1188720"/>
          </a:xfrm>
        </p:grpSpPr>
        <p:sp>
          <p:nvSpPr>
            <p:cNvPr name="Freeform 28" id="28"/>
            <p:cNvSpPr/>
            <p:nvPr/>
          </p:nvSpPr>
          <p:spPr>
            <a:xfrm flipH="false" flipV="false" rot="0">
              <a:off x="0" y="0"/>
              <a:ext cx="9418320" cy="1188720"/>
            </a:xfrm>
            <a:custGeom>
              <a:avLst/>
              <a:gdLst/>
              <a:ahLst/>
              <a:cxnLst/>
              <a:rect r="r" b="b" t="t" l="l"/>
              <a:pathLst>
                <a:path h="1188720" w="9418320">
                  <a:moveTo>
                    <a:pt x="0" y="0"/>
                  </a:moveTo>
                  <a:lnTo>
                    <a:pt x="9418320" y="0"/>
                  </a:lnTo>
                  <a:lnTo>
                    <a:pt x="9418320" y="1188720"/>
                  </a:lnTo>
                  <a:lnTo>
                    <a:pt x="0" y="1188720"/>
                  </a:lnTo>
                  <a:close/>
                </a:path>
              </a:pathLst>
            </a:custGeom>
            <a:blipFill>
              <a:blip r:embed="rId3">
                <a:alphaModFix amt="0"/>
              </a:blip>
              <a:stretch>
                <a:fillRect l="0" t="-104381" r="0" b="-104381"/>
              </a:stretch>
            </a:blipFill>
          </p:spPr>
        </p:sp>
        <p:sp>
          <p:nvSpPr>
            <p:cNvPr name="TextBox 29" id="29"/>
            <p:cNvSpPr txBox="true"/>
            <p:nvPr/>
          </p:nvSpPr>
          <p:spPr>
            <a:xfrm>
              <a:off x="0" y="-9525"/>
              <a:ext cx="9418320" cy="119824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async Task — SAFE</a:t>
              </a:r>
            </a:p>
          </p:txBody>
        </p:sp>
      </p:grpSp>
      <p:sp>
        <p:nvSpPr>
          <p:cNvPr name="TextBox 30" id="30"/>
          <p:cNvSpPr txBox="true"/>
          <p:nvPr/>
        </p:nvSpPr>
        <p:spPr>
          <a:xfrm rot="0">
            <a:off x="9898380" y="3937635"/>
            <a:ext cx="6812280" cy="4499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The standard shape for an async method</a:t>
            </a:r>
          </a:p>
        </p:txBody>
      </p:sp>
      <p:sp>
        <p:nvSpPr>
          <p:cNvPr name="TextBox 31" id="31"/>
          <p:cNvSpPr txBox="true"/>
          <p:nvPr/>
        </p:nvSpPr>
        <p:spPr>
          <a:xfrm rot="0">
            <a:off x="9898380" y="4925187"/>
            <a:ext cx="6812280" cy="4499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Exceptions are captured on the returned Task</a:t>
            </a:r>
          </a:p>
        </p:txBody>
      </p:sp>
      <p:sp>
        <p:nvSpPr>
          <p:cNvPr name="TextBox 32" id="32"/>
          <p:cNvSpPr txBox="true"/>
          <p:nvPr/>
        </p:nvSpPr>
        <p:spPr>
          <a:xfrm rot="0">
            <a:off x="9898380" y="5912739"/>
            <a:ext cx="6812280"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The caller can await it and catch exceptions normally</a:t>
            </a:r>
          </a:p>
        </p:txBody>
      </p:sp>
      <p:sp>
        <p:nvSpPr>
          <p:cNvPr name="TextBox 33" id="33"/>
          <p:cNvSpPr txBox="true"/>
          <p:nvPr/>
        </p:nvSpPr>
        <p:spPr>
          <a:xfrm rot="0">
            <a:off x="9898380" y="6900291"/>
            <a:ext cx="6812280"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  Only legitimate exception: UI event handlers, where the delegate is fixed as void</a:t>
            </a:r>
          </a:p>
        </p:txBody>
      </p:sp>
      <p:grpSp>
        <p:nvGrpSpPr>
          <p:cNvPr name="Group 34" id="34"/>
          <p:cNvGrpSpPr/>
          <p:nvPr/>
        </p:nvGrpSpPr>
        <p:grpSpPr>
          <a:xfrm rot="0">
            <a:off x="17053103" y="9820656"/>
            <a:ext cx="685800" cy="411480"/>
            <a:chOff x="0" y="0"/>
            <a:chExt cx="914400" cy="548640"/>
          </a:xfrm>
        </p:grpSpPr>
        <p:sp>
          <p:nvSpPr>
            <p:cNvPr name="Freeform 35" id="3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6" id="3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13</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1.7 EXCEPTIONS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Exception Handling in Async Code</a:t>
              </a:r>
            </a:p>
          </p:txBody>
        </p:sp>
      </p:grpSp>
      <p:grpSp>
        <p:nvGrpSpPr>
          <p:cNvPr name="Group 8" id="8"/>
          <p:cNvGrpSpPr/>
          <p:nvPr/>
        </p:nvGrpSpPr>
        <p:grpSpPr>
          <a:xfrm rot="0">
            <a:off x="960120" y="2606040"/>
            <a:ext cx="9052560" cy="6858000"/>
            <a:chOff x="0" y="0"/>
            <a:chExt cx="12070080" cy="9144000"/>
          </a:xfrm>
        </p:grpSpPr>
        <p:sp>
          <p:nvSpPr>
            <p:cNvPr name="Freeform 9" id="9"/>
            <p:cNvSpPr/>
            <p:nvPr/>
          </p:nvSpPr>
          <p:spPr>
            <a:xfrm flipH="false" flipV="false" rot="0">
              <a:off x="0" y="0"/>
              <a:ext cx="12070080" cy="9144000"/>
            </a:xfrm>
            <a:custGeom>
              <a:avLst/>
              <a:gdLst/>
              <a:ahLst/>
              <a:cxnLst/>
              <a:rect r="r" b="b" t="t" l="l"/>
              <a:pathLst>
                <a:path h="9144000" w="12070080">
                  <a:moveTo>
                    <a:pt x="0" y="146304"/>
                  </a:moveTo>
                  <a:cubicBezTo>
                    <a:pt x="0" y="65532"/>
                    <a:pt x="65532" y="0"/>
                    <a:pt x="146304" y="0"/>
                  </a:cubicBezTo>
                  <a:lnTo>
                    <a:pt x="11923776" y="0"/>
                  </a:lnTo>
                  <a:cubicBezTo>
                    <a:pt x="12004548" y="0"/>
                    <a:pt x="12070080" y="65532"/>
                    <a:pt x="12070080" y="146304"/>
                  </a:cubicBezTo>
                  <a:lnTo>
                    <a:pt x="12070080" y="8997696"/>
                  </a:lnTo>
                  <a:cubicBezTo>
                    <a:pt x="12070080" y="9078468"/>
                    <a:pt x="12004548" y="9144000"/>
                    <a:pt x="1192377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101584" cy="5991225"/>
          </a:xfrm>
          <a:prstGeom prst="rect">
            <a:avLst/>
          </a:prstGeom>
        </p:spPr>
        <p:txBody>
          <a:bodyPr anchor="t" rtlCol="false" tIns="0" lIns="0" bIns="0" rIns="0">
            <a:spAutoFit/>
          </a:bodyPr>
          <a:lstStyle/>
          <a:p>
            <a:pPr algn="l">
              <a:lnSpc>
                <a:spcPts val="2867"/>
              </a:lnSpc>
            </a:pPr>
            <a:r>
              <a:rPr lang="en-US" sz="2025">
                <a:solidFill>
                  <a:srgbClr val="D9D4F0"/>
                </a:solidFill>
                <a:latin typeface="Courier New"/>
                <a:ea typeface="Courier New"/>
                <a:cs typeface="Courier New"/>
                <a:sym typeface="Courier New"/>
              </a:rPr>
              <a:t>public async Task RunReportAsync()</a:t>
            </a:r>
          </a:p>
          <a:p>
            <a:pPr algn="l">
              <a:lnSpc>
                <a:spcPts val="2867"/>
              </a:lnSpc>
            </a:pPr>
            <a:r>
              <a:rPr lang="en-US" sz="2025">
                <a:solidFill>
                  <a:srgbClr val="D9D4F0"/>
                </a:solidFill>
                <a:latin typeface="Courier New"/>
                <a:ea typeface="Courier New"/>
                <a:cs typeface="Courier New"/>
                <a:sym typeface="Courier New"/>
              </a:rPr>
              <a:t>{</a:t>
            </a:r>
          </a:p>
          <a:p>
            <a:pPr algn="l">
              <a:lnSpc>
                <a:spcPts val="2867"/>
              </a:lnSpc>
            </a:pPr>
            <a:r>
              <a:rPr lang="en-US" sz="2025">
                <a:solidFill>
                  <a:srgbClr val="D9D4F0"/>
                </a:solidFill>
                <a:latin typeface="Courier New"/>
                <a:ea typeface="Courier New"/>
                <a:cs typeface="Courier New"/>
                <a:sym typeface="Courier New"/>
              </a:rPr>
              <a:t>    try</a:t>
            </a:r>
          </a:p>
          <a:p>
            <a:pPr algn="l">
              <a:lnSpc>
                <a:spcPts val="2867"/>
              </a:lnSpc>
            </a:pPr>
            <a:r>
              <a:rPr lang="en-US" sz="2025">
                <a:solidFill>
                  <a:srgbClr val="D9D4F0"/>
                </a:solidFill>
                <a:latin typeface="Courier New"/>
                <a:ea typeface="Courier New"/>
                <a:cs typeface="Courier New"/>
                <a:sym typeface="Courier New"/>
              </a:rPr>
              <a:t>    {</a:t>
            </a:r>
          </a:p>
          <a:p>
            <a:pPr algn="l">
              <a:lnSpc>
                <a:spcPts val="2867"/>
              </a:lnSpc>
            </a:pPr>
            <a:r>
              <a:rPr lang="en-US" sz="2025">
                <a:solidFill>
                  <a:srgbClr val="D9D4F0"/>
                </a:solidFill>
                <a:latin typeface="Courier New"/>
                <a:ea typeface="Courier New"/>
                <a:cs typeface="Courier New"/>
                <a:sym typeface="Courier New"/>
              </a:rPr>
              <a:t>        await _reportService.GenerateAsync();</a:t>
            </a:r>
          </a:p>
          <a:p>
            <a:pPr algn="l">
              <a:lnSpc>
                <a:spcPts val="2867"/>
              </a:lnSpc>
            </a:pPr>
            <a:r>
              <a:rPr lang="en-US" sz="2025">
                <a:solidFill>
                  <a:srgbClr val="D9D4F0"/>
                </a:solidFill>
                <a:latin typeface="Courier New"/>
                <a:ea typeface="Courier New"/>
                <a:cs typeface="Courier New"/>
                <a:sym typeface="Courier New"/>
              </a:rPr>
              <a:t>    }</a:t>
            </a:r>
          </a:p>
          <a:p>
            <a:pPr algn="l">
              <a:lnSpc>
                <a:spcPts val="2867"/>
              </a:lnSpc>
            </a:pPr>
            <a:r>
              <a:rPr lang="en-US" sz="2025">
                <a:solidFill>
                  <a:srgbClr val="D9D4F0"/>
                </a:solidFill>
                <a:latin typeface="Courier New"/>
                <a:ea typeface="Courier New"/>
                <a:cs typeface="Courier New"/>
                <a:sym typeface="Courier New"/>
              </a:rPr>
              <a:t>    catch (ReportGenerationException ex)</a:t>
            </a:r>
          </a:p>
          <a:p>
            <a:pPr algn="l">
              <a:lnSpc>
                <a:spcPts val="2867"/>
              </a:lnSpc>
            </a:pPr>
            <a:r>
              <a:rPr lang="en-US" sz="2025">
                <a:solidFill>
                  <a:srgbClr val="D9D4F0"/>
                </a:solidFill>
                <a:latin typeface="Courier New"/>
                <a:ea typeface="Courier New"/>
                <a:cs typeface="Courier New"/>
                <a:sym typeface="Courier New"/>
              </a:rPr>
              <a:t>    {</a:t>
            </a:r>
          </a:p>
          <a:p>
            <a:pPr algn="l">
              <a:lnSpc>
                <a:spcPts val="2867"/>
              </a:lnSpc>
            </a:pPr>
            <a:r>
              <a:rPr lang="en-US" sz="2025">
                <a:solidFill>
                  <a:srgbClr val="D9D4F0"/>
                </a:solidFill>
                <a:latin typeface="Courier New"/>
                <a:ea typeface="Courier New"/>
                <a:cs typeface="Courier New"/>
                <a:sym typeface="Courier New"/>
              </a:rPr>
              <a:t>        _logger.LogError(ex, "Report generation failed");</a:t>
            </a:r>
          </a:p>
          <a:p>
            <a:pPr algn="l">
              <a:lnSpc>
                <a:spcPts val="2867"/>
              </a:lnSpc>
            </a:pPr>
            <a:r>
              <a:rPr lang="en-US" sz="2025">
                <a:solidFill>
                  <a:srgbClr val="D9D4F0"/>
                </a:solidFill>
                <a:latin typeface="Courier New"/>
                <a:ea typeface="Courier New"/>
                <a:cs typeface="Courier New"/>
                <a:sym typeface="Courier New"/>
              </a:rPr>
              <a:t>    }</a:t>
            </a:r>
          </a:p>
          <a:p>
            <a:pPr algn="l">
              <a:lnSpc>
                <a:spcPts val="2867"/>
              </a:lnSpc>
            </a:pPr>
            <a:r>
              <a:rPr lang="en-US" sz="2025">
                <a:solidFill>
                  <a:srgbClr val="D9D4F0"/>
                </a:solidFill>
                <a:latin typeface="Courier New"/>
                <a:ea typeface="Courier New"/>
                <a:cs typeface="Courier New"/>
                <a:sym typeface="Courier New"/>
              </a:rPr>
              <a:t>}</a:t>
            </a:r>
          </a:p>
        </p:txBody>
      </p:sp>
      <p:grpSp>
        <p:nvGrpSpPr>
          <p:cNvPr name="Group 17" id="17"/>
          <p:cNvGrpSpPr/>
          <p:nvPr/>
        </p:nvGrpSpPr>
        <p:grpSpPr>
          <a:xfrm rot="0">
            <a:off x="1049274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0927080" y="2593467"/>
            <a:ext cx="644606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Exceptions thrown inside an async Task method are stored on the returned Task.</a:t>
            </a:r>
          </a:p>
        </p:txBody>
      </p:sp>
      <p:grpSp>
        <p:nvGrpSpPr>
          <p:cNvPr name="Group 20" id="20"/>
          <p:cNvGrpSpPr/>
          <p:nvPr/>
        </p:nvGrpSpPr>
        <p:grpSpPr>
          <a:xfrm rot="0">
            <a:off x="10492740" y="459486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0927080" y="4445127"/>
            <a:ext cx="644606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They're re-thrown when that task is awaited — so try/catch around an await works exactly like sync code.</a:t>
            </a:r>
          </a:p>
        </p:txBody>
      </p:sp>
      <p:grpSp>
        <p:nvGrpSpPr>
          <p:cNvPr name="Group 23" id="23"/>
          <p:cNvGrpSpPr/>
          <p:nvPr/>
        </p:nvGrpSpPr>
        <p:grpSpPr>
          <a:xfrm rot="0">
            <a:off x="10492740" y="644652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0927080" y="6296787"/>
            <a:ext cx="6446063" cy="17072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await Task.WhenAll(...): only the first exception is re-thrown; all failures are captured in an AggregateException via .Exception if you need every one.</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14</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1.8 CONCURRENCY</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Running Work Concurrently — WhenAll &amp; WhenAny</a:t>
              </a:r>
            </a:p>
          </p:txBody>
        </p:sp>
      </p:grpSp>
      <p:grpSp>
        <p:nvGrpSpPr>
          <p:cNvPr name="Group 8" id="8"/>
          <p:cNvGrpSpPr/>
          <p:nvPr/>
        </p:nvGrpSpPr>
        <p:grpSpPr>
          <a:xfrm rot="0">
            <a:off x="960120" y="2537460"/>
            <a:ext cx="16363188" cy="5349240"/>
            <a:chOff x="0" y="0"/>
            <a:chExt cx="21817584" cy="7132320"/>
          </a:xfrm>
        </p:grpSpPr>
        <p:sp>
          <p:nvSpPr>
            <p:cNvPr name="Freeform 9" id="9"/>
            <p:cNvSpPr/>
            <p:nvPr/>
          </p:nvSpPr>
          <p:spPr>
            <a:xfrm flipH="false" flipV="false" rot="0">
              <a:off x="0" y="0"/>
              <a:ext cx="21817585" cy="7132320"/>
            </a:xfrm>
            <a:custGeom>
              <a:avLst/>
              <a:gdLst/>
              <a:ahLst/>
              <a:cxnLst/>
              <a:rect r="r" b="b" t="t" l="l"/>
              <a:pathLst>
                <a:path h="7132320" w="21817585">
                  <a:moveTo>
                    <a:pt x="0" y="146304"/>
                  </a:moveTo>
                  <a:cubicBezTo>
                    <a:pt x="0" y="65532"/>
                    <a:pt x="65532" y="0"/>
                    <a:pt x="146304" y="0"/>
                  </a:cubicBezTo>
                  <a:lnTo>
                    <a:pt x="21671280" y="0"/>
                  </a:lnTo>
                  <a:cubicBezTo>
                    <a:pt x="21752052" y="0"/>
                    <a:pt x="21817585" y="65532"/>
                    <a:pt x="21817585" y="146304"/>
                  </a:cubicBezTo>
                  <a:lnTo>
                    <a:pt x="21817585" y="6986016"/>
                  </a:lnTo>
                  <a:cubicBezTo>
                    <a:pt x="21817585" y="7066788"/>
                    <a:pt x="21752052" y="7132320"/>
                    <a:pt x="21671280" y="7132320"/>
                  </a:cubicBezTo>
                  <a:lnTo>
                    <a:pt x="146304" y="7132320"/>
                  </a:lnTo>
                  <a:cubicBezTo>
                    <a:pt x="65532" y="7132320"/>
                    <a:pt x="0" y="7066788"/>
                    <a:pt x="0" y="698601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11627"/>
            <a:ext cx="15412212" cy="4482465"/>
          </a:xfrm>
          <a:prstGeom prst="rect">
            <a:avLst/>
          </a:prstGeom>
        </p:spPr>
        <p:txBody>
          <a:bodyPr anchor="t" rtlCol="false" tIns="0" lIns="0" bIns="0" rIns="0">
            <a:spAutoFit/>
          </a:bodyPr>
          <a:lstStyle/>
          <a:p>
            <a:pPr algn="l">
              <a:lnSpc>
                <a:spcPts val="2548"/>
              </a:lnSpc>
            </a:pPr>
            <a:r>
              <a:rPr lang="en-US" sz="1800">
                <a:solidFill>
                  <a:srgbClr val="8B84AE"/>
                </a:solidFill>
                <a:latin typeface="Courier New"/>
                <a:ea typeface="Courier New"/>
                <a:cs typeface="Courier New"/>
                <a:sym typeface="Courier New"/>
              </a:rPr>
              <a:t>// SLOW — sequential; total time = sum of both calls</a:t>
            </a:r>
          </a:p>
          <a:p>
            <a:pPr algn="l">
              <a:lnSpc>
                <a:spcPts val="2548"/>
              </a:lnSpc>
            </a:pPr>
            <a:r>
              <a:rPr lang="en-US" sz="1800">
                <a:solidFill>
                  <a:srgbClr val="D9D4F0"/>
                </a:solidFill>
                <a:latin typeface="Courier New"/>
                <a:ea typeface="Courier New"/>
                <a:cs typeface="Courier New"/>
                <a:sym typeface="Courier New"/>
              </a:rPr>
              <a:t>var homeTeam = await _repo.GetTeamAsync(homeId);   // waits fully before starting the next</a:t>
            </a:r>
          </a:p>
          <a:p>
            <a:pPr algn="l">
              <a:lnSpc>
                <a:spcPts val="2548"/>
              </a:lnSpc>
            </a:pPr>
            <a:r>
              <a:rPr lang="en-US" sz="1800">
                <a:solidFill>
                  <a:srgbClr val="D9D4F0"/>
                </a:solidFill>
                <a:latin typeface="Courier New"/>
                <a:ea typeface="Courier New"/>
                <a:cs typeface="Courier New"/>
                <a:sym typeface="Courier New"/>
              </a:rPr>
              <a:t>var awayTeam = await _repo.GetTeamAsync(awayId);</a:t>
            </a:r>
          </a:p>
          <a:p>
            <a:pPr algn="l">
              <a:lnSpc>
                <a:spcPts val="2548"/>
              </a:lnSpc>
            </a:pPr>
          </a:p>
          <a:p>
            <a:pPr algn="l">
              <a:lnSpc>
                <a:spcPts val="2548"/>
              </a:lnSpc>
            </a:pPr>
            <a:r>
              <a:rPr lang="en-US" sz="1800">
                <a:solidFill>
                  <a:srgbClr val="8B84AE"/>
                </a:solidFill>
                <a:latin typeface="Courier New"/>
                <a:ea typeface="Courier New"/>
                <a:cs typeface="Courier New"/>
                <a:sym typeface="Courier New"/>
              </a:rPr>
              <a:t>// FAST — both requests are in flight at the same time; total time = the slower of the two</a:t>
            </a:r>
          </a:p>
          <a:p>
            <a:pPr algn="l">
              <a:lnSpc>
                <a:spcPts val="2548"/>
              </a:lnSpc>
            </a:pPr>
            <a:r>
              <a:rPr lang="en-US" sz="1800">
                <a:solidFill>
                  <a:srgbClr val="D9D4F0"/>
                </a:solidFill>
                <a:latin typeface="Courier New"/>
                <a:ea typeface="Courier New"/>
                <a:cs typeface="Courier New"/>
                <a:sym typeface="Courier New"/>
              </a:rPr>
              <a:t>Task&lt;Team&gt; homeTask = _repo.GetTeamAsync(homeId);   // started, not yet awaited</a:t>
            </a:r>
          </a:p>
          <a:p>
            <a:pPr algn="l">
              <a:lnSpc>
                <a:spcPts val="2548"/>
              </a:lnSpc>
            </a:pPr>
            <a:r>
              <a:rPr lang="en-US" sz="1800">
                <a:solidFill>
                  <a:srgbClr val="D9D4F0"/>
                </a:solidFill>
                <a:latin typeface="Courier New"/>
                <a:ea typeface="Courier New"/>
                <a:cs typeface="Courier New"/>
                <a:sym typeface="Courier New"/>
              </a:rPr>
              <a:t>Task&lt;Team&gt; awayTask = _repo.GetTeamAsync(awayId);   // started, not yet awaited</a:t>
            </a:r>
          </a:p>
          <a:p>
            <a:pPr algn="l">
              <a:lnSpc>
                <a:spcPts val="2548"/>
              </a:lnSpc>
            </a:pPr>
          </a:p>
          <a:p>
            <a:pPr algn="l">
              <a:lnSpc>
                <a:spcPts val="2548"/>
              </a:lnSpc>
            </a:pPr>
            <a:r>
              <a:rPr lang="en-US" sz="1800">
                <a:solidFill>
                  <a:srgbClr val="D9D4F0"/>
                </a:solidFill>
                <a:latin typeface="Courier New"/>
                <a:ea typeface="Courier New"/>
                <a:cs typeface="Courier New"/>
                <a:sym typeface="Courier New"/>
              </a:rPr>
              <a:t>await Task.WhenAll(homeTask, awayTask);             // wait for BOTH to finish</a:t>
            </a:r>
          </a:p>
          <a:p>
            <a:pPr algn="l">
              <a:lnSpc>
                <a:spcPts val="2548"/>
              </a:lnSpc>
            </a:pPr>
            <a:r>
              <a:rPr lang="en-US" sz="1800">
                <a:solidFill>
                  <a:srgbClr val="D9D4F0"/>
                </a:solidFill>
                <a:latin typeface="Courier New"/>
                <a:ea typeface="Courier New"/>
                <a:cs typeface="Courier New"/>
                <a:sym typeface="Courier New"/>
              </a:rPr>
              <a:t>Team homeTeam = homeTask.Result;   // safe — the task is already complete</a:t>
            </a:r>
          </a:p>
          <a:p>
            <a:pPr algn="l">
              <a:lnSpc>
                <a:spcPts val="2548"/>
              </a:lnSpc>
            </a:pPr>
            <a:r>
              <a:rPr lang="en-US" sz="1800">
                <a:solidFill>
                  <a:srgbClr val="D9D4F0"/>
                </a:solidFill>
                <a:latin typeface="Courier New"/>
                <a:ea typeface="Courier New"/>
                <a:cs typeface="Courier New"/>
                <a:sym typeface="Courier New"/>
              </a:rPr>
              <a:t>Team awayTeam = awayTask.Result;</a:t>
            </a:r>
          </a:p>
        </p:txBody>
      </p:sp>
      <p:grpSp>
        <p:nvGrpSpPr>
          <p:cNvPr name="Group 17" id="17"/>
          <p:cNvGrpSpPr/>
          <p:nvPr/>
        </p:nvGrpSpPr>
        <p:grpSpPr>
          <a:xfrm rot="0">
            <a:off x="960120" y="8161020"/>
            <a:ext cx="16363188" cy="1165860"/>
            <a:chOff x="0" y="0"/>
            <a:chExt cx="21817584" cy="1554480"/>
          </a:xfrm>
        </p:grpSpPr>
        <p:sp>
          <p:nvSpPr>
            <p:cNvPr name="Freeform 18" id="18"/>
            <p:cNvSpPr/>
            <p:nvPr/>
          </p:nvSpPr>
          <p:spPr>
            <a:xfrm flipH="false" flipV="false" rot="0">
              <a:off x="0" y="0"/>
              <a:ext cx="21817585" cy="1554480"/>
            </a:xfrm>
            <a:custGeom>
              <a:avLst/>
              <a:gdLst/>
              <a:ahLst/>
              <a:cxnLst/>
              <a:rect r="r" b="b" t="t" l="l"/>
              <a:pathLst>
                <a:path h="1554480" w="21817585">
                  <a:moveTo>
                    <a:pt x="0" y="146304"/>
                  </a:moveTo>
                  <a:cubicBezTo>
                    <a:pt x="0" y="65532"/>
                    <a:pt x="65532" y="0"/>
                    <a:pt x="146304" y="0"/>
                  </a:cubicBezTo>
                  <a:lnTo>
                    <a:pt x="21671280" y="0"/>
                  </a:lnTo>
                  <a:cubicBezTo>
                    <a:pt x="21752052" y="0"/>
                    <a:pt x="21817585" y="65532"/>
                    <a:pt x="21817585" y="146304"/>
                  </a:cubicBezTo>
                  <a:lnTo>
                    <a:pt x="21817585" y="1408176"/>
                  </a:lnTo>
                  <a:cubicBezTo>
                    <a:pt x="21817585" y="1488948"/>
                    <a:pt x="21752052" y="1554480"/>
                    <a:pt x="21671280" y="1554480"/>
                  </a:cubicBezTo>
                  <a:lnTo>
                    <a:pt x="146304" y="1554480"/>
                  </a:lnTo>
                  <a:cubicBezTo>
                    <a:pt x="65532" y="1554480"/>
                    <a:pt x="0" y="1488948"/>
                    <a:pt x="0" y="1408176"/>
                  </a:cubicBezTo>
                  <a:close/>
                </a:path>
              </a:pathLst>
            </a:custGeom>
            <a:solidFill>
              <a:srgbClr val="F4F1FC"/>
            </a:solidFill>
          </p:spPr>
        </p:sp>
      </p:grpSp>
      <p:grpSp>
        <p:nvGrpSpPr>
          <p:cNvPr name="Group 19" id="19"/>
          <p:cNvGrpSpPr/>
          <p:nvPr/>
        </p:nvGrpSpPr>
        <p:grpSpPr>
          <a:xfrm rot="0">
            <a:off x="1371600" y="8161020"/>
            <a:ext cx="15636240" cy="1165860"/>
            <a:chOff x="0" y="0"/>
            <a:chExt cx="20848320" cy="1554480"/>
          </a:xfrm>
        </p:grpSpPr>
        <p:sp>
          <p:nvSpPr>
            <p:cNvPr name="Freeform 20" id="20"/>
            <p:cNvSpPr/>
            <p:nvPr/>
          </p:nvSpPr>
          <p:spPr>
            <a:xfrm flipH="false" flipV="false" rot="0">
              <a:off x="0" y="0"/>
              <a:ext cx="20848320" cy="1554480"/>
            </a:xfrm>
            <a:custGeom>
              <a:avLst/>
              <a:gdLst/>
              <a:ahLst/>
              <a:cxnLst/>
              <a:rect r="r" b="b" t="t" l="l"/>
              <a:pathLst>
                <a:path h="1554480" w="20848320">
                  <a:moveTo>
                    <a:pt x="0" y="0"/>
                  </a:moveTo>
                  <a:lnTo>
                    <a:pt x="20848320" y="0"/>
                  </a:lnTo>
                  <a:lnTo>
                    <a:pt x="20848320" y="1554480"/>
                  </a:lnTo>
                  <a:lnTo>
                    <a:pt x="0" y="1554480"/>
                  </a:lnTo>
                  <a:close/>
                </a:path>
              </a:pathLst>
            </a:custGeom>
            <a:blipFill>
              <a:blip r:embed="rId3">
                <a:alphaModFix amt="0"/>
              </a:blip>
              <a:stretch>
                <a:fillRect l="0" t="-211328" r="0" b="-211328"/>
              </a:stretch>
            </a:blipFill>
          </p:spPr>
        </p:sp>
        <p:sp>
          <p:nvSpPr>
            <p:cNvPr name="TextBox 21" id="21"/>
            <p:cNvSpPr txBox="true"/>
            <p:nvPr/>
          </p:nvSpPr>
          <p:spPr>
            <a:xfrm>
              <a:off x="0" y="-38100"/>
              <a:ext cx="20848320" cy="1592580"/>
            </a:xfrm>
            <a:prstGeom prst="rect">
              <a:avLst/>
            </a:prstGeom>
          </p:spPr>
          <p:txBody>
            <a:bodyPr anchor="ctr" rtlCol="false" tIns="0" lIns="0" bIns="0" rIns="0"/>
            <a:lstStyle/>
            <a:p>
              <a:pPr algn="l">
                <a:lnSpc>
                  <a:spcPts val="2250"/>
                </a:lnSpc>
              </a:pPr>
              <a:r>
                <a:rPr lang="en-US" sz="1875" i="true">
                  <a:solidFill>
                    <a:srgbClr val="201A3A"/>
                  </a:solidFill>
                  <a:latin typeface="Calibri (MS) Italics"/>
                  <a:ea typeface="Calibri (MS) Italics"/>
                  <a:cs typeface="Calibri (MS) Italics"/>
                  <a:sym typeface="Calibri (MS) Italics"/>
                </a:rPr>
                <a:t>Task.WhenAny returns as soon as any one task completes — useful for timeouts (“whichever finishes first: the real call, or a delay”) or racing redundant calls to multiple replicas.</a:t>
              </a:r>
            </a:p>
          </p:txBody>
        </p:sp>
      </p:grpSp>
      <p:grpSp>
        <p:nvGrpSpPr>
          <p:cNvPr name="Group 22" id="22"/>
          <p:cNvGrpSpPr/>
          <p:nvPr/>
        </p:nvGrpSpPr>
        <p:grpSpPr>
          <a:xfrm rot="0">
            <a:off x="17053103" y="9820656"/>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4" id="2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15</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1.9 CANCELLATION</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Cancellation — CancellationToken</a:t>
              </a:r>
            </a:p>
          </p:txBody>
        </p:sp>
      </p:grpSp>
      <p:grpSp>
        <p:nvGrpSpPr>
          <p:cNvPr name="Group 8" id="8"/>
          <p:cNvGrpSpPr/>
          <p:nvPr/>
        </p:nvGrpSpPr>
        <p:grpSpPr>
          <a:xfrm rot="0">
            <a:off x="960120" y="2606040"/>
            <a:ext cx="9464040" cy="6858000"/>
            <a:chOff x="0" y="0"/>
            <a:chExt cx="12618720" cy="9144000"/>
          </a:xfrm>
        </p:grpSpPr>
        <p:sp>
          <p:nvSpPr>
            <p:cNvPr name="Freeform 9" id="9"/>
            <p:cNvSpPr/>
            <p:nvPr/>
          </p:nvSpPr>
          <p:spPr>
            <a:xfrm flipH="false" flipV="false" rot="0">
              <a:off x="0" y="0"/>
              <a:ext cx="12618720" cy="9144000"/>
            </a:xfrm>
            <a:custGeom>
              <a:avLst/>
              <a:gdLst/>
              <a:ahLst/>
              <a:cxnLst/>
              <a:rect r="r" b="b" t="t" l="l"/>
              <a:pathLst>
                <a:path h="9144000" w="12618720">
                  <a:moveTo>
                    <a:pt x="0" y="146304"/>
                  </a:moveTo>
                  <a:cubicBezTo>
                    <a:pt x="0" y="65532"/>
                    <a:pt x="65532" y="0"/>
                    <a:pt x="146304" y="0"/>
                  </a:cubicBezTo>
                  <a:lnTo>
                    <a:pt x="12472416" y="0"/>
                  </a:lnTo>
                  <a:cubicBezTo>
                    <a:pt x="12553188" y="0"/>
                    <a:pt x="12618720" y="65532"/>
                    <a:pt x="12618720" y="146304"/>
                  </a:cubicBezTo>
                  <a:lnTo>
                    <a:pt x="12618720" y="8997696"/>
                  </a:lnTo>
                  <a:cubicBezTo>
                    <a:pt x="12618720" y="9078468"/>
                    <a:pt x="12553188" y="9144000"/>
                    <a:pt x="1247241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513064" cy="5991225"/>
          </a:xfrm>
          <a:prstGeom prst="rect">
            <a:avLst/>
          </a:prstGeom>
        </p:spPr>
        <p:txBody>
          <a:bodyPr anchor="t" rtlCol="false" tIns="0" lIns="0" bIns="0" rIns="0">
            <a:spAutoFit/>
          </a:bodyPr>
          <a:lstStyle/>
          <a:p>
            <a:pPr algn="l">
              <a:lnSpc>
                <a:spcPts val="2548"/>
              </a:lnSpc>
            </a:pPr>
            <a:r>
              <a:rPr lang="en-US" sz="1800">
                <a:solidFill>
                  <a:srgbClr val="D9D4F0"/>
                </a:solidFill>
                <a:latin typeface="Courier New"/>
                <a:ea typeface="Courier New"/>
                <a:cs typeface="Courier New"/>
                <a:sym typeface="Courier New"/>
              </a:rPr>
              <a:t>public async Task&lt;List&lt;Player&gt;&gt; SearchPlayersAsync(</a:t>
            </a:r>
          </a:p>
          <a:p>
            <a:pPr algn="l">
              <a:lnSpc>
                <a:spcPts val="2548"/>
              </a:lnSpc>
            </a:pPr>
            <a:r>
              <a:rPr lang="en-US" sz="1800">
                <a:solidFill>
                  <a:srgbClr val="D9D4F0"/>
                </a:solidFill>
                <a:latin typeface="Courier New"/>
                <a:ea typeface="Courier New"/>
                <a:cs typeface="Courier New"/>
                <a:sym typeface="Courier New"/>
              </a:rPr>
              <a:t>    string query, CancellationToken cancellationToken)</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return await _httpClient.GetFromJsonAsync&lt;List&lt;Player&gt;&gt;(</a:t>
            </a:r>
          </a:p>
          <a:p>
            <a:pPr algn="l">
              <a:lnSpc>
                <a:spcPts val="2548"/>
              </a:lnSpc>
            </a:pPr>
            <a:r>
              <a:rPr lang="en-US" sz="1800">
                <a:solidFill>
                  <a:srgbClr val="D9D4F0"/>
                </a:solidFill>
                <a:latin typeface="Courier New"/>
                <a:ea typeface="Courier New"/>
                <a:cs typeface="Courier New"/>
                <a:sym typeface="Courier New"/>
              </a:rPr>
              <a:t>        $"/players/search?q={query}", cancellationToken);</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p>
          <a:p>
            <a:pPr algn="l">
              <a:lnSpc>
                <a:spcPts val="2548"/>
              </a:lnSpc>
            </a:pPr>
            <a:r>
              <a:rPr lang="en-US" sz="1800">
                <a:solidFill>
                  <a:srgbClr val="8B84AE"/>
                </a:solidFill>
                <a:latin typeface="Courier New"/>
                <a:ea typeface="Courier New"/>
                <a:cs typeface="Courier New"/>
                <a:sym typeface="Courier New"/>
              </a:rPr>
              <a:t>// Caller side:</a:t>
            </a:r>
          </a:p>
          <a:p>
            <a:pPr algn="l">
              <a:lnSpc>
                <a:spcPts val="2548"/>
              </a:lnSpc>
            </a:pPr>
            <a:r>
              <a:rPr lang="en-US" sz="1800">
                <a:solidFill>
                  <a:srgbClr val="D9D4F0"/>
                </a:solidFill>
                <a:latin typeface="Courier New"/>
                <a:ea typeface="Courier New"/>
                <a:cs typeface="Courier New"/>
                <a:sym typeface="Courier New"/>
              </a:rPr>
              <a:t>var cts = new CancellationTokenSource(TimeSpan.FromSeconds(5));</a:t>
            </a:r>
          </a:p>
          <a:p>
            <a:pPr algn="l">
              <a:lnSpc>
                <a:spcPts val="2548"/>
              </a:lnSpc>
            </a:pPr>
            <a:r>
              <a:rPr lang="en-US" sz="1800">
                <a:solidFill>
                  <a:srgbClr val="D9D4F0"/>
                </a:solidFill>
                <a:latin typeface="Courier New"/>
                <a:ea typeface="Courier New"/>
                <a:cs typeface="Courier New"/>
                <a:sym typeface="Courier New"/>
              </a:rPr>
              <a:t>try</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var results = await SearchPlayersAsync("Salah", cts.Token);</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catch (OperationCanceledException)</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Console.WriteLine("Search timed out or was cancelled.");</a:t>
            </a:r>
          </a:p>
          <a:p>
            <a:pPr algn="l">
              <a:lnSpc>
                <a:spcPts val="2548"/>
              </a:lnSpc>
            </a:pPr>
            <a:r>
              <a:rPr lang="en-US" sz="1800">
                <a:solidFill>
                  <a:srgbClr val="D9D4F0"/>
                </a:solidFill>
                <a:latin typeface="Courier New"/>
                <a:ea typeface="Courier New"/>
                <a:cs typeface="Courier New"/>
                <a:sym typeface="Courier New"/>
              </a:rPr>
              <a:t>}</a:t>
            </a:r>
          </a:p>
        </p:txBody>
      </p:sp>
      <p:grpSp>
        <p:nvGrpSpPr>
          <p:cNvPr name="Group 17" id="17"/>
          <p:cNvGrpSpPr/>
          <p:nvPr/>
        </p:nvGrpSpPr>
        <p:grpSpPr>
          <a:xfrm rot="0">
            <a:off x="1090422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338560" y="2593467"/>
            <a:ext cx="603458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A cooperative signal — the method has to actually check it for cancellation to take effect.</a:t>
            </a:r>
          </a:p>
        </p:txBody>
      </p:sp>
      <p:grpSp>
        <p:nvGrpSpPr>
          <p:cNvPr name="Group 20" id="20"/>
          <p:cNvGrpSpPr/>
          <p:nvPr/>
        </p:nvGrpSpPr>
        <p:grpSpPr>
          <a:xfrm rot="0">
            <a:off x="10904220" y="459486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338560" y="4445127"/>
            <a:ext cx="603458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Well-behaved async APIs throw OperationCanceledException once they notice the token was cancelled.</a:t>
            </a:r>
          </a:p>
        </p:txBody>
      </p:sp>
      <p:grpSp>
        <p:nvGrpSpPr>
          <p:cNvPr name="Group 23" id="23"/>
          <p:cNvGrpSpPr/>
          <p:nvPr/>
        </p:nvGrpSpPr>
        <p:grpSpPr>
          <a:xfrm rot="0">
            <a:off x="10904220" y="644652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1338560" y="6296787"/>
            <a:ext cx="603458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Convention: async methods that might run a while accept an optional CancellationToken, typically last.</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16</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1.10 SYNCHRONIZATION CONTEXT</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ConfigureAwait(false) and the Classic Deadlock</a:t>
              </a:r>
            </a:p>
          </p:txBody>
        </p:sp>
      </p:grpSp>
      <p:grpSp>
        <p:nvGrpSpPr>
          <p:cNvPr name="Group 8" id="8"/>
          <p:cNvGrpSpPr/>
          <p:nvPr/>
        </p:nvGrpSpPr>
        <p:grpSpPr>
          <a:xfrm rot="0">
            <a:off x="960120" y="2537460"/>
            <a:ext cx="16363188" cy="5486400"/>
            <a:chOff x="0" y="0"/>
            <a:chExt cx="21817584" cy="7315200"/>
          </a:xfrm>
        </p:grpSpPr>
        <p:sp>
          <p:nvSpPr>
            <p:cNvPr name="Freeform 9" id="9"/>
            <p:cNvSpPr/>
            <p:nvPr/>
          </p:nvSpPr>
          <p:spPr>
            <a:xfrm flipH="false" flipV="false" rot="0">
              <a:off x="0" y="0"/>
              <a:ext cx="21817585" cy="7315200"/>
            </a:xfrm>
            <a:custGeom>
              <a:avLst/>
              <a:gdLst/>
              <a:ahLst/>
              <a:cxnLst/>
              <a:rect r="r" b="b" t="t" l="l"/>
              <a:pathLst>
                <a:path h="7315200" w="21817585">
                  <a:moveTo>
                    <a:pt x="0" y="146304"/>
                  </a:moveTo>
                  <a:cubicBezTo>
                    <a:pt x="0" y="65532"/>
                    <a:pt x="65532" y="0"/>
                    <a:pt x="146304" y="0"/>
                  </a:cubicBezTo>
                  <a:lnTo>
                    <a:pt x="21671280" y="0"/>
                  </a:lnTo>
                  <a:cubicBezTo>
                    <a:pt x="21752052" y="0"/>
                    <a:pt x="21817585" y="65532"/>
                    <a:pt x="21817585" y="146304"/>
                  </a:cubicBezTo>
                  <a:lnTo>
                    <a:pt x="21817585" y="7168896"/>
                  </a:lnTo>
                  <a:cubicBezTo>
                    <a:pt x="21817585" y="7249668"/>
                    <a:pt x="21752052" y="7315200"/>
                    <a:pt x="21671280" y="7315200"/>
                  </a:cubicBezTo>
                  <a:lnTo>
                    <a:pt x="146304" y="7315200"/>
                  </a:lnTo>
                  <a:cubicBezTo>
                    <a:pt x="65532" y="7315200"/>
                    <a:pt x="0" y="7249668"/>
                    <a:pt x="0" y="716889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21152"/>
            <a:ext cx="15412212" cy="4610100"/>
          </a:xfrm>
          <a:prstGeom prst="rect">
            <a:avLst/>
          </a:prstGeom>
        </p:spPr>
        <p:txBody>
          <a:bodyPr anchor="t" rtlCol="false" tIns="0" lIns="0" bIns="0" rIns="0">
            <a:spAutoFit/>
          </a:bodyPr>
          <a:lstStyle/>
          <a:p>
            <a:pPr algn="l">
              <a:lnSpc>
                <a:spcPts val="2442"/>
              </a:lnSpc>
            </a:pPr>
            <a:r>
              <a:rPr lang="en-US" sz="1725">
                <a:solidFill>
                  <a:srgbClr val="8B84AE"/>
                </a:solidFill>
                <a:latin typeface="Courier New"/>
                <a:ea typeface="Courier New"/>
                <a:cs typeface="Courier New"/>
                <a:sym typeface="Courier New"/>
              </a:rPr>
              <a:t>// DANGEROUS — classic deadlock in a context-sensitive environment (e.g. old ASP.NET, WPF)</a:t>
            </a:r>
          </a:p>
          <a:p>
            <a:pPr algn="l">
              <a:lnSpc>
                <a:spcPts val="2442"/>
              </a:lnSpc>
            </a:pPr>
            <a:r>
              <a:rPr lang="en-US" sz="1725">
                <a:solidFill>
                  <a:srgbClr val="D9D4F0"/>
                </a:solidFill>
                <a:latin typeface="Courier New"/>
                <a:ea typeface="Courier New"/>
                <a:cs typeface="Courier New"/>
                <a:sym typeface="Courier New"/>
              </a:rPr>
              <a:t>public void ButtonClick(object sender, EventArgs e)</a:t>
            </a:r>
          </a:p>
          <a:p>
            <a:pPr algn="l">
              <a:lnSpc>
                <a:spcPts val="2442"/>
              </a:lnSpc>
            </a:pPr>
            <a:r>
              <a:rPr lang="en-US" sz="1725">
                <a:solidFill>
                  <a:srgbClr val="D9D4F0"/>
                </a:solidFill>
                <a:latin typeface="Courier New"/>
                <a:ea typeface="Courier New"/>
                <a:cs typeface="Courier New"/>
                <a:sym typeface="Courier New"/>
              </a:rPr>
              <a:t>{</a:t>
            </a:r>
          </a:p>
          <a:p>
            <a:pPr algn="l">
              <a:lnSpc>
                <a:spcPts val="2442"/>
              </a:lnSpc>
            </a:pPr>
            <a:r>
              <a:rPr lang="en-US" sz="1725">
                <a:solidFill>
                  <a:srgbClr val="D9D4F0"/>
                </a:solidFill>
                <a:latin typeface="Courier New"/>
                <a:ea typeface="Courier New"/>
                <a:cs typeface="Courier New"/>
                <a:sym typeface="Courier New"/>
              </a:rPr>
              <a:t>    var result = LoadDataAsync().Result;   // blocks the UI thread, waiting synchronously</a:t>
            </a:r>
          </a:p>
          <a:p>
            <a:pPr algn="l">
              <a:lnSpc>
                <a:spcPts val="2442"/>
              </a:lnSpc>
            </a:pPr>
            <a:r>
              <a:rPr lang="en-US" sz="1725">
                <a:solidFill>
                  <a:srgbClr val="D9D4F0"/>
                </a:solidFill>
                <a:latin typeface="Courier New"/>
                <a:ea typeface="Courier New"/>
                <a:cs typeface="Courier New"/>
                <a:sym typeface="Courier New"/>
              </a:rPr>
              <a:t>}</a:t>
            </a:r>
          </a:p>
          <a:p>
            <a:pPr algn="l">
              <a:lnSpc>
                <a:spcPts val="2442"/>
              </a:lnSpc>
            </a:pPr>
            <a:r>
              <a:rPr lang="en-US" sz="1725">
                <a:solidFill>
                  <a:srgbClr val="D9D4F0"/>
                </a:solidFill>
                <a:latin typeface="Courier New"/>
                <a:ea typeface="Courier New"/>
                <a:cs typeface="Courier New"/>
                <a:sym typeface="Courier New"/>
              </a:rPr>
              <a:t>public async Task&lt;string&gt; LoadDataAsync()</a:t>
            </a:r>
          </a:p>
          <a:p>
            <a:pPr algn="l">
              <a:lnSpc>
                <a:spcPts val="2442"/>
              </a:lnSpc>
            </a:pPr>
            <a:r>
              <a:rPr lang="en-US" sz="1725">
                <a:solidFill>
                  <a:srgbClr val="D9D4F0"/>
                </a:solidFill>
                <a:latin typeface="Courier New"/>
                <a:ea typeface="Courier New"/>
                <a:cs typeface="Courier New"/>
                <a:sym typeface="Courier New"/>
              </a:rPr>
              <a:t>{</a:t>
            </a:r>
          </a:p>
          <a:p>
            <a:pPr algn="l">
              <a:lnSpc>
                <a:spcPts val="2442"/>
              </a:lnSpc>
            </a:pPr>
            <a:r>
              <a:rPr lang="en-US" sz="1725">
                <a:solidFill>
                  <a:srgbClr val="D9D4F0"/>
                </a:solidFill>
                <a:latin typeface="Courier New"/>
                <a:ea typeface="Courier New"/>
                <a:cs typeface="Courier New"/>
                <a:sym typeface="Courier New"/>
              </a:rPr>
              <a:t>    await httpClient.GetStringAsync(url);  // wants to resume back on the UI thread...</a:t>
            </a:r>
          </a:p>
          <a:p>
            <a:pPr algn="l">
              <a:lnSpc>
                <a:spcPts val="2442"/>
              </a:lnSpc>
            </a:pPr>
            <a:r>
              <a:rPr lang="en-US" sz="1725">
                <a:solidFill>
                  <a:srgbClr val="8B84AE"/>
                </a:solidFill>
                <a:latin typeface="Courier New"/>
                <a:ea typeface="Courier New"/>
                <a:cs typeface="Courier New"/>
                <a:sym typeface="Courier New"/>
              </a:rPr>
              <a:t>    // ...but the UI thread is blocked above, waiting on .Result. Deadlock.</a:t>
            </a:r>
          </a:p>
          <a:p>
            <a:pPr algn="l">
              <a:lnSpc>
                <a:spcPts val="2442"/>
              </a:lnSpc>
            </a:pPr>
            <a:r>
              <a:rPr lang="en-US" sz="1725">
                <a:solidFill>
                  <a:srgbClr val="D9D4F0"/>
                </a:solidFill>
                <a:latin typeface="Courier New"/>
                <a:ea typeface="Courier New"/>
                <a:cs typeface="Courier New"/>
                <a:sym typeface="Courier New"/>
              </a:rPr>
              <a:t>}</a:t>
            </a:r>
          </a:p>
          <a:p>
            <a:pPr algn="l">
              <a:lnSpc>
                <a:spcPts val="2442"/>
              </a:lnSpc>
            </a:pPr>
          </a:p>
          <a:p>
            <a:pPr algn="l">
              <a:lnSpc>
                <a:spcPts val="2442"/>
              </a:lnSpc>
            </a:pPr>
            <a:r>
              <a:rPr lang="en-US" sz="1725">
                <a:solidFill>
                  <a:srgbClr val="8B84AE"/>
                </a:solidFill>
                <a:latin typeface="Courier New"/>
                <a:ea typeface="Courier New"/>
                <a:cs typeface="Courier New"/>
                <a:sym typeface="Courier New"/>
              </a:rPr>
              <a:t>// FIX 1 — never block on async code; await it properly, all the way up</a:t>
            </a:r>
          </a:p>
          <a:p>
            <a:pPr algn="l">
              <a:lnSpc>
                <a:spcPts val="2442"/>
              </a:lnSpc>
            </a:pPr>
            <a:r>
              <a:rPr lang="en-US" sz="1725">
                <a:solidFill>
                  <a:srgbClr val="D9D4F0"/>
                </a:solidFill>
                <a:latin typeface="Courier New"/>
                <a:ea typeface="Courier New"/>
                <a:cs typeface="Courier New"/>
                <a:sym typeface="Courier New"/>
              </a:rPr>
              <a:t>public async void ButtonClick(object sender, EventArgs e) =&gt; await LoadDataAsync();</a:t>
            </a:r>
          </a:p>
          <a:p>
            <a:pPr algn="l">
              <a:lnSpc>
                <a:spcPts val="2442"/>
              </a:lnSpc>
            </a:pPr>
          </a:p>
          <a:p>
            <a:pPr algn="l">
              <a:lnSpc>
                <a:spcPts val="2442"/>
              </a:lnSpc>
            </a:pPr>
            <a:r>
              <a:rPr lang="en-US" sz="1725">
                <a:solidFill>
                  <a:srgbClr val="8B84AE"/>
                </a:solidFill>
                <a:latin typeface="Courier New"/>
                <a:ea typeface="Courier New"/>
                <a:cs typeface="Courier New"/>
                <a:sym typeface="Courier New"/>
              </a:rPr>
              <a:t>// FIX 2 — resume on any thread-pool thread instead of the original context</a:t>
            </a:r>
          </a:p>
          <a:p>
            <a:pPr algn="l">
              <a:lnSpc>
                <a:spcPts val="2442"/>
              </a:lnSpc>
            </a:pPr>
            <a:r>
              <a:rPr lang="en-US" sz="1725">
                <a:solidFill>
                  <a:srgbClr val="D9D4F0"/>
                </a:solidFill>
                <a:latin typeface="Courier New"/>
                <a:ea typeface="Courier New"/>
                <a:cs typeface="Courier New"/>
                <a:sym typeface="Courier New"/>
              </a:rPr>
              <a:t>public async Task&lt;string&gt; LoadDataAsync()</a:t>
            </a:r>
          </a:p>
          <a:p>
            <a:pPr algn="l">
              <a:lnSpc>
                <a:spcPts val="2442"/>
              </a:lnSpc>
            </a:pPr>
            <a:r>
              <a:rPr lang="en-US" sz="1725">
                <a:solidFill>
                  <a:srgbClr val="D9D4F0"/>
                </a:solidFill>
                <a:latin typeface="Courier New"/>
                <a:ea typeface="Courier New"/>
                <a:cs typeface="Courier New"/>
                <a:sym typeface="Courier New"/>
              </a:rPr>
              <a:t>    =&gt; await httpClient.GetStringAsync(url).ConfigureAwait(false);</a:t>
            </a:r>
          </a:p>
        </p:txBody>
      </p:sp>
      <p:grpSp>
        <p:nvGrpSpPr>
          <p:cNvPr name="Group 17" id="17"/>
          <p:cNvGrpSpPr/>
          <p:nvPr/>
        </p:nvGrpSpPr>
        <p:grpSpPr>
          <a:xfrm rot="0">
            <a:off x="960120" y="8298180"/>
            <a:ext cx="16363188" cy="1165860"/>
            <a:chOff x="0" y="0"/>
            <a:chExt cx="21817584" cy="1554480"/>
          </a:xfrm>
        </p:grpSpPr>
        <p:sp>
          <p:nvSpPr>
            <p:cNvPr name="Freeform 18" id="18"/>
            <p:cNvSpPr/>
            <p:nvPr/>
          </p:nvSpPr>
          <p:spPr>
            <a:xfrm flipH="false" flipV="false" rot="0">
              <a:off x="0" y="0"/>
              <a:ext cx="21817585" cy="1554480"/>
            </a:xfrm>
            <a:custGeom>
              <a:avLst/>
              <a:gdLst/>
              <a:ahLst/>
              <a:cxnLst/>
              <a:rect r="r" b="b" t="t" l="l"/>
              <a:pathLst>
                <a:path h="1554480" w="21817585">
                  <a:moveTo>
                    <a:pt x="0" y="146304"/>
                  </a:moveTo>
                  <a:cubicBezTo>
                    <a:pt x="0" y="65532"/>
                    <a:pt x="65532" y="0"/>
                    <a:pt x="146304" y="0"/>
                  </a:cubicBezTo>
                  <a:lnTo>
                    <a:pt x="21671280" y="0"/>
                  </a:lnTo>
                  <a:cubicBezTo>
                    <a:pt x="21752052" y="0"/>
                    <a:pt x="21817585" y="65532"/>
                    <a:pt x="21817585" y="146304"/>
                  </a:cubicBezTo>
                  <a:lnTo>
                    <a:pt x="21817585" y="1408176"/>
                  </a:lnTo>
                  <a:cubicBezTo>
                    <a:pt x="21817585" y="1488948"/>
                    <a:pt x="21752052" y="1554480"/>
                    <a:pt x="21671280" y="1554480"/>
                  </a:cubicBezTo>
                  <a:lnTo>
                    <a:pt x="146304" y="1554480"/>
                  </a:lnTo>
                  <a:cubicBezTo>
                    <a:pt x="65532" y="1554480"/>
                    <a:pt x="0" y="1488948"/>
                    <a:pt x="0" y="1408176"/>
                  </a:cubicBezTo>
                  <a:close/>
                </a:path>
              </a:pathLst>
            </a:custGeom>
            <a:solidFill>
              <a:srgbClr val="F4F1FC"/>
            </a:solidFill>
          </p:spPr>
        </p:sp>
      </p:grpSp>
      <p:grpSp>
        <p:nvGrpSpPr>
          <p:cNvPr name="Group 19" id="19"/>
          <p:cNvGrpSpPr/>
          <p:nvPr/>
        </p:nvGrpSpPr>
        <p:grpSpPr>
          <a:xfrm rot="0">
            <a:off x="1371600" y="8298180"/>
            <a:ext cx="15636240" cy="1165860"/>
            <a:chOff x="0" y="0"/>
            <a:chExt cx="20848320" cy="1554480"/>
          </a:xfrm>
        </p:grpSpPr>
        <p:sp>
          <p:nvSpPr>
            <p:cNvPr name="Freeform 20" id="20"/>
            <p:cNvSpPr/>
            <p:nvPr/>
          </p:nvSpPr>
          <p:spPr>
            <a:xfrm flipH="false" flipV="false" rot="0">
              <a:off x="0" y="0"/>
              <a:ext cx="20848320" cy="1554480"/>
            </a:xfrm>
            <a:custGeom>
              <a:avLst/>
              <a:gdLst/>
              <a:ahLst/>
              <a:cxnLst/>
              <a:rect r="r" b="b" t="t" l="l"/>
              <a:pathLst>
                <a:path h="1554480" w="20848320">
                  <a:moveTo>
                    <a:pt x="0" y="0"/>
                  </a:moveTo>
                  <a:lnTo>
                    <a:pt x="20848320" y="0"/>
                  </a:lnTo>
                  <a:lnTo>
                    <a:pt x="20848320" y="1554480"/>
                  </a:lnTo>
                  <a:lnTo>
                    <a:pt x="0" y="1554480"/>
                  </a:lnTo>
                  <a:close/>
                </a:path>
              </a:pathLst>
            </a:custGeom>
            <a:blipFill>
              <a:blip r:embed="rId3">
                <a:alphaModFix amt="0"/>
              </a:blip>
              <a:stretch>
                <a:fillRect l="0" t="-211328" r="0" b="-211328"/>
              </a:stretch>
            </a:blipFill>
          </p:spPr>
        </p:sp>
        <p:sp>
          <p:nvSpPr>
            <p:cNvPr name="TextBox 21" id="21"/>
            <p:cNvSpPr txBox="true"/>
            <p:nvPr/>
          </p:nvSpPr>
          <p:spPr>
            <a:xfrm>
              <a:off x="0" y="-38100"/>
              <a:ext cx="20848320" cy="1592580"/>
            </a:xfrm>
            <a:prstGeom prst="rect">
              <a:avLst/>
            </a:prstGeom>
          </p:spPr>
          <p:txBody>
            <a:bodyPr anchor="ctr" rtlCol="false" tIns="0" lIns="0" bIns="0" rIns="0"/>
            <a:lstStyle/>
            <a:p>
              <a:pPr algn="l">
                <a:lnSpc>
                  <a:spcPts val="2250"/>
                </a:lnSpc>
              </a:pPr>
              <a:r>
                <a:rPr lang="en-US" sz="1875" i="true">
                  <a:solidFill>
                    <a:srgbClr val="201A3A"/>
                  </a:solidFill>
                  <a:latin typeface="Calibri (MS) Italics"/>
                  <a:ea typeface="Calibri (MS) Italics"/>
                  <a:cs typeface="Calibri (MS) Italics"/>
                  <a:sym typeface="Calibri (MS) Italics"/>
                </a:rPr>
                <a:t>ASP.NET Core has no synchronization context by default, so this deadlock is rarer today — but it's still standard interview territory, and ConfigureAwait(false) is still standard practice inside library/NuGet code.</a:t>
              </a:r>
            </a:p>
          </p:txBody>
        </p:sp>
      </p:grpSp>
      <p:grpSp>
        <p:nvGrpSpPr>
          <p:cNvPr name="Group 22" id="22"/>
          <p:cNvGrpSpPr/>
          <p:nvPr/>
        </p:nvGrpSpPr>
        <p:grpSpPr>
          <a:xfrm rot="0">
            <a:off x="17053103" y="9820656"/>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4" id="2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17</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1.11 THE MOST COMMON MIX-UP</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CPU-Bound vs. I/O-Bound — Task.Run vs. await</a:t>
              </a:r>
            </a:p>
          </p:txBody>
        </p:sp>
      </p:grpSp>
      <p:graphicFrame>
        <p:nvGraphicFramePr>
          <p:cNvPr name="Table 8" id="8"/>
          <p:cNvGraphicFramePr>
            <a:graphicFrameLocks noGrp="true"/>
          </p:cNvGraphicFramePr>
          <p:nvPr/>
        </p:nvGraphicFramePr>
        <p:xfrm>
          <a:off x="960120" y="2606040"/>
          <a:ext cx="16325850" cy="7429500"/>
        </p:xfrm>
        <a:graphic>
          <a:graphicData uri="http://schemas.openxmlformats.org/drawingml/2006/table">
            <a:tbl>
              <a:tblPr/>
              <a:tblGrid>
                <a:gridCol w="3558023"/>
                <a:gridCol w="6705504"/>
                <a:gridCol w="6062323"/>
              </a:tblGrid>
              <a:tr h="1369493">
                <a:tc>
                  <a:txBody>
                    <a:bodyPr anchor="t" rtlCol="false"/>
                    <a:lstStyle/>
                    <a:p>
                      <a:pPr algn="l">
                        <a:lnSpc>
                          <a:spcPts val="1679"/>
                        </a:lnSpc>
                        <a:defRPr/>
                      </a:pP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I/O-bound (network, disk, DB)</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CPU-bound (heavy computation)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r>
              <a:tr h="2191189">
                <a:tc>
                  <a:txBody>
                    <a:bodyPr anchor="t" rtlCol="false"/>
                    <a:lstStyle/>
                    <a:p>
                      <a:pPr algn="l">
                        <a:lnSpc>
                          <a:spcPts val="2879"/>
                        </a:lnSpc>
                        <a:defRPr/>
                      </a:pPr>
                      <a:r>
                        <a:rPr lang="en-US" sz="2400">
                          <a:solidFill>
                            <a:srgbClr val="201A3A"/>
                          </a:solidFill>
                          <a:latin typeface="Calibri (MS)"/>
                          <a:ea typeface="Calibri (MS)"/>
                          <a:cs typeface="Calibri (MS)"/>
                          <a:sym typeface="Calibri (MS)"/>
                        </a:rPr>
                        <a:t>What's happening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879"/>
                        </a:lnSpc>
                        <a:defRPr/>
                      </a:pPr>
                      <a:r>
                        <a:rPr lang="en-US" sz="2400">
                          <a:solidFill>
                            <a:srgbClr val="201A3A"/>
                          </a:solidFill>
                          <a:latin typeface="Calibri (MS)"/>
                          <a:ea typeface="Calibri (MS)"/>
                          <a:cs typeface="Calibri (MS)"/>
                          <a:sym typeface="Calibri (MS)"/>
                        </a:rPr>
                        <a:t>Waiting on something external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879"/>
                        </a:lnSpc>
                        <a:defRPr/>
                      </a:pPr>
                      <a:r>
                        <a:rPr lang="en-US" sz="2400">
                          <a:solidFill>
                            <a:srgbClr val="201A3A"/>
                          </a:solidFill>
                          <a:latin typeface="Calibri (MS)"/>
                          <a:ea typeface="Calibri (MS)"/>
                          <a:cs typeface="Calibri (MS)"/>
                          <a:sym typeface="Calibri (MS)"/>
                        </a:rPr>
                        <a:t>The CPU itself is doing the work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2191189">
                <a:tc>
                  <a:txBody>
                    <a:bodyPr anchor="t" rtlCol="false"/>
                    <a:lstStyle/>
                    <a:p>
                      <a:pPr algn="l">
                        <a:lnSpc>
                          <a:spcPts val="2879"/>
                        </a:lnSpc>
                        <a:defRPr/>
                      </a:pPr>
                      <a:r>
                        <a:rPr lang="en-US" sz="2400">
                          <a:solidFill>
                            <a:srgbClr val="201A3A"/>
                          </a:solidFill>
                          <a:latin typeface="Calibri (MS)"/>
                          <a:ea typeface="Calibri (MS)"/>
                          <a:cs typeface="Calibri (MS)"/>
                          <a:sym typeface="Calibri (MS)"/>
                        </a:rPr>
                        <a:t>Correct tool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879"/>
                        </a:lnSpc>
                        <a:defRPr/>
                      </a:pPr>
                      <a:r>
                        <a:rPr lang="en-US" sz="2400">
                          <a:solidFill>
                            <a:srgbClr val="201A3A"/>
                          </a:solidFill>
                          <a:latin typeface="Calibri (MS)"/>
                          <a:ea typeface="Calibri (MS)"/>
                          <a:cs typeface="Calibri (MS)"/>
                          <a:sym typeface="Calibri (MS)"/>
                        </a:rPr>
                        <a:t>await someIoOperationAsync() — no thread consumed while waiting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879"/>
                        </a:lnSpc>
                        <a:defRPr/>
                      </a:pPr>
                      <a:r>
                        <a:rPr lang="en-US" sz="2400">
                          <a:solidFill>
                            <a:srgbClr val="201A3A"/>
                          </a:solidFill>
                          <a:latin typeface="Calibri (MS)"/>
                          <a:ea typeface="Calibri (MS)"/>
                          <a:cs typeface="Calibri (MS)"/>
                          <a:sym typeface="Calibri (MS)"/>
                        </a:rPr>
                        <a:t>Task.Run(() =&gt; DoHeavyWork()) — deliberately hands work to a pool thread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677629">
                <a:tc>
                  <a:txBody>
                    <a:bodyPr anchor="t" rtlCol="false"/>
                    <a:lstStyle/>
                    <a:p>
                      <a:pPr algn="l">
                        <a:lnSpc>
                          <a:spcPts val="2879"/>
                        </a:lnSpc>
                        <a:defRPr/>
                      </a:pPr>
                      <a:r>
                        <a:rPr lang="en-US" sz="2400">
                          <a:solidFill>
                            <a:srgbClr val="201A3A"/>
                          </a:solidFill>
                          <a:latin typeface="Calibri (MS)"/>
                          <a:ea typeface="Calibri (MS)"/>
                          <a:cs typeface="Calibri (MS)"/>
                          <a:sym typeface="Calibri (MS)"/>
                        </a:rPr>
                        <a:t>Why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879"/>
                        </a:lnSpc>
                        <a:defRPr/>
                      </a:pPr>
                      <a:r>
                        <a:rPr lang="en-US" sz="2400">
                          <a:solidFill>
                            <a:srgbClr val="201A3A"/>
                          </a:solidFill>
                          <a:latin typeface="Calibri (MS)"/>
                          <a:ea typeface="Calibri (MS)"/>
                          <a:cs typeface="Calibri (MS)"/>
                          <a:sym typeface="Calibri (MS)"/>
                        </a:rPr>
                        <a:t>The OS/network stack notifies .NET when done — no thread sits and waits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879"/>
                        </a:lnSpc>
                        <a:defRPr/>
                      </a:pPr>
                      <a:r>
                        <a:rPr lang="en-US" sz="2400">
                          <a:solidFill>
                            <a:srgbClr val="201A3A"/>
                          </a:solidFill>
                          <a:latin typeface="Calibri (MS)"/>
                          <a:ea typeface="Calibri (MS)"/>
                          <a:cs typeface="Calibri (MS)"/>
                          <a:sym typeface="Calibri (MS)"/>
                        </a:rPr>
                        <a:t>There's genuinely something to compute; pick a background thread so it doesn't block the caller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bl>
          </a:graphicData>
        </a:graphic>
      </p:graphicFrame>
      <p:grpSp>
        <p:nvGrpSpPr>
          <p:cNvPr name="Group 9" id="9"/>
          <p:cNvGrpSpPr/>
          <p:nvPr/>
        </p:nvGrpSpPr>
        <p:grpSpPr>
          <a:xfrm rot="0">
            <a:off x="17053103" y="9820656"/>
            <a:ext cx="685800" cy="411480"/>
            <a:chOff x="0" y="0"/>
            <a:chExt cx="914400" cy="548640"/>
          </a:xfrm>
        </p:grpSpPr>
        <p:sp>
          <p:nvSpPr>
            <p:cNvPr name="Freeform 10" id="1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1" id="1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18</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1.12 ANTI-PATTERNS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Common Async Anti-Patterns</a:t>
              </a:r>
            </a:p>
          </p:txBody>
        </p:sp>
      </p:grpSp>
      <p:grpSp>
        <p:nvGrpSpPr>
          <p:cNvPr name="Group 8" id="8"/>
          <p:cNvGrpSpPr/>
          <p:nvPr/>
        </p:nvGrpSpPr>
        <p:grpSpPr>
          <a:xfrm rot="0">
            <a:off x="960120" y="2537460"/>
            <a:ext cx="16363188" cy="5349240"/>
            <a:chOff x="0" y="0"/>
            <a:chExt cx="21817584" cy="7132320"/>
          </a:xfrm>
        </p:grpSpPr>
        <p:sp>
          <p:nvSpPr>
            <p:cNvPr name="Freeform 9" id="9"/>
            <p:cNvSpPr/>
            <p:nvPr/>
          </p:nvSpPr>
          <p:spPr>
            <a:xfrm flipH="false" flipV="false" rot="0">
              <a:off x="0" y="0"/>
              <a:ext cx="21817585" cy="7132320"/>
            </a:xfrm>
            <a:custGeom>
              <a:avLst/>
              <a:gdLst/>
              <a:ahLst/>
              <a:cxnLst/>
              <a:rect r="r" b="b" t="t" l="l"/>
              <a:pathLst>
                <a:path h="7132320" w="21817585">
                  <a:moveTo>
                    <a:pt x="0" y="146304"/>
                  </a:moveTo>
                  <a:cubicBezTo>
                    <a:pt x="0" y="65532"/>
                    <a:pt x="65532" y="0"/>
                    <a:pt x="146304" y="0"/>
                  </a:cubicBezTo>
                  <a:lnTo>
                    <a:pt x="21671280" y="0"/>
                  </a:lnTo>
                  <a:cubicBezTo>
                    <a:pt x="21752052" y="0"/>
                    <a:pt x="21817585" y="65532"/>
                    <a:pt x="21817585" y="146304"/>
                  </a:cubicBezTo>
                  <a:lnTo>
                    <a:pt x="21817585" y="6986016"/>
                  </a:lnTo>
                  <a:cubicBezTo>
                    <a:pt x="21817585" y="7066788"/>
                    <a:pt x="21752052" y="7132320"/>
                    <a:pt x="21671280" y="7132320"/>
                  </a:cubicBezTo>
                  <a:lnTo>
                    <a:pt x="146304" y="7132320"/>
                  </a:lnTo>
                  <a:cubicBezTo>
                    <a:pt x="65532" y="7132320"/>
                    <a:pt x="0" y="7066788"/>
                    <a:pt x="0" y="698601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21152"/>
            <a:ext cx="15412212" cy="4472940"/>
          </a:xfrm>
          <a:prstGeom prst="rect">
            <a:avLst/>
          </a:prstGeom>
        </p:spPr>
        <p:txBody>
          <a:bodyPr anchor="t" rtlCol="false" tIns="0" lIns="0" bIns="0" rIns="0">
            <a:spAutoFit/>
          </a:bodyPr>
          <a:lstStyle/>
          <a:p>
            <a:pPr algn="l">
              <a:lnSpc>
                <a:spcPts val="2442"/>
              </a:lnSpc>
            </a:pPr>
            <a:r>
              <a:rPr lang="en-US" sz="1725">
                <a:solidFill>
                  <a:srgbClr val="8B84AE"/>
                </a:solidFill>
                <a:latin typeface="Courier New"/>
                <a:ea typeface="Courier New"/>
                <a:cs typeface="Courier New"/>
                <a:sym typeface="Courier New"/>
              </a:rPr>
              <a:t>// ANTI-PATTERN 1 — "async over sync": wrapping a blocking call in Task.Run just to</a:t>
            </a:r>
          </a:p>
          <a:p>
            <a:pPr algn="l">
              <a:lnSpc>
                <a:spcPts val="2442"/>
              </a:lnSpc>
            </a:pPr>
            <a:r>
              <a:rPr lang="en-US" sz="1725">
                <a:solidFill>
                  <a:srgbClr val="8B84AE"/>
                </a:solidFill>
                <a:latin typeface="Courier New"/>
                <a:ea typeface="Courier New"/>
                <a:cs typeface="Courier New"/>
                <a:sym typeface="Courier New"/>
              </a:rPr>
              <a:t>// make a method technically return a Task. Gains nothing; still consumes a thread.</a:t>
            </a:r>
          </a:p>
          <a:p>
            <a:pPr algn="l">
              <a:lnSpc>
                <a:spcPts val="2442"/>
              </a:lnSpc>
            </a:pPr>
            <a:r>
              <a:rPr lang="en-US" sz="1725">
                <a:solidFill>
                  <a:srgbClr val="D9D4F0"/>
                </a:solidFill>
                <a:latin typeface="Courier New"/>
                <a:ea typeface="Courier New"/>
                <a:cs typeface="Courier New"/>
                <a:sym typeface="Courier New"/>
              </a:rPr>
              <a:t>public Task&lt;string&gt; ReadFileAsync(string path) =&gt; Task.Run(() =&gt; File.ReadAllText(path));</a:t>
            </a:r>
          </a:p>
          <a:p>
            <a:pPr algn="l">
              <a:lnSpc>
                <a:spcPts val="2442"/>
              </a:lnSpc>
            </a:pPr>
            <a:r>
              <a:rPr lang="en-US" sz="1725">
                <a:solidFill>
                  <a:srgbClr val="8B84AE"/>
                </a:solidFill>
                <a:latin typeface="Courier New"/>
                <a:ea typeface="Courier New"/>
                <a:cs typeface="Courier New"/>
                <a:sym typeface="Courier New"/>
              </a:rPr>
              <a:t>// BETTER: public Task&lt;string&gt; ReadFileProperlyAsync(string path) =&gt; File.ReadAllTextAsync(path);</a:t>
            </a:r>
          </a:p>
          <a:p>
            <a:pPr algn="l">
              <a:lnSpc>
                <a:spcPts val="2442"/>
              </a:lnSpc>
            </a:pPr>
          </a:p>
          <a:p>
            <a:pPr algn="l">
              <a:lnSpc>
                <a:spcPts val="2442"/>
              </a:lnSpc>
            </a:pPr>
            <a:r>
              <a:rPr lang="en-US" sz="1725">
                <a:solidFill>
                  <a:srgbClr val="8B84AE"/>
                </a:solidFill>
                <a:latin typeface="Courier New"/>
                <a:ea typeface="Courier New"/>
                <a:cs typeface="Courier New"/>
                <a:sym typeface="Courier New"/>
              </a:rPr>
              <a:t>// ANTI-PATTERN 2 — "sync over async": calling .Result or .Wait() on a Task.</a:t>
            </a:r>
          </a:p>
          <a:p>
            <a:pPr algn="l">
              <a:lnSpc>
                <a:spcPts val="2442"/>
              </a:lnSpc>
            </a:pPr>
            <a:r>
              <a:rPr lang="en-US" sz="1725">
                <a:solidFill>
                  <a:srgbClr val="8B84AE"/>
                </a:solidFill>
                <a:latin typeface="Courier New"/>
                <a:ea typeface="Courier New"/>
                <a:cs typeface="Courier New"/>
                <a:sym typeface="Courier New"/>
              </a:rPr>
              <a:t>// Defeats the purpose of async entirely and risks the 1.10 deadlock.</a:t>
            </a:r>
          </a:p>
          <a:p>
            <a:pPr algn="l">
              <a:lnSpc>
                <a:spcPts val="2442"/>
              </a:lnSpc>
            </a:pPr>
            <a:r>
              <a:rPr lang="en-US" sz="1725">
                <a:solidFill>
                  <a:srgbClr val="D9D4F0"/>
                </a:solidFill>
                <a:latin typeface="Courier New"/>
                <a:ea typeface="Courier New"/>
                <a:cs typeface="Courier New"/>
                <a:sym typeface="Courier New"/>
              </a:rPr>
              <a:t>var data = GetDataAsync().Result;   // avoid</a:t>
            </a:r>
          </a:p>
          <a:p>
            <a:pPr algn="l">
              <a:lnSpc>
                <a:spcPts val="2442"/>
              </a:lnSpc>
            </a:pPr>
          </a:p>
          <a:p>
            <a:pPr algn="l">
              <a:lnSpc>
                <a:spcPts val="2442"/>
              </a:lnSpc>
            </a:pPr>
            <a:r>
              <a:rPr lang="en-US" sz="1725">
                <a:solidFill>
                  <a:srgbClr val="8B84AE"/>
                </a:solidFill>
                <a:latin typeface="Courier New"/>
                <a:ea typeface="Courier New"/>
                <a:cs typeface="Courier New"/>
                <a:sym typeface="Courier New"/>
              </a:rPr>
              <a:t>// ANTI-PATTERN 3 — fire-and-forget without meaning to: calling async without awaiting.</a:t>
            </a:r>
          </a:p>
          <a:p>
            <a:pPr algn="l">
              <a:lnSpc>
                <a:spcPts val="2442"/>
              </a:lnSpc>
            </a:pPr>
            <a:r>
              <a:rPr lang="en-US" sz="1725">
                <a:solidFill>
                  <a:srgbClr val="8B84AE"/>
                </a:solidFill>
                <a:latin typeface="Courier New"/>
                <a:ea typeface="Courier New"/>
                <a:cs typeface="Courier New"/>
                <a:sym typeface="Courier New"/>
              </a:rPr>
              <a:t>// Exceptions are silently swallowed; the caller moves on before the work is done.</a:t>
            </a:r>
          </a:p>
          <a:p>
            <a:pPr algn="l">
              <a:lnSpc>
                <a:spcPts val="2442"/>
              </a:lnSpc>
            </a:pPr>
            <a:r>
              <a:rPr lang="en-US" sz="1725">
                <a:solidFill>
                  <a:srgbClr val="D9D4F0"/>
                </a:solidFill>
                <a:latin typeface="Courier New"/>
                <a:ea typeface="Courier New"/>
                <a:cs typeface="Courier New"/>
                <a:sym typeface="Courier New"/>
              </a:rPr>
              <a:t>SaveLogAsync(entry);  // not awaited — if this throws, nobody will ever know</a:t>
            </a:r>
          </a:p>
        </p:txBody>
      </p:sp>
      <p:grpSp>
        <p:nvGrpSpPr>
          <p:cNvPr name="Group 17" id="17"/>
          <p:cNvGrpSpPr/>
          <p:nvPr/>
        </p:nvGrpSpPr>
        <p:grpSpPr>
          <a:xfrm rot="0">
            <a:off x="960120" y="8161020"/>
            <a:ext cx="16363188" cy="1165860"/>
            <a:chOff x="0" y="0"/>
            <a:chExt cx="21817584" cy="1554480"/>
          </a:xfrm>
        </p:grpSpPr>
        <p:sp>
          <p:nvSpPr>
            <p:cNvPr name="Freeform 18" id="18"/>
            <p:cNvSpPr/>
            <p:nvPr/>
          </p:nvSpPr>
          <p:spPr>
            <a:xfrm flipH="false" flipV="false" rot="0">
              <a:off x="0" y="0"/>
              <a:ext cx="21817585" cy="1554480"/>
            </a:xfrm>
            <a:custGeom>
              <a:avLst/>
              <a:gdLst/>
              <a:ahLst/>
              <a:cxnLst/>
              <a:rect r="r" b="b" t="t" l="l"/>
              <a:pathLst>
                <a:path h="1554480" w="21817585">
                  <a:moveTo>
                    <a:pt x="0" y="146304"/>
                  </a:moveTo>
                  <a:cubicBezTo>
                    <a:pt x="0" y="65532"/>
                    <a:pt x="65532" y="0"/>
                    <a:pt x="146304" y="0"/>
                  </a:cubicBezTo>
                  <a:lnTo>
                    <a:pt x="21671280" y="0"/>
                  </a:lnTo>
                  <a:cubicBezTo>
                    <a:pt x="21752052" y="0"/>
                    <a:pt x="21817585" y="65532"/>
                    <a:pt x="21817585" y="146304"/>
                  </a:cubicBezTo>
                  <a:lnTo>
                    <a:pt x="21817585" y="1408176"/>
                  </a:lnTo>
                  <a:cubicBezTo>
                    <a:pt x="21817585" y="1488948"/>
                    <a:pt x="21752052" y="1554480"/>
                    <a:pt x="21671280" y="1554480"/>
                  </a:cubicBezTo>
                  <a:lnTo>
                    <a:pt x="146304" y="1554480"/>
                  </a:lnTo>
                  <a:cubicBezTo>
                    <a:pt x="65532" y="1554480"/>
                    <a:pt x="0" y="1488948"/>
                    <a:pt x="0" y="1408176"/>
                  </a:cubicBezTo>
                  <a:close/>
                </a:path>
              </a:pathLst>
            </a:custGeom>
            <a:solidFill>
              <a:srgbClr val="F4F1FC"/>
            </a:solidFill>
          </p:spPr>
        </p:sp>
      </p:grpSp>
      <p:grpSp>
        <p:nvGrpSpPr>
          <p:cNvPr name="Group 19" id="19"/>
          <p:cNvGrpSpPr/>
          <p:nvPr/>
        </p:nvGrpSpPr>
        <p:grpSpPr>
          <a:xfrm rot="0">
            <a:off x="1371600" y="8161020"/>
            <a:ext cx="15636240" cy="1165860"/>
            <a:chOff x="0" y="0"/>
            <a:chExt cx="20848320" cy="1554480"/>
          </a:xfrm>
        </p:grpSpPr>
        <p:sp>
          <p:nvSpPr>
            <p:cNvPr name="Freeform 20" id="20"/>
            <p:cNvSpPr/>
            <p:nvPr/>
          </p:nvSpPr>
          <p:spPr>
            <a:xfrm flipH="false" flipV="false" rot="0">
              <a:off x="0" y="0"/>
              <a:ext cx="20848320" cy="1554480"/>
            </a:xfrm>
            <a:custGeom>
              <a:avLst/>
              <a:gdLst/>
              <a:ahLst/>
              <a:cxnLst/>
              <a:rect r="r" b="b" t="t" l="l"/>
              <a:pathLst>
                <a:path h="1554480" w="20848320">
                  <a:moveTo>
                    <a:pt x="0" y="0"/>
                  </a:moveTo>
                  <a:lnTo>
                    <a:pt x="20848320" y="0"/>
                  </a:lnTo>
                  <a:lnTo>
                    <a:pt x="20848320" y="1554480"/>
                  </a:lnTo>
                  <a:lnTo>
                    <a:pt x="0" y="1554480"/>
                  </a:lnTo>
                  <a:close/>
                </a:path>
              </a:pathLst>
            </a:custGeom>
            <a:blipFill>
              <a:blip r:embed="rId3">
                <a:alphaModFix amt="0"/>
              </a:blip>
              <a:stretch>
                <a:fillRect l="0" t="-211328" r="0" b="-211328"/>
              </a:stretch>
            </a:blipFill>
          </p:spPr>
        </p:sp>
        <p:sp>
          <p:nvSpPr>
            <p:cNvPr name="TextBox 21" id="21"/>
            <p:cNvSpPr txBox="true"/>
            <p:nvPr/>
          </p:nvSpPr>
          <p:spPr>
            <a:xfrm>
              <a:off x="0" y="-38100"/>
              <a:ext cx="20848320" cy="1592580"/>
            </a:xfrm>
            <a:prstGeom prst="rect">
              <a:avLst/>
            </a:prstGeom>
          </p:spPr>
          <p:txBody>
            <a:bodyPr anchor="ctr" rtlCol="false" tIns="0" lIns="0" bIns="0" rIns="0"/>
            <a:lstStyle/>
            <a:p>
              <a:pPr algn="l">
                <a:lnSpc>
                  <a:spcPts val="2250"/>
                </a:lnSpc>
              </a:pPr>
              <a:r>
                <a:rPr lang="en-US" sz="1875" i="true">
                  <a:solidFill>
                    <a:srgbClr val="201A3A"/>
                  </a:solidFill>
                  <a:latin typeface="Calibri (MS) Italics"/>
                  <a:ea typeface="Calibri (MS) Italics"/>
                  <a:cs typeface="Calibri (MS) Italics"/>
                  <a:sym typeface="Calibri (MS) Italics"/>
                </a:rPr>
                <a:t>Is it ever OK to not await a Task? Rarely, and only deliberately for true fire-and-forget work — and ideally still with error handling via task.ContinueWith(..., TaskContinuationOptions.OnlyOnFaulted). Forgetting by accident is a bug most IDEs flag as CS4014.</a:t>
              </a:r>
            </a:p>
          </p:txBody>
        </p:sp>
      </p:grpSp>
      <p:grpSp>
        <p:nvGrpSpPr>
          <p:cNvPr name="Group 22" id="22"/>
          <p:cNvGrpSpPr/>
          <p:nvPr/>
        </p:nvGrpSpPr>
        <p:grpSpPr>
          <a:xfrm rot="0">
            <a:off x="17053103" y="9820656"/>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4" id="2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19</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1316736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512BD4">
                <a:alpha val="17255"/>
              </a:srgbClr>
            </a:solidFill>
          </p:spPr>
        </p:sp>
      </p:grpSp>
      <p:grpSp>
        <p:nvGrpSpPr>
          <p:cNvPr name="Group 4" id="4"/>
          <p:cNvGrpSpPr/>
          <p:nvPr/>
        </p:nvGrpSpPr>
        <p:grpSpPr>
          <a:xfrm rot="0">
            <a:off x="1234440" y="3497580"/>
            <a:ext cx="8229600" cy="548640"/>
            <a:chOff x="0" y="0"/>
            <a:chExt cx="10972800" cy="731520"/>
          </a:xfrm>
        </p:grpSpPr>
        <p:sp>
          <p:nvSpPr>
            <p:cNvPr name="Freeform 5" id="5"/>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6" id="6"/>
            <p:cNvSpPr txBox="true"/>
            <p:nvPr/>
          </p:nvSpPr>
          <p:spPr>
            <a:xfrm>
              <a:off x="0" y="-47625"/>
              <a:ext cx="10972800" cy="779145"/>
            </a:xfrm>
            <a:prstGeom prst="rect">
              <a:avLst/>
            </a:prstGeom>
          </p:spPr>
          <p:txBody>
            <a:bodyPr anchor="ctr" rtlCol="false" tIns="0" lIns="0" bIns="0" rIns="0"/>
            <a:lstStyle/>
            <a:p>
              <a:pPr algn="l">
                <a:lnSpc>
                  <a:spcPts val="2340"/>
                </a:lnSpc>
              </a:pPr>
              <a:r>
                <a:rPr lang="en-US" b="true" sz="1950" spc="450">
                  <a:solidFill>
                    <a:srgbClr val="22D3EE"/>
                  </a:solidFill>
                  <a:latin typeface="Calibri (MS) Bold"/>
                  <a:ea typeface="Calibri (MS) Bold"/>
                  <a:cs typeface="Calibri (MS) Bold"/>
                  <a:sym typeface="Calibri (MS) Bold"/>
                </a:rPr>
                <a:t>SECTION 02 / 05</a:t>
              </a:r>
            </a:p>
          </p:txBody>
        </p:sp>
      </p:grpSp>
      <p:grpSp>
        <p:nvGrpSpPr>
          <p:cNvPr name="Group 7" id="7"/>
          <p:cNvGrpSpPr/>
          <p:nvPr/>
        </p:nvGrpSpPr>
        <p:grpSpPr>
          <a:xfrm rot="0">
            <a:off x="1165860" y="4114800"/>
            <a:ext cx="13030200" cy="1920240"/>
            <a:chOff x="0" y="0"/>
            <a:chExt cx="17373600" cy="2560320"/>
          </a:xfrm>
        </p:grpSpPr>
        <p:sp>
          <p:nvSpPr>
            <p:cNvPr name="Freeform 8" id="8"/>
            <p:cNvSpPr/>
            <p:nvPr/>
          </p:nvSpPr>
          <p:spPr>
            <a:xfrm flipH="false" flipV="false" rot="0">
              <a:off x="0" y="0"/>
              <a:ext cx="17373600" cy="2560320"/>
            </a:xfrm>
            <a:custGeom>
              <a:avLst/>
              <a:gdLst/>
              <a:ahLst/>
              <a:cxnLst/>
              <a:rect r="r" b="b" t="t" l="l"/>
              <a:pathLst>
                <a:path h="2560320" w="17373600">
                  <a:moveTo>
                    <a:pt x="0" y="0"/>
                  </a:moveTo>
                  <a:lnTo>
                    <a:pt x="17373600" y="0"/>
                  </a:lnTo>
                  <a:lnTo>
                    <a:pt x="17373600" y="2560320"/>
                  </a:lnTo>
                  <a:lnTo>
                    <a:pt x="0" y="2560320"/>
                  </a:lnTo>
                  <a:close/>
                </a:path>
              </a:pathLst>
            </a:custGeom>
            <a:blipFill>
              <a:blip r:embed="rId3">
                <a:alphaModFix amt="0"/>
              </a:blip>
              <a:stretch>
                <a:fillRect l="0" t="-82219" r="0" b="-82219"/>
              </a:stretch>
            </a:blipFill>
          </p:spPr>
        </p:sp>
        <p:sp>
          <p:nvSpPr>
            <p:cNvPr name="TextBox 9" id="9"/>
            <p:cNvSpPr txBox="true"/>
            <p:nvPr/>
          </p:nvSpPr>
          <p:spPr>
            <a:xfrm>
              <a:off x="0" y="-19050"/>
              <a:ext cx="17373600" cy="2579370"/>
            </a:xfrm>
            <a:prstGeom prst="rect">
              <a:avLst/>
            </a:prstGeom>
          </p:spPr>
          <p:txBody>
            <a:bodyPr anchor="ctr" rtlCol="false" tIns="0" lIns="0" bIns="0" rIns="0"/>
            <a:lstStyle/>
            <a:p>
              <a:pPr algn="l">
                <a:lnSpc>
                  <a:spcPts val="7559"/>
                </a:lnSpc>
              </a:pPr>
              <a:r>
                <a:rPr lang="en-US" sz="6300" b="true">
                  <a:solidFill>
                    <a:srgbClr val="FFFFFF"/>
                  </a:solidFill>
                  <a:latin typeface="Arial Bold"/>
                  <a:ea typeface="Arial Bold"/>
                  <a:cs typeface="Arial Bold"/>
                  <a:sym typeface="Arial Bold"/>
                </a:rPr>
                <a:t>Serialization</a:t>
              </a:r>
            </a:p>
          </p:txBody>
        </p:sp>
      </p:grpSp>
      <p:grpSp>
        <p:nvGrpSpPr>
          <p:cNvPr name="Group 10" id="10"/>
          <p:cNvGrpSpPr/>
          <p:nvPr/>
        </p:nvGrpSpPr>
        <p:grpSpPr>
          <a:xfrm rot="0">
            <a:off x="1234440" y="5966460"/>
            <a:ext cx="11795760" cy="1097280"/>
            <a:chOff x="0" y="0"/>
            <a:chExt cx="15727680" cy="1463040"/>
          </a:xfrm>
        </p:grpSpPr>
        <p:sp>
          <p:nvSpPr>
            <p:cNvPr name="Freeform 11" id="11"/>
            <p:cNvSpPr/>
            <p:nvPr/>
          </p:nvSpPr>
          <p:spPr>
            <a:xfrm flipH="false" flipV="false" rot="0">
              <a:off x="0" y="0"/>
              <a:ext cx="15727680" cy="1463040"/>
            </a:xfrm>
            <a:custGeom>
              <a:avLst/>
              <a:gdLst/>
              <a:ahLst/>
              <a:cxnLst/>
              <a:rect r="r" b="b" t="t" l="l"/>
              <a:pathLst>
                <a:path h="1463040" w="15727680">
                  <a:moveTo>
                    <a:pt x="0" y="0"/>
                  </a:moveTo>
                  <a:lnTo>
                    <a:pt x="15727680" y="0"/>
                  </a:lnTo>
                  <a:lnTo>
                    <a:pt x="15727680" y="1463040"/>
                  </a:lnTo>
                  <a:lnTo>
                    <a:pt x="0" y="1463040"/>
                  </a:lnTo>
                  <a:close/>
                </a:path>
              </a:pathLst>
            </a:custGeom>
            <a:blipFill>
              <a:blip r:embed="rId3">
                <a:alphaModFix amt="0"/>
              </a:blip>
              <a:stretch>
                <a:fillRect l="0" t="-159464" r="0" b="-159464"/>
              </a:stretch>
            </a:blipFill>
          </p:spPr>
        </p:sp>
        <p:sp>
          <p:nvSpPr>
            <p:cNvPr name="TextBox 12" id="12"/>
            <p:cNvSpPr txBox="true"/>
            <p:nvPr/>
          </p:nvSpPr>
          <p:spPr>
            <a:xfrm>
              <a:off x="0" y="-38100"/>
              <a:ext cx="15727680" cy="1501140"/>
            </a:xfrm>
            <a:prstGeom prst="rect">
              <a:avLst/>
            </a:prstGeom>
          </p:spPr>
          <p:txBody>
            <a:bodyPr anchor="ctr" rtlCol="false" tIns="0" lIns="0" bIns="0" rIns="0"/>
            <a:lstStyle/>
            <a:p>
              <a:pPr algn="l">
                <a:lnSpc>
                  <a:spcPts val="2879"/>
                </a:lnSpc>
              </a:pPr>
              <a:r>
                <a:rPr lang="en-US" sz="2400" i="true">
                  <a:solidFill>
                    <a:srgbClr val="C9BFEF"/>
                  </a:solidFill>
                  <a:latin typeface="Calibri (MS) Italics"/>
                  <a:ea typeface="Calibri (MS) Italics"/>
                  <a:cs typeface="Calibri (MS) Italics"/>
                  <a:sym typeface="Calibri (MS) Italics"/>
                </a:rPr>
                <a:t>Turning in-memory objects into bytes that can travel or persist — and back.</a:t>
              </a:r>
            </a:p>
          </p:txBody>
        </p:sp>
      </p:grpSp>
      <p:grpSp>
        <p:nvGrpSpPr>
          <p:cNvPr name="Group 13" id="13"/>
          <p:cNvGrpSpPr/>
          <p:nvPr/>
        </p:nvGrpSpPr>
        <p:grpSpPr>
          <a:xfrm rot="0">
            <a:off x="1234440" y="7406640"/>
            <a:ext cx="192024" cy="192024"/>
            <a:chOff x="0" y="0"/>
            <a:chExt cx="256032" cy="256032"/>
          </a:xfrm>
        </p:grpSpPr>
        <p:sp>
          <p:nvSpPr>
            <p:cNvPr name="Freeform 14" id="14"/>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5" id="15"/>
          <p:cNvGrpSpPr/>
          <p:nvPr/>
        </p:nvGrpSpPr>
        <p:grpSpPr>
          <a:xfrm rot="0">
            <a:off x="1700784" y="7406640"/>
            <a:ext cx="192024" cy="192024"/>
            <a:chOff x="0" y="0"/>
            <a:chExt cx="256032" cy="256032"/>
          </a:xfrm>
        </p:grpSpPr>
        <p:sp>
          <p:nvSpPr>
            <p:cNvPr name="Freeform 16" id="16"/>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EE"/>
            </a:solidFill>
          </p:spPr>
        </p:sp>
      </p:grpSp>
      <p:grpSp>
        <p:nvGrpSpPr>
          <p:cNvPr name="Group 17" id="17"/>
          <p:cNvGrpSpPr/>
          <p:nvPr/>
        </p:nvGrpSpPr>
        <p:grpSpPr>
          <a:xfrm rot="0">
            <a:off x="2167128" y="7406640"/>
            <a:ext cx="192024" cy="192024"/>
            <a:chOff x="0" y="0"/>
            <a:chExt cx="256032" cy="256032"/>
          </a:xfrm>
        </p:grpSpPr>
        <p:sp>
          <p:nvSpPr>
            <p:cNvPr name="Freeform 18" id="1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9" id="19"/>
          <p:cNvGrpSpPr/>
          <p:nvPr/>
        </p:nvGrpSpPr>
        <p:grpSpPr>
          <a:xfrm rot="0">
            <a:off x="2633472" y="7406640"/>
            <a:ext cx="192024" cy="192024"/>
            <a:chOff x="0" y="0"/>
            <a:chExt cx="256032" cy="256032"/>
          </a:xfrm>
        </p:grpSpPr>
        <p:sp>
          <p:nvSpPr>
            <p:cNvPr name="Freeform 20" id="20"/>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1" id="21"/>
          <p:cNvGrpSpPr/>
          <p:nvPr/>
        </p:nvGrpSpPr>
        <p:grpSpPr>
          <a:xfrm rot="0">
            <a:off x="3099816" y="7406640"/>
            <a:ext cx="192024" cy="192024"/>
            <a:chOff x="0" y="0"/>
            <a:chExt cx="256032" cy="256032"/>
          </a:xfrm>
        </p:grpSpPr>
        <p:sp>
          <p:nvSpPr>
            <p:cNvPr name="Freeform 22" id="22"/>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20</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What Is Serialization, and Why Do We Need It?</a:t>
              </a:r>
            </a:p>
          </p:txBody>
        </p:sp>
      </p:grpSp>
      <p:grpSp>
        <p:nvGrpSpPr>
          <p:cNvPr name="Group 8" id="8"/>
          <p:cNvGrpSpPr/>
          <p:nvPr/>
        </p:nvGrpSpPr>
        <p:grpSpPr>
          <a:xfrm rot="0">
            <a:off x="960120" y="2715768"/>
            <a:ext cx="685800" cy="685800"/>
            <a:chOff x="0" y="0"/>
            <a:chExt cx="914400" cy="914400"/>
          </a:xfrm>
        </p:grpSpPr>
        <p:sp>
          <p:nvSpPr>
            <p:cNvPr name="Freeform 9" id="9"/>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0" id="10"/>
          <p:cNvGrpSpPr/>
          <p:nvPr/>
        </p:nvGrpSpPr>
        <p:grpSpPr>
          <a:xfrm rot="0">
            <a:off x="960120" y="2715768"/>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2" id="12"/>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1</a:t>
              </a:r>
            </a:p>
          </p:txBody>
        </p:sp>
      </p:grpSp>
      <p:grpSp>
        <p:nvGrpSpPr>
          <p:cNvPr name="Group 13" id="13"/>
          <p:cNvGrpSpPr/>
          <p:nvPr/>
        </p:nvGrpSpPr>
        <p:grpSpPr>
          <a:xfrm rot="0">
            <a:off x="1920240" y="2647188"/>
            <a:ext cx="15224760" cy="548640"/>
            <a:chOff x="0" y="0"/>
            <a:chExt cx="20299680" cy="731520"/>
          </a:xfrm>
        </p:grpSpPr>
        <p:sp>
          <p:nvSpPr>
            <p:cNvPr name="Freeform 14" id="14"/>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15" id="15"/>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Serialization</a:t>
              </a:r>
            </a:p>
          </p:txBody>
        </p:sp>
      </p:grpSp>
      <p:sp>
        <p:nvSpPr>
          <p:cNvPr name="TextBox 16" id="16"/>
          <p:cNvSpPr txBox="true"/>
          <p:nvPr/>
        </p:nvSpPr>
        <p:spPr>
          <a:xfrm rot="0">
            <a:off x="2011680" y="3137916"/>
            <a:ext cx="15041880" cy="441884"/>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Converts an in-memory object graph into a format that can be stored or transmitted — bytes, text, JSON, XML.</a:t>
            </a:r>
          </a:p>
        </p:txBody>
      </p:sp>
      <p:grpSp>
        <p:nvGrpSpPr>
          <p:cNvPr name="Group 17" id="17"/>
          <p:cNvGrpSpPr/>
          <p:nvPr/>
        </p:nvGrpSpPr>
        <p:grpSpPr>
          <a:xfrm rot="0">
            <a:off x="960120" y="5001768"/>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9" id="19"/>
          <p:cNvGrpSpPr/>
          <p:nvPr/>
        </p:nvGrpSpPr>
        <p:grpSpPr>
          <a:xfrm rot="0">
            <a:off x="960120" y="5001768"/>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1" id="21"/>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2</a:t>
              </a:r>
            </a:p>
          </p:txBody>
        </p:sp>
      </p:grpSp>
      <p:grpSp>
        <p:nvGrpSpPr>
          <p:cNvPr name="Group 22" id="22"/>
          <p:cNvGrpSpPr/>
          <p:nvPr/>
        </p:nvGrpSpPr>
        <p:grpSpPr>
          <a:xfrm rot="0">
            <a:off x="1920240" y="4933188"/>
            <a:ext cx="15224760" cy="548640"/>
            <a:chOff x="0" y="0"/>
            <a:chExt cx="20299680" cy="731520"/>
          </a:xfrm>
        </p:grpSpPr>
        <p:sp>
          <p:nvSpPr>
            <p:cNvPr name="Freeform 23" id="23"/>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24" id="24"/>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Deserialization</a:t>
              </a:r>
            </a:p>
          </p:txBody>
        </p:sp>
      </p:grpSp>
      <p:sp>
        <p:nvSpPr>
          <p:cNvPr name="TextBox 25" id="25"/>
          <p:cNvSpPr txBox="true"/>
          <p:nvPr/>
        </p:nvSpPr>
        <p:spPr>
          <a:xfrm rot="0">
            <a:off x="2011680" y="5423916"/>
            <a:ext cx="15041880" cy="441884"/>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Reverses the process, rebuilding the object graph from that format.</a:t>
            </a:r>
          </a:p>
        </p:txBody>
      </p:sp>
      <p:grpSp>
        <p:nvGrpSpPr>
          <p:cNvPr name="Group 26" id="26"/>
          <p:cNvGrpSpPr/>
          <p:nvPr/>
        </p:nvGrpSpPr>
        <p:grpSpPr>
          <a:xfrm rot="0">
            <a:off x="960120" y="7287768"/>
            <a:ext cx="685800" cy="685800"/>
            <a:chOff x="0" y="0"/>
            <a:chExt cx="914400" cy="914400"/>
          </a:xfrm>
        </p:grpSpPr>
        <p:sp>
          <p:nvSpPr>
            <p:cNvPr name="Freeform 27" id="27"/>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28" id="28"/>
          <p:cNvGrpSpPr/>
          <p:nvPr/>
        </p:nvGrpSpPr>
        <p:grpSpPr>
          <a:xfrm rot="0">
            <a:off x="960120" y="7287768"/>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0" id="30"/>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3</a:t>
              </a:r>
            </a:p>
          </p:txBody>
        </p:sp>
      </p:grpSp>
      <p:grpSp>
        <p:nvGrpSpPr>
          <p:cNvPr name="Group 31" id="31"/>
          <p:cNvGrpSpPr/>
          <p:nvPr/>
        </p:nvGrpSpPr>
        <p:grpSpPr>
          <a:xfrm rot="0">
            <a:off x="1920240" y="7219188"/>
            <a:ext cx="15224760" cy="548640"/>
            <a:chOff x="0" y="0"/>
            <a:chExt cx="20299680" cy="731520"/>
          </a:xfrm>
        </p:grpSpPr>
        <p:sp>
          <p:nvSpPr>
            <p:cNvPr name="Freeform 32" id="32"/>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33" id="33"/>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Why</a:t>
              </a:r>
            </a:p>
          </p:txBody>
        </p:sp>
      </p:grpSp>
      <p:sp>
        <p:nvSpPr>
          <p:cNvPr name="TextBox 34" id="34"/>
          <p:cNvSpPr txBox="true"/>
          <p:nvPr/>
        </p:nvSpPr>
        <p:spPr>
          <a:xfrm rot="0">
            <a:off x="2011680" y="7709916"/>
            <a:ext cx="15041880" cy="1261034"/>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Objects only exist as long as the process runs and can't cross a network boundary as-is. Any time an object leaves its process — an HTTP body, a config file, a Redis cache, a queue message, disk state — you need a shared, agreed-upon representation both sides understand.</a:t>
            </a:r>
          </a:p>
        </p:txBody>
      </p:sp>
      <p:grpSp>
        <p:nvGrpSpPr>
          <p:cNvPr name="Group 35" id="35"/>
          <p:cNvGrpSpPr/>
          <p:nvPr/>
        </p:nvGrpSpPr>
        <p:grpSpPr>
          <a:xfrm rot="0">
            <a:off x="17053103" y="9820656"/>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21</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2.2 THE BASICS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JSON Serialization with System.Text.Json</a:t>
              </a:r>
            </a:p>
          </p:txBody>
        </p:sp>
      </p:grpSp>
      <p:grpSp>
        <p:nvGrpSpPr>
          <p:cNvPr name="Group 8" id="8"/>
          <p:cNvGrpSpPr/>
          <p:nvPr/>
        </p:nvGrpSpPr>
        <p:grpSpPr>
          <a:xfrm rot="0">
            <a:off x="960120" y="2606040"/>
            <a:ext cx="9601200" cy="6858000"/>
            <a:chOff x="0" y="0"/>
            <a:chExt cx="12801600" cy="9144000"/>
          </a:xfrm>
        </p:grpSpPr>
        <p:sp>
          <p:nvSpPr>
            <p:cNvPr name="Freeform 9" id="9"/>
            <p:cNvSpPr/>
            <p:nvPr/>
          </p:nvSpPr>
          <p:spPr>
            <a:xfrm flipH="false" flipV="false" rot="0">
              <a:off x="0" y="0"/>
              <a:ext cx="12801600" cy="9144000"/>
            </a:xfrm>
            <a:custGeom>
              <a:avLst/>
              <a:gdLst/>
              <a:ahLst/>
              <a:cxnLst/>
              <a:rect r="r" b="b" t="t" l="l"/>
              <a:pathLst>
                <a:path h="9144000" w="12801600">
                  <a:moveTo>
                    <a:pt x="0" y="146304"/>
                  </a:moveTo>
                  <a:cubicBezTo>
                    <a:pt x="0" y="65532"/>
                    <a:pt x="65532" y="0"/>
                    <a:pt x="146304" y="0"/>
                  </a:cubicBezTo>
                  <a:lnTo>
                    <a:pt x="12655296" y="0"/>
                  </a:lnTo>
                  <a:cubicBezTo>
                    <a:pt x="12736068" y="0"/>
                    <a:pt x="12801600" y="65532"/>
                    <a:pt x="12801600" y="146304"/>
                  </a:cubicBezTo>
                  <a:lnTo>
                    <a:pt x="12801600" y="8997696"/>
                  </a:lnTo>
                  <a:cubicBezTo>
                    <a:pt x="12801600" y="9078468"/>
                    <a:pt x="12736068" y="9144000"/>
                    <a:pt x="1265529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650224" cy="5991225"/>
          </a:xfrm>
          <a:prstGeom prst="rect">
            <a:avLst/>
          </a:prstGeom>
        </p:spPr>
        <p:txBody>
          <a:bodyPr anchor="t" rtlCol="false" tIns="0" lIns="0" bIns="0" rIns="0">
            <a:spAutoFit/>
          </a:bodyPr>
          <a:lstStyle/>
          <a:p>
            <a:pPr algn="l">
              <a:lnSpc>
                <a:spcPts val="2654"/>
              </a:lnSpc>
            </a:pPr>
            <a:r>
              <a:rPr lang="en-US" sz="1875">
                <a:solidFill>
                  <a:srgbClr val="D9D4F0"/>
                </a:solidFill>
                <a:latin typeface="Courier New"/>
                <a:ea typeface="Courier New"/>
                <a:cs typeface="Courier New"/>
                <a:sym typeface="Courier New"/>
              </a:rPr>
              <a:t>public class Player</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r>
              <a:rPr lang="en-US" sz="1875">
                <a:solidFill>
                  <a:srgbClr val="D9D4F0"/>
                </a:solidFill>
                <a:latin typeface="Courier New"/>
                <a:ea typeface="Courier New"/>
                <a:cs typeface="Courier New"/>
                <a:sym typeface="Courier New"/>
              </a:rPr>
              <a:t>    public string Name { get; set; }</a:t>
            </a:r>
          </a:p>
          <a:p>
            <a:pPr algn="l">
              <a:lnSpc>
                <a:spcPts val="2654"/>
              </a:lnSpc>
            </a:pPr>
            <a:r>
              <a:rPr lang="en-US" sz="1875">
                <a:solidFill>
                  <a:srgbClr val="D9D4F0"/>
                </a:solidFill>
                <a:latin typeface="Courier New"/>
                <a:ea typeface="Courier New"/>
                <a:cs typeface="Courier New"/>
                <a:sym typeface="Courier New"/>
              </a:rPr>
              <a:t>    public int JerseyNumber { get; set; }</a:t>
            </a:r>
          </a:p>
          <a:p>
            <a:pPr algn="l">
              <a:lnSpc>
                <a:spcPts val="2654"/>
              </a:lnSpc>
            </a:pPr>
            <a:r>
              <a:rPr lang="en-US" sz="1875">
                <a:solidFill>
                  <a:srgbClr val="D9D4F0"/>
                </a:solidFill>
                <a:latin typeface="Courier New"/>
                <a:ea typeface="Courier New"/>
                <a:cs typeface="Courier New"/>
                <a:sym typeface="Courier New"/>
              </a:rPr>
              <a:t>    public int Goals { get; set; }</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var salah = new Player { Name = "Salah", JerseyNumber = 10, Goals = 32 };</a:t>
            </a:r>
          </a:p>
          <a:p>
            <a:pPr algn="l">
              <a:lnSpc>
                <a:spcPts val="2654"/>
              </a:lnSpc>
            </a:pPr>
          </a:p>
          <a:p>
            <a:pPr algn="l">
              <a:lnSpc>
                <a:spcPts val="2654"/>
              </a:lnSpc>
            </a:pPr>
            <a:r>
              <a:rPr lang="en-US" sz="1875">
                <a:solidFill>
                  <a:srgbClr val="8B84AE"/>
                </a:solidFill>
                <a:latin typeface="Courier New"/>
                <a:ea typeface="Courier New"/>
                <a:cs typeface="Courier New"/>
                <a:sym typeface="Courier New"/>
              </a:rPr>
              <a:t>// Serialize — object to JSON string</a:t>
            </a:r>
          </a:p>
          <a:p>
            <a:pPr algn="l">
              <a:lnSpc>
                <a:spcPts val="2654"/>
              </a:lnSpc>
            </a:pPr>
            <a:r>
              <a:rPr lang="en-US" sz="1875">
                <a:solidFill>
                  <a:srgbClr val="D9D4F0"/>
                </a:solidFill>
                <a:latin typeface="Courier New"/>
                <a:ea typeface="Courier New"/>
                <a:cs typeface="Courier New"/>
                <a:sym typeface="Courier New"/>
              </a:rPr>
              <a:t>string json = JsonSerializer.Serialize(salah);</a:t>
            </a:r>
          </a:p>
          <a:p>
            <a:pPr algn="l">
              <a:lnSpc>
                <a:spcPts val="2654"/>
              </a:lnSpc>
            </a:pPr>
            <a:r>
              <a:rPr lang="en-US" sz="1875">
                <a:solidFill>
                  <a:srgbClr val="8B84AE"/>
                </a:solidFill>
                <a:latin typeface="Courier New"/>
                <a:ea typeface="Courier New"/>
                <a:cs typeface="Courier New"/>
                <a:sym typeface="Courier New"/>
              </a:rPr>
              <a:t>// {"Name":"Salah","JerseyNumber":10,"Goals":32}</a:t>
            </a:r>
          </a:p>
          <a:p>
            <a:pPr algn="l">
              <a:lnSpc>
                <a:spcPts val="2654"/>
              </a:lnSpc>
            </a:pPr>
          </a:p>
          <a:p>
            <a:pPr algn="l">
              <a:lnSpc>
                <a:spcPts val="2654"/>
              </a:lnSpc>
            </a:pPr>
            <a:r>
              <a:rPr lang="en-US" sz="1875">
                <a:solidFill>
                  <a:srgbClr val="8B84AE"/>
                </a:solidFill>
                <a:latin typeface="Courier New"/>
                <a:ea typeface="Courier New"/>
                <a:cs typeface="Courier New"/>
                <a:sym typeface="Courier New"/>
              </a:rPr>
              <a:t>// Deserialize — JSON string back to object</a:t>
            </a:r>
          </a:p>
          <a:p>
            <a:pPr algn="l">
              <a:lnSpc>
                <a:spcPts val="2654"/>
              </a:lnSpc>
            </a:pPr>
            <a:r>
              <a:rPr lang="en-US" sz="1875">
                <a:solidFill>
                  <a:srgbClr val="D9D4F0"/>
                </a:solidFill>
                <a:latin typeface="Courier New"/>
                <a:ea typeface="Courier New"/>
                <a:cs typeface="Courier New"/>
                <a:sym typeface="Courier New"/>
              </a:rPr>
              <a:t>Player restored = JsonSerializer.Deserialize&lt;Player&gt;(json);</a:t>
            </a:r>
          </a:p>
        </p:txBody>
      </p:sp>
      <p:grpSp>
        <p:nvGrpSpPr>
          <p:cNvPr name="Group 17" id="17"/>
          <p:cNvGrpSpPr/>
          <p:nvPr/>
        </p:nvGrpSpPr>
        <p:grpSpPr>
          <a:xfrm rot="0">
            <a:off x="1104138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475720" y="2593467"/>
            <a:ext cx="589742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The built-in, modern serializer in .NET (Core 3.0+).</a:t>
            </a:r>
          </a:p>
        </p:txBody>
      </p:sp>
      <p:grpSp>
        <p:nvGrpSpPr>
          <p:cNvPr name="Group 20" id="20"/>
          <p:cNvGrpSpPr/>
          <p:nvPr/>
        </p:nvGrpSpPr>
        <p:grpSpPr>
          <a:xfrm rot="0">
            <a:off x="11041380" y="432054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475720" y="4170807"/>
            <a:ext cx="589742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Designed to be fast and allocate less than the older third-party Newtonsoft.Json.</a:t>
            </a:r>
          </a:p>
        </p:txBody>
      </p:sp>
      <p:grpSp>
        <p:nvGrpSpPr>
          <p:cNvPr name="Group 23" id="23"/>
          <p:cNvGrpSpPr/>
          <p:nvPr/>
        </p:nvGrpSpPr>
        <p:grpSpPr>
          <a:xfrm rot="0">
            <a:off x="11041380" y="589788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1475720" y="5748147"/>
            <a:ext cx="589742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Covers the same core scenarios as Newtonsoft for the vast majority of use cases.</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22</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2.3 ATTRIBUTES × SERIALIZATION</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Controlling Serialization with Attributes</a:t>
              </a:r>
            </a:p>
          </p:txBody>
        </p:sp>
      </p:grpSp>
      <p:grpSp>
        <p:nvGrpSpPr>
          <p:cNvPr name="Group 8" id="8"/>
          <p:cNvGrpSpPr/>
          <p:nvPr/>
        </p:nvGrpSpPr>
        <p:grpSpPr>
          <a:xfrm rot="0">
            <a:off x="960120" y="2606040"/>
            <a:ext cx="9189720" cy="6858000"/>
            <a:chOff x="0" y="0"/>
            <a:chExt cx="12252960" cy="9144000"/>
          </a:xfrm>
        </p:grpSpPr>
        <p:sp>
          <p:nvSpPr>
            <p:cNvPr name="Freeform 9" id="9"/>
            <p:cNvSpPr/>
            <p:nvPr/>
          </p:nvSpPr>
          <p:spPr>
            <a:xfrm flipH="false" flipV="false" rot="0">
              <a:off x="0" y="0"/>
              <a:ext cx="12252961" cy="9144000"/>
            </a:xfrm>
            <a:custGeom>
              <a:avLst/>
              <a:gdLst/>
              <a:ahLst/>
              <a:cxnLst/>
              <a:rect r="r" b="b" t="t" l="l"/>
              <a:pathLst>
                <a:path h="9144000" w="12252961">
                  <a:moveTo>
                    <a:pt x="0" y="146304"/>
                  </a:moveTo>
                  <a:cubicBezTo>
                    <a:pt x="0" y="65532"/>
                    <a:pt x="65532" y="0"/>
                    <a:pt x="146304" y="0"/>
                  </a:cubicBezTo>
                  <a:lnTo>
                    <a:pt x="12106656" y="0"/>
                  </a:lnTo>
                  <a:cubicBezTo>
                    <a:pt x="12187428" y="0"/>
                    <a:pt x="12252961" y="65532"/>
                    <a:pt x="12252961" y="146304"/>
                  </a:cubicBezTo>
                  <a:lnTo>
                    <a:pt x="12252961" y="8997696"/>
                  </a:lnTo>
                  <a:cubicBezTo>
                    <a:pt x="12252961" y="9078468"/>
                    <a:pt x="12187428" y="9144000"/>
                    <a:pt x="1210665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238744" cy="5991225"/>
          </a:xfrm>
          <a:prstGeom prst="rect">
            <a:avLst/>
          </a:prstGeom>
        </p:spPr>
        <p:txBody>
          <a:bodyPr anchor="t" rtlCol="false" tIns="0" lIns="0" bIns="0" rIns="0">
            <a:spAutoFit/>
          </a:bodyPr>
          <a:lstStyle/>
          <a:p>
            <a:pPr algn="l">
              <a:lnSpc>
                <a:spcPts val="2654"/>
              </a:lnSpc>
            </a:pPr>
            <a:r>
              <a:rPr lang="en-US" sz="1875">
                <a:solidFill>
                  <a:srgbClr val="D9D4F0"/>
                </a:solidFill>
                <a:latin typeface="Courier New"/>
                <a:ea typeface="Courier New"/>
                <a:cs typeface="Courier New"/>
                <a:sym typeface="Courier New"/>
              </a:rPr>
              <a:t>public class Player</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r>
              <a:rPr lang="en-US" sz="1875">
                <a:solidFill>
                  <a:srgbClr val="D9D4F0"/>
                </a:solidFill>
                <a:latin typeface="Courier New"/>
                <a:ea typeface="Courier New"/>
                <a:cs typeface="Courier New"/>
                <a:sym typeface="Courier New"/>
              </a:rPr>
              <a:t>    [JsonPropertyName("full_name")]  // JSON key differs from the C# property name</a:t>
            </a:r>
          </a:p>
          <a:p>
            <a:pPr algn="l">
              <a:lnSpc>
                <a:spcPts val="2654"/>
              </a:lnSpc>
            </a:pPr>
            <a:r>
              <a:rPr lang="en-US" sz="1875">
                <a:solidFill>
                  <a:srgbClr val="D9D4F0"/>
                </a:solidFill>
                <a:latin typeface="Courier New"/>
                <a:ea typeface="Courier New"/>
                <a:cs typeface="Courier New"/>
                <a:sym typeface="Courier New"/>
              </a:rPr>
              <a:t>    public string Name { get; set; }</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    public int JerseyNumber { get; set; }</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    [JsonIgnore]                     // Never included in the JSON output at all</a:t>
            </a:r>
          </a:p>
          <a:p>
            <a:pPr algn="l">
              <a:lnSpc>
                <a:spcPts val="2654"/>
              </a:lnSpc>
            </a:pPr>
            <a:r>
              <a:rPr lang="en-US" sz="1875">
                <a:solidFill>
                  <a:srgbClr val="D9D4F0"/>
                </a:solidFill>
                <a:latin typeface="Courier New"/>
                <a:ea typeface="Courier New"/>
                <a:cs typeface="Courier New"/>
                <a:sym typeface="Courier New"/>
              </a:rPr>
              <a:t>    public string InternalNotes { get; set; }</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    [JsonPropertyOrder(1)]           // Control serialization order explicitly</a:t>
            </a:r>
          </a:p>
          <a:p>
            <a:pPr algn="l">
              <a:lnSpc>
                <a:spcPts val="2654"/>
              </a:lnSpc>
            </a:pPr>
            <a:r>
              <a:rPr lang="en-US" sz="1875">
                <a:solidFill>
                  <a:srgbClr val="D9D4F0"/>
                </a:solidFill>
                <a:latin typeface="Courier New"/>
                <a:ea typeface="Courier New"/>
                <a:cs typeface="Courier New"/>
                <a:sym typeface="Courier New"/>
              </a:rPr>
              <a:t>    public int Goals { get; set; }</a:t>
            </a:r>
          </a:p>
          <a:p>
            <a:pPr algn="l">
              <a:lnSpc>
                <a:spcPts val="2654"/>
              </a:lnSpc>
            </a:pPr>
            <a:r>
              <a:rPr lang="en-US" sz="1875">
                <a:solidFill>
                  <a:srgbClr val="D9D4F0"/>
                </a:solidFill>
                <a:latin typeface="Courier New"/>
                <a:ea typeface="Courier New"/>
                <a:cs typeface="Courier New"/>
                <a:sym typeface="Courier New"/>
              </a:rPr>
              <a:t>}</a:t>
            </a:r>
          </a:p>
        </p:txBody>
      </p:sp>
      <p:grpSp>
        <p:nvGrpSpPr>
          <p:cNvPr name="Group 17" id="17"/>
          <p:cNvGrpSpPr/>
          <p:nvPr/>
        </p:nvGrpSpPr>
        <p:grpSpPr>
          <a:xfrm rot="0">
            <a:off x="1062990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064240" y="2593467"/>
            <a:ext cx="630890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The serializer looks for specific attributes on your class at runtime — via reflection — to decide how to map properties to JSON.</a:t>
            </a:r>
          </a:p>
        </p:txBody>
      </p:sp>
      <p:grpSp>
        <p:nvGrpSpPr>
          <p:cNvPr name="Group 20" id="20"/>
          <p:cNvGrpSpPr/>
          <p:nvPr/>
        </p:nvGrpSpPr>
        <p:grpSpPr>
          <a:xfrm rot="0">
            <a:off x="10629900" y="445770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064240" y="4307967"/>
            <a:ext cx="630890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The serializer is generic and has no idea your class exists ahead of time.</a:t>
            </a:r>
          </a:p>
        </p:txBody>
      </p:sp>
      <p:grpSp>
        <p:nvGrpSpPr>
          <p:cNvPr name="Group 23" id="23"/>
          <p:cNvGrpSpPr/>
          <p:nvPr/>
        </p:nvGrpSpPr>
        <p:grpSpPr>
          <a:xfrm rot="0">
            <a:off x="10629900" y="617220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1064240" y="6022467"/>
            <a:ext cx="630890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Attributes let you attach metadata a completely generic library reads and acts on: the backbone of serializers, validation, ORMs, and DI.</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23</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2.4 RECORDS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Records — Why Serialization Fits Naturally</a:t>
              </a:r>
            </a:p>
          </p:txBody>
        </p:sp>
      </p:grpSp>
      <p:grpSp>
        <p:nvGrpSpPr>
          <p:cNvPr name="Group 8" id="8"/>
          <p:cNvGrpSpPr/>
          <p:nvPr/>
        </p:nvGrpSpPr>
        <p:grpSpPr>
          <a:xfrm rot="0">
            <a:off x="960120" y="2606040"/>
            <a:ext cx="9052560" cy="6858000"/>
            <a:chOff x="0" y="0"/>
            <a:chExt cx="12070080" cy="9144000"/>
          </a:xfrm>
        </p:grpSpPr>
        <p:sp>
          <p:nvSpPr>
            <p:cNvPr name="Freeform 9" id="9"/>
            <p:cNvSpPr/>
            <p:nvPr/>
          </p:nvSpPr>
          <p:spPr>
            <a:xfrm flipH="false" flipV="false" rot="0">
              <a:off x="0" y="0"/>
              <a:ext cx="12070080" cy="9144000"/>
            </a:xfrm>
            <a:custGeom>
              <a:avLst/>
              <a:gdLst/>
              <a:ahLst/>
              <a:cxnLst/>
              <a:rect r="r" b="b" t="t" l="l"/>
              <a:pathLst>
                <a:path h="9144000" w="12070080">
                  <a:moveTo>
                    <a:pt x="0" y="146304"/>
                  </a:moveTo>
                  <a:cubicBezTo>
                    <a:pt x="0" y="65532"/>
                    <a:pt x="65532" y="0"/>
                    <a:pt x="146304" y="0"/>
                  </a:cubicBezTo>
                  <a:lnTo>
                    <a:pt x="11923776" y="0"/>
                  </a:lnTo>
                  <a:cubicBezTo>
                    <a:pt x="12004548" y="0"/>
                    <a:pt x="12070080" y="65532"/>
                    <a:pt x="12070080" y="146304"/>
                  </a:cubicBezTo>
                  <a:lnTo>
                    <a:pt x="12070080" y="8997696"/>
                  </a:lnTo>
                  <a:cubicBezTo>
                    <a:pt x="12070080" y="9078468"/>
                    <a:pt x="12004548" y="9144000"/>
                    <a:pt x="1192377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101584" cy="5991225"/>
          </a:xfrm>
          <a:prstGeom prst="rect">
            <a:avLst/>
          </a:prstGeom>
        </p:spPr>
        <p:txBody>
          <a:bodyPr anchor="t" rtlCol="false" tIns="0" lIns="0" bIns="0" rIns="0">
            <a:spAutoFit/>
          </a:bodyPr>
          <a:lstStyle/>
          <a:p>
            <a:pPr algn="l">
              <a:lnSpc>
                <a:spcPts val="2761"/>
              </a:lnSpc>
            </a:pPr>
            <a:r>
              <a:rPr lang="en-US" sz="1950">
                <a:solidFill>
                  <a:srgbClr val="D9D4F0"/>
                </a:solidFill>
                <a:latin typeface="Courier New"/>
                <a:ea typeface="Courier New"/>
                <a:cs typeface="Courier New"/>
                <a:sym typeface="Courier New"/>
              </a:rPr>
              <a:t>public record PlayerRecord(string Name, int JerseyNumber, int Goals);</a:t>
            </a:r>
          </a:p>
          <a:p>
            <a:pPr algn="l">
              <a:lnSpc>
                <a:spcPts val="2761"/>
              </a:lnSpc>
            </a:pPr>
          </a:p>
          <a:p>
            <a:pPr algn="l">
              <a:lnSpc>
                <a:spcPts val="2761"/>
              </a:lnSpc>
            </a:pPr>
            <a:r>
              <a:rPr lang="en-US" sz="1950">
                <a:solidFill>
                  <a:srgbClr val="D9D4F0"/>
                </a:solidFill>
                <a:latin typeface="Courier New"/>
                <a:ea typeface="Courier New"/>
                <a:cs typeface="Courier New"/>
                <a:sym typeface="Courier New"/>
              </a:rPr>
              <a:t>string json = JsonSerializer.Serialize(new PlayerRecord("Salah", 10, 32));</a:t>
            </a:r>
          </a:p>
          <a:p>
            <a:pPr algn="l">
              <a:lnSpc>
                <a:spcPts val="2761"/>
              </a:lnSpc>
            </a:pPr>
            <a:r>
              <a:rPr lang="en-US" sz="1950">
                <a:solidFill>
                  <a:srgbClr val="8B84AE"/>
                </a:solidFill>
                <a:latin typeface="Courier New"/>
                <a:ea typeface="Courier New"/>
                <a:cs typeface="Courier New"/>
                <a:sym typeface="Courier New"/>
              </a:rPr>
              <a:t>// {"Name":"Salah","JerseyNumber":10,"Goals":32}</a:t>
            </a:r>
          </a:p>
          <a:p>
            <a:pPr algn="l">
              <a:lnSpc>
                <a:spcPts val="2761"/>
              </a:lnSpc>
            </a:pPr>
          </a:p>
          <a:p>
            <a:pPr algn="l">
              <a:lnSpc>
                <a:spcPts val="2761"/>
              </a:lnSpc>
            </a:pPr>
            <a:r>
              <a:rPr lang="en-US" sz="1950">
                <a:solidFill>
                  <a:srgbClr val="D9D4F0"/>
                </a:solidFill>
                <a:latin typeface="Courier New"/>
                <a:ea typeface="Courier New"/>
                <a:cs typeface="Courier New"/>
                <a:sym typeface="Courier New"/>
              </a:rPr>
              <a:t>PlayerRecord player = JsonSerializer.Deserialize&lt;PlayerRecord&gt;(json);</a:t>
            </a:r>
          </a:p>
          <a:p>
            <a:pPr algn="l">
              <a:lnSpc>
                <a:spcPts val="2761"/>
              </a:lnSpc>
            </a:pPr>
            <a:r>
              <a:rPr lang="en-US" sz="1950">
                <a:solidFill>
                  <a:srgbClr val="8B84AE"/>
                </a:solidFill>
                <a:latin typeface="Courier New"/>
                <a:ea typeface="Courier New"/>
                <a:cs typeface="Courier New"/>
                <a:sym typeface="Courier New"/>
              </a:rPr>
              <a:t>// The serializer calls the record's constructor with values matched</a:t>
            </a:r>
          </a:p>
          <a:p>
            <a:pPr algn="l">
              <a:lnSpc>
                <a:spcPts val="2761"/>
              </a:lnSpc>
            </a:pPr>
            <a:r>
              <a:rPr lang="en-US" sz="1950">
                <a:solidFill>
                  <a:srgbClr val="8B84AE"/>
                </a:solidFill>
                <a:latin typeface="Courier New"/>
                <a:ea typeface="Courier New"/>
                <a:cs typeface="Courier New"/>
                <a:sym typeface="Courier New"/>
              </a:rPr>
              <a:t>// by parameter name</a:t>
            </a:r>
          </a:p>
        </p:txBody>
      </p:sp>
      <p:grpSp>
        <p:nvGrpSpPr>
          <p:cNvPr name="Group 17" id="17"/>
          <p:cNvGrpSpPr/>
          <p:nvPr/>
        </p:nvGrpSpPr>
        <p:grpSpPr>
          <a:xfrm rot="0">
            <a:off x="1049274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0927080" y="2593467"/>
            <a:ext cx="644606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System.Text.Json supports constructor-based deserialization, matching JSON property names to constructor parameter names.</a:t>
            </a:r>
          </a:p>
        </p:txBody>
      </p:sp>
      <p:grpSp>
        <p:nvGrpSpPr>
          <p:cNvPr name="Group 20" id="20"/>
          <p:cNvGrpSpPr/>
          <p:nvPr/>
        </p:nvGrpSpPr>
        <p:grpSpPr>
          <a:xfrm rot="0">
            <a:off x="10492740" y="452628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0927080" y="4376547"/>
            <a:ext cx="6446063" cy="17072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Immutability and serialization pair well: since properties are set once, the serializer builds a fully-formed object in one step instead of an empty shell mutated field by field.</a:t>
            </a:r>
          </a:p>
        </p:txBody>
      </p:sp>
      <p:grpSp>
        <p:nvGrpSpPr>
          <p:cNvPr name="Group 23" id="23"/>
          <p:cNvGrpSpPr/>
          <p:nvPr/>
        </p:nvGrpSpPr>
        <p:grpSpPr>
          <a:xfrm rot="0">
            <a:off x="10492740" y="630936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0927080" y="6159627"/>
            <a:ext cx="644606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This matters when your object has constructor validation logic.</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24</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2.5 CUSTOM CONVERTERS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Custom Converters — When the Default Mapping Isn't Enough</a:t>
              </a:r>
            </a:p>
          </p:txBody>
        </p:sp>
      </p:grpSp>
      <p:grpSp>
        <p:nvGrpSpPr>
          <p:cNvPr name="Group 8" id="8"/>
          <p:cNvGrpSpPr/>
          <p:nvPr/>
        </p:nvGrpSpPr>
        <p:grpSpPr>
          <a:xfrm rot="0">
            <a:off x="960120" y="2606040"/>
            <a:ext cx="9464040" cy="6858000"/>
            <a:chOff x="0" y="0"/>
            <a:chExt cx="12618720" cy="9144000"/>
          </a:xfrm>
        </p:grpSpPr>
        <p:sp>
          <p:nvSpPr>
            <p:cNvPr name="Freeform 9" id="9"/>
            <p:cNvSpPr/>
            <p:nvPr/>
          </p:nvSpPr>
          <p:spPr>
            <a:xfrm flipH="false" flipV="false" rot="0">
              <a:off x="0" y="0"/>
              <a:ext cx="12618720" cy="9144000"/>
            </a:xfrm>
            <a:custGeom>
              <a:avLst/>
              <a:gdLst/>
              <a:ahLst/>
              <a:cxnLst/>
              <a:rect r="r" b="b" t="t" l="l"/>
              <a:pathLst>
                <a:path h="9144000" w="12618720">
                  <a:moveTo>
                    <a:pt x="0" y="146304"/>
                  </a:moveTo>
                  <a:cubicBezTo>
                    <a:pt x="0" y="65532"/>
                    <a:pt x="65532" y="0"/>
                    <a:pt x="146304" y="0"/>
                  </a:cubicBezTo>
                  <a:lnTo>
                    <a:pt x="12472416" y="0"/>
                  </a:lnTo>
                  <a:cubicBezTo>
                    <a:pt x="12553188" y="0"/>
                    <a:pt x="12618720" y="65532"/>
                    <a:pt x="12618720" y="146304"/>
                  </a:cubicBezTo>
                  <a:lnTo>
                    <a:pt x="12618720" y="8997696"/>
                  </a:lnTo>
                  <a:cubicBezTo>
                    <a:pt x="12618720" y="9078468"/>
                    <a:pt x="12553188" y="9144000"/>
                    <a:pt x="1247241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513064" cy="5991225"/>
          </a:xfrm>
          <a:prstGeom prst="rect">
            <a:avLst/>
          </a:prstGeom>
        </p:spPr>
        <p:txBody>
          <a:bodyPr anchor="t" rtlCol="false" tIns="0" lIns="0" bIns="0" rIns="0">
            <a:spAutoFit/>
          </a:bodyPr>
          <a:lstStyle/>
          <a:p>
            <a:pPr algn="l">
              <a:lnSpc>
                <a:spcPts val="2548"/>
              </a:lnSpc>
            </a:pPr>
            <a:r>
              <a:rPr lang="en-US" sz="1800">
                <a:solidFill>
                  <a:srgbClr val="D9D4F0"/>
                </a:solidFill>
                <a:latin typeface="Courier New"/>
                <a:ea typeface="Courier New"/>
                <a:cs typeface="Courier New"/>
                <a:sym typeface="Courier New"/>
              </a:rPr>
              <a:t>public class GoalTallyConverter : JsonConverter&lt;int&gt;</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public override int Read(ref Utf8JsonReader reader,</a:t>
            </a:r>
          </a:p>
          <a:p>
            <a:pPr algn="l">
              <a:lnSpc>
                <a:spcPts val="2548"/>
              </a:lnSpc>
            </a:pPr>
            <a:r>
              <a:rPr lang="en-US" sz="1800">
                <a:solidFill>
                  <a:srgbClr val="D9D4F0"/>
                </a:solidFill>
                <a:latin typeface="Courier New"/>
                <a:ea typeface="Courier New"/>
                <a:cs typeface="Courier New"/>
                <a:sym typeface="Courier New"/>
              </a:rPr>
              <a:t>        Type typeToConvert, JsonSerializerOptions options)</a:t>
            </a:r>
          </a:p>
          <a:p>
            <a:pPr algn="l">
              <a:lnSpc>
                <a:spcPts val="2548"/>
              </a:lnSpc>
            </a:pPr>
            <a:r>
              <a:rPr lang="en-US" sz="1800">
                <a:solidFill>
                  <a:srgbClr val="D9D4F0"/>
                </a:solidFill>
                <a:latin typeface="Courier New"/>
                <a:ea typeface="Courier New"/>
                <a:cs typeface="Courier New"/>
                <a:sym typeface="Courier New"/>
              </a:rPr>
              <a:t>        =&gt; int.Parse(reader.GetString());</a:t>
            </a:r>
          </a:p>
          <a:p>
            <a:pPr algn="l">
              <a:lnSpc>
                <a:spcPts val="2548"/>
              </a:lnSpc>
            </a:pPr>
          </a:p>
          <a:p>
            <a:pPr algn="l">
              <a:lnSpc>
                <a:spcPts val="2548"/>
              </a:lnSpc>
            </a:pPr>
            <a:r>
              <a:rPr lang="en-US" sz="1800">
                <a:solidFill>
                  <a:srgbClr val="D9D4F0"/>
                </a:solidFill>
                <a:latin typeface="Courier New"/>
                <a:ea typeface="Courier New"/>
                <a:cs typeface="Courier New"/>
                <a:sym typeface="Courier New"/>
              </a:rPr>
              <a:t>    public override void Write(Utf8JsonWriter writer,</a:t>
            </a:r>
          </a:p>
          <a:p>
            <a:pPr algn="l">
              <a:lnSpc>
                <a:spcPts val="2548"/>
              </a:lnSpc>
            </a:pPr>
            <a:r>
              <a:rPr lang="en-US" sz="1800">
                <a:solidFill>
                  <a:srgbClr val="D9D4F0"/>
                </a:solidFill>
                <a:latin typeface="Courier New"/>
                <a:ea typeface="Courier New"/>
                <a:cs typeface="Courier New"/>
                <a:sym typeface="Courier New"/>
              </a:rPr>
              <a:t>        int value, JsonSerializerOptions options)</a:t>
            </a:r>
          </a:p>
          <a:p>
            <a:pPr algn="l">
              <a:lnSpc>
                <a:spcPts val="2548"/>
              </a:lnSpc>
            </a:pPr>
            <a:r>
              <a:rPr lang="en-US" sz="1800">
                <a:solidFill>
                  <a:srgbClr val="D9D4F0"/>
                </a:solidFill>
                <a:latin typeface="Courier New"/>
                <a:ea typeface="Courier New"/>
                <a:cs typeface="Courier New"/>
                <a:sym typeface="Courier New"/>
              </a:rPr>
              <a:t>        =&gt; writer.WriteStringValue(value.ToString());</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p>
          <a:p>
            <a:pPr algn="l">
              <a:lnSpc>
                <a:spcPts val="2548"/>
              </a:lnSpc>
            </a:pPr>
            <a:r>
              <a:rPr lang="en-US" sz="1800">
                <a:solidFill>
                  <a:srgbClr val="D9D4F0"/>
                </a:solidFill>
                <a:latin typeface="Courier New"/>
                <a:ea typeface="Courier New"/>
                <a:cs typeface="Courier New"/>
                <a:sym typeface="Courier New"/>
              </a:rPr>
              <a:t>public class Player</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[JsonConverter(typeof(GoalTallyConverter))]</a:t>
            </a:r>
          </a:p>
          <a:p>
            <a:pPr algn="l">
              <a:lnSpc>
                <a:spcPts val="2548"/>
              </a:lnSpc>
            </a:pPr>
            <a:r>
              <a:rPr lang="en-US" sz="1800">
                <a:solidFill>
                  <a:srgbClr val="D9D4F0"/>
                </a:solidFill>
                <a:latin typeface="Courier New"/>
                <a:ea typeface="Courier New"/>
                <a:cs typeface="Courier New"/>
                <a:sym typeface="Courier New"/>
              </a:rPr>
              <a:t>    public int Goals { get; set; }</a:t>
            </a:r>
          </a:p>
          <a:p>
            <a:pPr algn="l">
              <a:lnSpc>
                <a:spcPts val="2548"/>
              </a:lnSpc>
            </a:pPr>
            <a:r>
              <a:rPr lang="en-US" sz="1800">
                <a:solidFill>
                  <a:srgbClr val="D9D4F0"/>
                </a:solidFill>
                <a:latin typeface="Courier New"/>
                <a:ea typeface="Courier New"/>
                <a:cs typeface="Courier New"/>
                <a:sym typeface="Courier New"/>
              </a:rPr>
              <a:t>}</a:t>
            </a:r>
          </a:p>
        </p:txBody>
      </p:sp>
      <p:grpSp>
        <p:nvGrpSpPr>
          <p:cNvPr name="Group 17" id="17"/>
          <p:cNvGrpSpPr/>
          <p:nvPr/>
        </p:nvGrpSpPr>
        <p:grpSpPr>
          <a:xfrm rot="0">
            <a:off x="1090422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338560" y="2593467"/>
            <a:ext cx="603458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Some types don't map naturally to JSON — an enum you want as a string, a DateTime in a nonstandard format.</a:t>
            </a:r>
          </a:p>
        </p:txBody>
      </p:sp>
      <p:grpSp>
        <p:nvGrpSpPr>
          <p:cNvPr name="Group 20" id="20"/>
          <p:cNvGrpSpPr/>
          <p:nvPr/>
        </p:nvGrpSpPr>
        <p:grpSpPr>
          <a:xfrm rot="0">
            <a:off x="10904220" y="438912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338560" y="4239387"/>
            <a:ext cx="603458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A custom JsonConverter&lt;T&gt; lets you control that mapping explicitly, on a per-property basis.</a:t>
            </a:r>
          </a:p>
        </p:txBody>
      </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25</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2.6 VERSIONING</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Serialization &amp; Versioning — A Real Production Concern</a:t>
              </a:r>
            </a:p>
          </p:txBody>
        </p:sp>
      </p:grpSp>
      <p:grpSp>
        <p:nvGrpSpPr>
          <p:cNvPr name="Group 8" id="8"/>
          <p:cNvGrpSpPr/>
          <p:nvPr/>
        </p:nvGrpSpPr>
        <p:grpSpPr>
          <a:xfrm rot="0">
            <a:off x="960120" y="2715768"/>
            <a:ext cx="685800" cy="685800"/>
            <a:chOff x="0" y="0"/>
            <a:chExt cx="914400" cy="914400"/>
          </a:xfrm>
        </p:grpSpPr>
        <p:sp>
          <p:nvSpPr>
            <p:cNvPr name="Freeform 9" id="9"/>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0" id="10"/>
          <p:cNvGrpSpPr/>
          <p:nvPr/>
        </p:nvGrpSpPr>
        <p:grpSpPr>
          <a:xfrm rot="0">
            <a:off x="960120" y="2715768"/>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2" id="12"/>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1</a:t>
              </a:r>
            </a:p>
          </p:txBody>
        </p:sp>
      </p:grpSp>
      <p:grpSp>
        <p:nvGrpSpPr>
          <p:cNvPr name="Group 13" id="13"/>
          <p:cNvGrpSpPr/>
          <p:nvPr/>
        </p:nvGrpSpPr>
        <p:grpSpPr>
          <a:xfrm rot="0">
            <a:off x="1920240" y="2647188"/>
            <a:ext cx="15224760" cy="548640"/>
            <a:chOff x="0" y="0"/>
            <a:chExt cx="20299680" cy="731520"/>
          </a:xfrm>
        </p:grpSpPr>
        <p:sp>
          <p:nvSpPr>
            <p:cNvPr name="Freeform 14" id="14"/>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15" id="15"/>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Adding a property is safe</a:t>
              </a:r>
            </a:p>
          </p:txBody>
        </p:sp>
      </p:grpSp>
      <p:sp>
        <p:nvSpPr>
          <p:cNvPr name="TextBox 16" id="16"/>
          <p:cNvSpPr txBox="true"/>
          <p:nvPr/>
        </p:nvSpPr>
        <p:spPr>
          <a:xfrm rot="0">
            <a:off x="2011680" y="3137916"/>
            <a:ext cx="15041880" cy="441884"/>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Old JSON just won't have that field — it takes its default value.</a:t>
            </a:r>
          </a:p>
        </p:txBody>
      </p:sp>
      <p:grpSp>
        <p:nvGrpSpPr>
          <p:cNvPr name="Group 17" id="17"/>
          <p:cNvGrpSpPr/>
          <p:nvPr/>
        </p:nvGrpSpPr>
        <p:grpSpPr>
          <a:xfrm rot="0">
            <a:off x="960120" y="5001768"/>
            <a:ext cx="685800" cy="685800"/>
            <a:chOff x="0" y="0"/>
            <a:chExt cx="914400" cy="914400"/>
          </a:xfrm>
        </p:grpSpPr>
        <p:sp>
          <p:nvSpPr>
            <p:cNvPr name="Freeform 18" id="18"/>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19" id="19"/>
          <p:cNvGrpSpPr/>
          <p:nvPr/>
        </p:nvGrpSpPr>
        <p:grpSpPr>
          <a:xfrm rot="0">
            <a:off x="960120" y="5001768"/>
            <a:ext cx="685800" cy="6858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1" id="21"/>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2</a:t>
              </a:r>
            </a:p>
          </p:txBody>
        </p:sp>
      </p:grpSp>
      <p:grpSp>
        <p:nvGrpSpPr>
          <p:cNvPr name="Group 22" id="22"/>
          <p:cNvGrpSpPr/>
          <p:nvPr/>
        </p:nvGrpSpPr>
        <p:grpSpPr>
          <a:xfrm rot="0">
            <a:off x="1920240" y="4933188"/>
            <a:ext cx="15224760" cy="548640"/>
            <a:chOff x="0" y="0"/>
            <a:chExt cx="20299680" cy="731520"/>
          </a:xfrm>
        </p:grpSpPr>
        <p:sp>
          <p:nvSpPr>
            <p:cNvPr name="Freeform 23" id="23"/>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24" id="24"/>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Renaming breaks old data</a:t>
              </a:r>
            </a:p>
          </p:txBody>
        </p:sp>
      </p:grpSp>
      <p:sp>
        <p:nvSpPr>
          <p:cNvPr name="TextBox 25" id="25"/>
          <p:cNvSpPr txBox="true"/>
          <p:nvPr/>
        </p:nvSpPr>
        <p:spPr>
          <a:xfrm rot="0">
            <a:off x="2011680" y="5423916"/>
            <a:ext cx="15041880" cy="441884"/>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Unless you add [JsonPropertyName] pointing at the old name, or support both names during a migration window.</a:t>
            </a:r>
          </a:p>
        </p:txBody>
      </p:sp>
      <p:grpSp>
        <p:nvGrpSpPr>
          <p:cNvPr name="Group 26" id="26"/>
          <p:cNvGrpSpPr/>
          <p:nvPr/>
        </p:nvGrpSpPr>
        <p:grpSpPr>
          <a:xfrm rot="0">
            <a:off x="960120" y="7287768"/>
            <a:ext cx="685800" cy="685800"/>
            <a:chOff x="0" y="0"/>
            <a:chExt cx="914400" cy="914400"/>
          </a:xfrm>
        </p:grpSpPr>
        <p:sp>
          <p:nvSpPr>
            <p:cNvPr name="Freeform 27" id="27"/>
            <p:cNvSpPr/>
            <p:nvPr/>
          </p:nvSpPr>
          <p:spPr>
            <a:xfrm flipH="false" flipV="false" rot="0">
              <a:off x="0" y="0"/>
              <a:ext cx="914400" cy="914400"/>
            </a:xfrm>
            <a:custGeom>
              <a:avLst/>
              <a:gdLst/>
              <a:ahLst/>
              <a:cxnLst/>
              <a:rect r="r" b="b" t="t" l="l"/>
              <a:pathLst>
                <a:path h="914400" w="914400">
                  <a:moveTo>
                    <a:pt x="0" y="164592"/>
                  </a:moveTo>
                  <a:cubicBezTo>
                    <a:pt x="0" y="73660"/>
                    <a:pt x="73660" y="0"/>
                    <a:pt x="164592" y="0"/>
                  </a:cubicBezTo>
                  <a:lnTo>
                    <a:pt x="749808" y="0"/>
                  </a:lnTo>
                  <a:cubicBezTo>
                    <a:pt x="840740" y="0"/>
                    <a:pt x="914400" y="73660"/>
                    <a:pt x="914400" y="164592"/>
                  </a:cubicBezTo>
                  <a:lnTo>
                    <a:pt x="914400" y="749808"/>
                  </a:lnTo>
                  <a:cubicBezTo>
                    <a:pt x="914400" y="840740"/>
                    <a:pt x="840740" y="914400"/>
                    <a:pt x="749808" y="914400"/>
                  </a:cubicBezTo>
                  <a:lnTo>
                    <a:pt x="164592" y="914400"/>
                  </a:lnTo>
                  <a:cubicBezTo>
                    <a:pt x="73660" y="914400"/>
                    <a:pt x="0" y="840740"/>
                    <a:pt x="0" y="749808"/>
                  </a:cubicBezTo>
                  <a:close/>
                </a:path>
              </a:pathLst>
            </a:custGeom>
            <a:solidFill>
              <a:srgbClr val="ECE7FA"/>
            </a:solidFill>
          </p:spPr>
        </p:sp>
      </p:grpSp>
      <p:grpSp>
        <p:nvGrpSpPr>
          <p:cNvPr name="Group 28" id="28"/>
          <p:cNvGrpSpPr/>
          <p:nvPr/>
        </p:nvGrpSpPr>
        <p:grpSpPr>
          <a:xfrm rot="0">
            <a:off x="960120" y="7287768"/>
            <a:ext cx="685800" cy="685800"/>
            <a:chOff x="0" y="0"/>
            <a:chExt cx="914400" cy="914400"/>
          </a:xfrm>
        </p:grpSpPr>
        <p:sp>
          <p:nvSpPr>
            <p:cNvPr name="Freeform 29" id="2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0" id="30"/>
            <p:cNvSpPr txBox="true"/>
            <p:nvPr/>
          </p:nvSpPr>
          <p:spPr>
            <a:xfrm>
              <a:off x="0" y="-9525"/>
              <a:ext cx="914400" cy="923925"/>
            </a:xfrm>
            <a:prstGeom prst="rect">
              <a:avLst/>
            </a:prstGeom>
          </p:spPr>
          <p:txBody>
            <a:bodyPr anchor="ctr" rtlCol="false" tIns="0" lIns="0" bIns="0" rIns="0"/>
            <a:lstStyle/>
            <a:p>
              <a:pPr algn="ctr">
                <a:lnSpc>
                  <a:spcPts val="2879"/>
                </a:lnSpc>
              </a:pPr>
              <a:r>
                <a:rPr lang="en-US" sz="2400" b="true">
                  <a:solidFill>
                    <a:srgbClr val="512BD4"/>
                  </a:solidFill>
                  <a:latin typeface="Arial Bold"/>
                  <a:ea typeface="Arial Bold"/>
                  <a:cs typeface="Arial Bold"/>
                  <a:sym typeface="Arial Bold"/>
                </a:rPr>
                <a:t>3</a:t>
              </a:r>
            </a:p>
          </p:txBody>
        </p:sp>
      </p:grpSp>
      <p:grpSp>
        <p:nvGrpSpPr>
          <p:cNvPr name="Group 31" id="31"/>
          <p:cNvGrpSpPr/>
          <p:nvPr/>
        </p:nvGrpSpPr>
        <p:grpSpPr>
          <a:xfrm rot="0">
            <a:off x="1920240" y="7219188"/>
            <a:ext cx="15224760" cy="548640"/>
            <a:chOff x="0" y="0"/>
            <a:chExt cx="20299680" cy="731520"/>
          </a:xfrm>
        </p:grpSpPr>
        <p:sp>
          <p:nvSpPr>
            <p:cNvPr name="Freeform 32" id="32"/>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33" id="33"/>
            <p:cNvSpPr txBox="true"/>
            <p:nvPr/>
          </p:nvSpPr>
          <p:spPr>
            <a:xfrm>
              <a:off x="0" y="-9525"/>
              <a:ext cx="20299680" cy="741045"/>
            </a:xfrm>
            <a:prstGeom prst="rect">
              <a:avLst/>
            </a:prstGeom>
          </p:spPr>
          <p:txBody>
            <a:bodyPr anchor="ctr" rtlCol="false" tIns="0" lIns="0" bIns="0" rIns="0"/>
            <a:lstStyle/>
            <a:p>
              <a:pPr algn="l">
                <a:lnSpc>
                  <a:spcPts val="2970"/>
                </a:lnSpc>
              </a:pPr>
              <a:r>
                <a:rPr lang="en-US" sz="2475" b="true">
                  <a:solidFill>
                    <a:srgbClr val="201A3A"/>
                  </a:solidFill>
                  <a:latin typeface="Arial Bold"/>
                  <a:ea typeface="Arial Bold"/>
                  <a:cs typeface="Arial Bold"/>
                  <a:sym typeface="Arial Bold"/>
                </a:rPr>
                <a:t>Changing a property's type breaks it outright</a:t>
              </a:r>
            </a:p>
          </p:txBody>
        </p:sp>
      </p:grpSp>
      <p:sp>
        <p:nvSpPr>
          <p:cNvPr name="TextBox 34" id="34"/>
          <p:cNvSpPr txBox="true"/>
          <p:nvPr/>
        </p:nvSpPr>
        <p:spPr>
          <a:xfrm rot="0">
            <a:off x="2011680" y="7709916"/>
            <a:ext cx="15041880" cy="851459"/>
          </a:xfrm>
          <a:prstGeom prst="rect">
            <a:avLst/>
          </a:prstGeom>
        </p:spPr>
        <p:txBody>
          <a:bodyPr anchor="t" rtlCol="false" tIns="0" lIns="0" bIns="0" rIns="0">
            <a:spAutoFit/>
          </a:bodyPr>
          <a:lstStyle/>
          <a:p>
            <a:pPr algn="l">
              <a:lnSpc>
                <a:spcPts val="3225"/>
              </a:lnSpc>
            </a:pPr>
            <a:r>
              <a:rPr lang="en-US" sz="2400">
                <a:solidFill>
                  <a:srgbClr val="6E668A"/>
                </a:solidFill>
                <a:latin typeface="Calibri (MS)"/>
                <a:ea typeface="Calibri (MS)"/>
                <a:cs typeface="Calibri (MS)"/>
                <a:sym typeface="Calibri (MS)"/>
              </a:rPr>
              <a:t>e.g. int → string breaks deserialization for old data. Removing a field is usually safe for readers, but breaks anything downstream still expecting it.</a:t>
            </a:r>
          </a:p>
        </p:txBody>
      </p:sp>
      <p:grpSp>
        <p:nvGrpSpPr>
          <p:cNvPr name="Group 35" id="35"/>
          <p:cNvGrpSpPr/>
          <p:nvPr/>
        </p:nvGrpSpPr>
        <p:grpSpPr>
          <a:xfrm rot="0">
            <a:off x="17053103" y="9820656"/>
            <a:ext cx="685800" cy="411480"/>
            <a:chOff x="0" y="0"/>
            <a:chExt cx="914400" cy="548640"/>
          </a:xfrm>
        </p:grpSpPr>
        <p:sp>
          <p:nvSpPr>
            <p:cNvPr name="Freeform 36" id="3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7" id="3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26</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22D3EE"/>
                  </a:solidFill>
                  <a:latin typeface="Calibri (MS) Bold"/>
                  <a:ea typeface="Calibri (MS) Bold"/>
                  <a:cs typeface="Calibri (MS) Bold"/>
                  <a:sym typeface="Calibri (MS) Bold"/>
                </a:rPr>
                <a:t>2.7 SECURITY WARNING</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A Word on Binary Serialization</a:t>
              </a:r>
            </a:p>
          </p:txBody>
        </p:sp>
      </p:grpSp>
      <p:grpSp>
        <p:nvGrpSpPr>
          <p:cNvPr name="Group 8" id="8"/>
          <p:cNvGrpSpPr/>
          <p:nvPr/>
        </p:nvGrpSpPr>
        <p:grpSpPr>
          <a:xfrm rot="0">
            <a:off x="1222534" y="2868454"/>
            <a:ext cx="15797212" cy="1601152"/>
            <a:chOff x="0" y="0"/>
            <a:chExt cx="21062950" cy="2134870"/>
          </a:xfrm>
        </p:grpSpPr>
        <p:sp>
          <p:nvSpPr>
            <p:cNvPr name="Freeform 9" id="9"/>
            <p:cNvSpPr/>
            <p:nvPr/>
          </p:nvSpPr>
          <p:spPr>
            <a:xfrm flipH="false" flipV="false" rot="0">
              <a:off x="0" y="0"/>
              <a:ext cx="21062950" cy="2134870"/>
            </a:xfrm>
            <a:custGeom>
              <a:avLst/>
              <a:gdLst/>
              <a:ahLst/>
              <a:cxnLst/>
              <a:rect r="r" b="b" t="t" l="l"/>
              <a:pathLst>
                <a:path h="2134870" w="21062950">
                  <a:moveTo>
                    <a:pt x="0" y="185674"/>
                  </a:moveTo>
                  <a:cubicBezTo>
                    <a:pt x="0" y="83058"/>
                    <a:pt x="83058" y="0"/>
                    <a:pt x="185674" y="0"/>
                  </a:cubicBezTo>
                  <a:lnTo>
                    <a:pt x="20877276" y="0"/>
                  </a:lnTo>
                  <a:cubicBezTo>
                    <a:pt x="20979764" y="0"/>
                    <a:pt x="21062950" y="83058"/>
                    <a:pt x="21062950" y="185674"/>
                  </a:cubicBezTo>
                  <a:lnTo>
                    <a:pt x="21062950" y="1949196"/>
                  </a:lnTo>
                  <a:cubicBezTo>
                    <a:pt x="21062950" y="2051685"/>
                    <a:pt x="20979892" y="2134870"/>
                    <a:pt x="20877276" y="2134870"/>
                  </a:cubicBezTo>
                  <a:lnTo>
                    <a:pt x="185674" y="2134870"/>
                  </a:lnTo>
                  <a:cubicBezTo>
                    <a:pt x="83058" y="2134870"/>
                    <a:pt x="0" y="2051812"/>
                    <a:pt x="0" y="1949196"/>
                  </a:cubicBezTo>
                  <a:close/>
                </a:path>
              </a:pathLst>
            </a:custGeom>
            <a:solidFill>
              <a:srgbClr val="241659"/>
            </a:solidFill>
            <a:ln w="23812" cap="sq">
              <a:solidFill>
                <a:srgbClr val="22D3EE"/>
              </a:solidFill>
              <a:prstDash val="solid"/>
              <a:miter/>
            </a:ln>
          </p:spPr>
        </p:sp>
      </p:grpSp>
      <p:grpSp>
        <p:nvGrpSpPr>
          <p:cNvPr name="Group 10" id="10"/>
          <p:cNvGrpSpPr/>
          <p:nvPr/>
        </p:nvGrpSpPr>
        <p:grpSpPr>
          <a:xfrm rot="0">
            <a:off x="1508760" y="2880360"/>
            <a:ext cx="1234440" cy="1577340"/>
            <a:chOff x="0" y="0"/>
            <a:chExt cx="1645920" cy="2103120"/>
          </a:xfrm>
        </p:grpSpPr>
        <p:sp>
          <p:nvSpPr>
            <p:cNvPr name="Freeform 11" id="11"/>
            <p:cNvSpPr/>
            <p:nvPr/>
          </p:nvSpPr>
          <p:spPr>
            <a:xfrm flipH="false" flipV="false" rot="0">
              <a:off x="0" y="0"/>
              <a:ext cx="1645920" cy="2103120"/>
            </a:xfrm>
            <a:custGeom>
              <a:avLst/>
              <a:gdLst/>
              <a:ahLst/>
              <a:cxnLst/>
              <a:rect r="r" b="b" t="t" l="l"/>
              <a:pathLst>
                <a:path h="2103120" w="1645920">
                  <a:moveTo>
                    <a:pt x="0" y="0"/>
                  </a:moveTo>
                  <a:lnTo>
                    <a:pt x="1645920" y="0"/>
                  </a:lnTo>
                  <a:lnTo>
                    <a:pt x="1645920" y="2103120"/>
                  </a:lnTo>
                  <a:lnTo>
                    <a:pt x="0" y="2103120"/>
                  </a:lnTo>
                  <a:close/>
                </a:path>
              </a:pathLst>
            </a:custGeom>
            <a:blipFill>
              <a:blip r:embed="rId3">
                <a:alphaModFix amt="0"/>
              </a:blip>
              <a:stretch>
                <a:fillRect l="-113943" t="0" r="-113943" b="0"/>
              </a:stretch>
            </a:blipFill>
          </p:spPr>
        </p:sp>
        <p:sp>
          <p:nvSpPr>
            <p:cNvPr name="TextBox 12" id="12"/>
            <p:cNvSpPr txBox="true"/>
            <p:nvPr/>
          </p:nvSpPr>
          <p:spPr>
            <a:xfrm>
              <a:off x="0" y="-28575"/>
              <a:ext cx="1645920" cy="213169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Q</a:t>
              </a:r>
            </a:p>
          </p:txBody>
        </p:sp>
      </p:grpSp>
      <p:grpSp>
        <p:nvGrpSpPr>
          <p:cNvPr name="Group 13" id="13"/>
          <p:cNvGrpSpPr/>
          <p:nvPr/>
        </p:nvGrpSpPr>
        <p:grpSpPr>
          <a:xfrm rot="0">
            <a:off x="2811780" y="2880360"/>
            <a:ext cx="13921740" cy="1577340"/>
            <a:chOff x="0" y="0"/>
            <a:chExt cx="18562320" cy="2103120"/>
          </a:xfrm>
        </p:grpSpPr>
        <p:sp>
          <p:nvSpPr>
            <p:cNvPr name="Freeform 14" id="14"/>
            <p:cNvSpPr/>
            <p:nvPr/>
          </p:nvSpPr>
          <p:spPr>
            <a:xfrm flipH="false" flipV="false" rot="0">
              <a:off x="0" y="0"/>
              <a:ext cx="18562320" cy="2103120"/>
            </a:xfrm>
            <a:custGeom>
              <a:avLst/>
              <a:gdLst/>
              <a:ahLst/>
              <a:cxnLst/>
              <a:rect r="r" b="b" t="t" l="l"/>
              <a:pathLst>
                <a:path h="2103120" w="18562320">
                  <a:moveTo>
                    <a:pt x="0" y="0"/>
                  </a:moveTo>
                  <a:lnTo>
                    <a:pt x="18562320" y="0"/>
                  </a:lnTo>
                  <a:lnTo>
                    <a:pt x="18562320" y="2103120"/>
                  </a:lnTo>
                  <a:lnTo>
                    <a:pt x="0" y="2103120"/>
                  </a:lnTo>
                  <a:close/>
                </a:path>
              </a:pathLst>
            </a:custGeom>
            <a:blipFill>
              <a:blip r:embed="rId3">
                <a:alphaModFix amt="0"/>
              </a:blip>
              <a:stretch>
                <a:fillRect l="0" t="-121976" r="0" b="-121976"/>
              </a:stretch>
            </a:blipFill>
          </p:spPr>
        </p:sp>
        <p:sp>
          <p:nvSpPr>
            <p:cNvPr name="TextBox 15" id="15"/>
            <p:cNvSpPr txBox="true"/>
            <p:nvPr/>
          </p:nvSpPr>
          <p:spPr>
            <a:xfrm>
              <a:off x="0" y="-9525"/>
              <a:ext cx="18562320" cy="2112645"/>
            </a:xfrm>
            <a:prstGeom prst="rect">
              <a:avLst/>
            </a:prstGeom>
          </p:spPr>
          <p:txBody>
            <a:bodyPr anchor="ctr" rtlCol="false" tIns="0" lIns="0" bIns="0" rIns="0"/>
            <a:lstStyle/>
            <a:p>
              <a:pPr algn="l">
                <a:lnSpc>
                  <a:spcPts val="3060"/>
                </a:lnSpc>
              </a:pPr>
              <a:r>
                <a:rPr lang="en-US" b="true" sz="2550" i="true">
                  <a:solidFill>
                    <a:srgbClr val="FFFFFF"/>
                  </a:solidFill>
                  <a:latin typeface="Arial Bold Italics"/>
                  <a:ea typeface="Arial Bold Italics"/>
                  <a:cs typeface="Arial Bold Italics"/>
                  <a:sym typeface="Arial Bold Italics"/>
                </a:rPr>
                <a:t>Why avoid BinaryFormatter?</a:t>
              </a:r>
            </a:p>
          </p:txBody>
        </p:sp>
      </p:grpSp>
      <p:grpSp>
        <p:nvGrpSpPr>
          <p:cNvPr name="Group 16" id="16"/>
          <p:cNvGrpSpPr/>
          <p:nvPr/>
        </p:nvGrpSpPr>
        <p:grpSpPr>
          <a:xfrm rot="0">
            <a:off x="1234440" y="4869180"/>
            <a:ext cx="15773400" cy="4251960"/>
            <a:chOff x="0" y="0"/>
            <a:chExt cx="21031200" cy="5669280"/>
          </a:xfrm>
        </p:grpSpPr>
        <p:sp>
          <p:nvSpPr>
            <p:cNvPr name="Freeform 17" id="17"/>
            <p:cNvSpPr/>
            <p:nvPr/>
          </p:nvSpPr>
          <p:spPr>
            <a:xfrm flipH="false" flipV="false" rot="0">
              <a:off x="0" y="0"/>
              <a:ext cx="21031200" cy="5669280"/>
            </a:xfrm>
            <a:custGeom>
              <a:avLst/>
              <a:gdLst/>
              <a:ahLst/>
              <a:cxnLst/>
              <a:rect r="r" b="b" t="t" l="l"/>
              <a:pathLst>
                <a:path h="5669280" w="21031200">
                  <a:moveTo>
                    <a:pt x="0" y="182880"/>
                  </a:moveTo>
                  <a:cubicBezTo>
                    <a:pt x="0" y="81915"/>
                    <a:pt x="81915" y="0"/>
                    <a:pt x="182880" y="0"/>
                  </a:cubicBezTo>
                  <a:lnTo>
                    <a:pt x="20848320" y="0"/>
                  </a:lnTo>
                  <a:cubicBezTo>
                    <a:pt x="20949284" y="0"/>
                    <a:pt x="21031200" y="81915"/>
                    <a:pt x="21031200" y="182880"/>
                  </a:cubicBezTo>
                  <a:lnTo>
                    <a:pt x="21031200" y="5486400"/>
                  </a:lnTo>
                  <a:cubicBezTo>
                    <a:pt x="21031200" y="5587365"/>
                    <a:pt x="20949284" y="5669280"/>
                    <a:pt x="20848320" y="5669280"/>
                  </a:cubicBezTo>
                  <a:lnTo>
                    <a:pt x="182880" y="5669280"/>
                  </a:lnTo>
                  <a:cubicBezTo>
                    <a:pt x="81915" y="5669280"/>
                    <a:pt x="0" y="5587365"/>
                    <a:pt x="0" y="5486400"/>
                  </a:cubicBezTo>
                  <a:close/>
                </a:path>
              </a:pathLst>
            </a:custGeom>
            <a:solidFill>
              <a:srgbClr val="FFFFFF"/>
            </a:solidFill>
          </p:spPr>
        </p:sp>
      </p:grpSp>
      <p:sp>
        <p:nvSpPr>
          <p:cNvPr name="TextBox 18" id="18"/>
          <p:cNvSpPr txBox="true"/>
          <p:nvPr/>
        </p:nvSpPr>
        <p:spPr>
          <a:xfrm rot="0">
            <a:off x="1600200" y="4886325"/>
            <a:ext cx="1051560" cy="4189095"/>
          </a:xfrm>
          <a:prstGeom prst="rect">
            <a:avLst/>
          </a:prstGeom>
        </p:spPr>
        <p:txBody>
          <a:bodyPr anchor="t" rtlCol="false" tIns="0" lIns="0" bIns="0" rIns="0">
            <a:spAutoFit/>
          </a:bodyPr>
          <a:lstStyle/>
          <a:p>
            <a:pPr algn="ctr">
              <a:lnSpc>
                <a:spcPts val="6120"/>
              </a:lnSpc>
            </a:pPr>
            <a:r>
              <a:rPr lang="en-US" sz="5100" b="true">
                <a:solidFill>
                  <a:srgbClr val="512BD4"/>
                </a:solidFill>
                <a:latin typeface="Arial Bold"/>
                <a:ea typeface="Arial Bold"/>
                <a:cs typeface="Arial Bold"/>
                <a:sym typeface="Arial Bold"/>
              </a:rPr>
              <a:t>A</a:t>
            </a:r>
          </a:p>
        </p:txBody>
      </p:sp>
      <p:sp>
        <p:nvSpPr>
          <p:cNvPr name="TextBox 19" id="19"/>
          <p:cNvSpPr txBox="true"/>
          <p:nvPr/>
        </p:nvSpPr>
        <p:spPr>
          <a:xfrm rot="0">
            <a:off x="2903220" y="5074920"/>
            <a:ext cx="13738860" cy="2308860"/>
          </a:xfrm>
          <a:prstGeom prst="rect">
            <a:avLst/>
          </a:prstGeom>
        </p:spPr>
        <p:txBody>
          <a:bodyPr anchor="t" rtlCol="false" tIns="0" lIns="0" bIns="0" rIns="0">
            <a:spAutoFit/>
          </a:bodyPr>
          <a:lstStyle/>
          <a:p>
            <a:pPr algn="l">
              <a:lnSpc>
                <a:spcPts val="3600"/>
              </a:lnSpc>
            </a:pPr>
            <a:r>
              <a:rPr lang="en-US" sz="2400">
                <a:solidFill>
                  <a:srgbClr val="201A3A"/>
                </a:solidFill>
                <a:latin typeface="Calibri (MS)"/>
                <a:ea typeface="Calibri (MS)"/>
                <a:cs typeface="Calibri (MS)"/>
                <a:sym typeface="Calibri (MS)"/>
              </a:rPr>
              <a:t>Older .NET code sometimes uses BinaryFormatter for serialization. This is now considered obsolete and a security risk, and Microsoft has removed it from modern .NET entirely.</a:t>
            </a:r>
          </a:p>
          <a:p>
            <a:pPr algn="l">
              <a:lnSpc>
                <a:spcPts val="3600"/>
              </a:lnSpc>
            </a:pPr>
          </a:p>
          <a:p>
            <a:pPr algn="l">
              <a:lnSpc>
                <a:spcPts val="3600"/>
              </a:lnSpc>
            </a:pPr>
            <a:r>
              <a:rPr lang="en-US" sz="2400">
                <a:solidFill>
                  <a:srgbClr val="201A3A"/>
                </a:solidFill>
                <a:latin typeface="Calibri (MS)"/>
                <a:ea typeface="Calibri (MS)"/>
                <a:cs typeface="Calibri (MS)"/>
                <a:sym typeface="Calibri (MS)"/>
              </a:rPr>
              <a:t>Deserializing untrusted binary data with it is a well-known remote-code-execution vector, because it can reconstruct arbitrary types with arbitrary constructors straight from the byte stream.</a:t>
            </a:r>
          </a:p>
        </p:txBody>
      </p:sp>
      <p:grpSp>
        <p:nvGrpSpPr>
          <p:cNvPr name="Group 20" id="20"/>
          <p:cNvGrpSpPr/>
          <p:nvPr/>
        </p:nvGrpSpPr>
        <p:grpSpPr>
          <a:xfrm rot="0">
            <a:off x="17053103" y="9820656"/>
            <a:ext cx="685800" cy="411480"/>
            <a:chOff x="0" y="0"/>
            <a:chExt cx="914400" cy="548640"/>
          </a:xfrm>
        </p:grpSpPr>
        <p:sp>
          <p:nvSpPr>
            <p:cNvPr name="Freeform 21" id="2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2" id="22"/>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27</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2.8 CHOOSING A SERIALIZER</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System.Text.Json vs. Newtonsoft.Json</a:t>
              </a:r>
            </a:p>
          </p:txBody>
        </p:sp>
      </p:grpSp>
      <p:graphicFrame>
        <p:nvGraphicFramePr>
          <p:cNvPr name="Table 8" id="8"/>
          <p:cNvGraphicFramePr>
            <a:graphicFrameLocks noGrp="true"/>
          </p:cNvGraphicFramePr>
          <p:nvPr/>
        </p:nvGraphicFramePr>
        <p:xfrm>
          <a:off x="960120" y="2606040"/>
          <a:ext cx="16344900" cy="6858000"/>
        </p:xfrm>
        <a:graphic>
          <a:graphicData uri="http://schemas.openxmlformats.org/drawingml/2006/table">
            <a:tbl>
              <a:tblPr/>
              <a:tblGrid>
                <a:gridCol w="3425168"/>
                <a:gridCol w="6439315"/>
                <a:gridCol w="6480417"/>
              </a:tblGrid>
              <a:tr h="1371600">
                <a:tc>
                  <a:txBody>
                    <a:bodyPr anchor="t" rtlCol="false"/>
                    <a:lstStyle/>
                    <a:p>
                      <a:pPr algn="l">
                        <a:lnSpc>
                          <a:spcPts val="1679"/>
                        </a:lnSpc>
                        <a:defRPr/>
                      </a:pP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System.Text.Json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Newtonsoft.Json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r>
              <a:tr h="1371600">
                <a:tc>
                  <a:txBody>
                    <a:bodyPr anchor="t" rtlCol="false"/>
                    <a:lstStyle/>
                    <a:p>
                      <a:pPr algn="l">
                        <a:lnSpc>
                          <a:spcPts val="2520"/>
                        </a:lnSpc>
                        <a:defRPr/>
                      </a:pPr>
                      <a:r>
                        <a:rPr lang="en-US" sz="2100">
                          <a:solidFill>
                            <a:srgbClr val="201A3A"/>
                          </a:solidFill>
                          <a:latin typeface="Calibri (MS)"/>
                          <a:ea typeface="Calibri (MS)"/>
                          <a:cs typeface="Calibri (MS)"/>
                          <a:sym typeface="Calibri (MS)"/>
                        </a:rPr>
                        <a:t>Built 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Yes — part of the .NET base class library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No — third-party NuGet (still extremely widely used)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1371600">
                <a:tc>
                  <a:txBody>
                    <a:bodyPr anchor="t" rtlCol="false"/>
                    <a:lstStyle/>
                    <a:p>
                      <a:pPr algn="l">
                        <a:lnSpc>
                          <a:spcPts val="2520"/>
                        </a:lnSpc>
                        <a:defRPr/>
                      </a:pPr>
                      <a:r>
                        <a:rPr lang="en-US" sz="2100">
                          <a:solidFill>
                            <a:srgbClr val="201A3A"/>
                          </a:solidFill>
                          <a:latin typeface="Calibri (MS)"/>
                          <a:ea typeface="Calibri (MS)"/>
                          <a:cs typeface="Calibri (MS)"/>
                          <a:sym typeface="Calibri (MS)"/>
                        </a:rPr>
                        <a:t>Performance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Faster, lower allocations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Slower, more allocations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71600">
                <a:tc>
                  <a:txBody>
                    <a:bodyPr anchor="t" rtlCol="false"/>
                    <a:lstStyle/>
                    <a:p>
                      <a:pPr algn="l">
                        <a:lnSpc>
                          <a:spcPts val="2520"/>
                        </a:lnSpc>
                        <a:defRPr/>
                      </a:pPr>
                      <a:r>
                        <a:rPr lang="en-US" sz="2100">
                          <a:solidFill>
                            <a:srgbClr val="201A3A"/>
                          </a:solidFill>
                          <a:latin typeface="Calibri (MS)"/>
                          <a:ea typeface="Calibri (MS)"/>
                          <a:cs typeface="Calibri (MS)"/>
                          <a:sym typeface="Calibri (MS)"/>
                        </a:rPr>
                        <a:t>Feature maturity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Newer; catching up on edge cases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Older, extremely feature-rich, flexible converters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1371600">
                <a:tc>
                  <a:txBody>
                    <a:bodyPr anchor="t" rtlCol="false"/>
                    <a:lstStyle/>
                    <a:p>
                      <a:pPr algn="l">
                        <a:lnSpc>
                          <a:spcPts val="2520"/>
                        </a:lnSpc>
                        <a:defRPr/>
                      </a:pPr>
                      <a:r>
                        <a:rPr lang="en-US" sz="2100">
                          <a:solidFill>
                            <a:srgbClr val="201A3A"/>
                          </a:solidFill>
                          <a:latin typeface="Calibri (MS)"/>
                          <a:ea typeface="Calibri (MS)"/>
                          <a:cs typeface="Calibri (MS)"/>
                          <a:sym typeface="Calibri (MS)"/>
                        </a:rPr>
                        <a:t>Use when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New projects, performance-sensitive APIs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Legacy codebases, or a feature STJ doesn't (yet) support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17053103" y="9820656"/>
            <a:ext cx="685800" cy="411480"/>
            <a:chOff x="0" y="0"/>
            <a:chExt cx="914400" cy="548640"/>
          </a:xfrm>
        </p:grpSpPr>
        <p:sp>
          <p:nvSpPr>
            <p:cNvPr name="Freeform 10" id="1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1" id="1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28</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1316736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512BD4">
                <a:alpha val="17255"/>
              </a:srgbClr>
            </a:solidFill>
          </p:spPr>
        </p:sp>
      </p:grpSp>
      <p:grpSp>
        <p:nvGrpSpPr>
          <p:cNvPr name="Group 4" id="4"/>
          <p:cNvGrpSpPr/>
          <p:nvPr/>
        </p:nvGrpSpPr>
        <p:grpSpPr>
          <a:xfrm rot="0">
            <a:off x="1234440" y="3497580"/>
            <a:ext cx="8229600" cy="548640"/>
            <a:chOff x="0" y="0"/>
            <a:chExt cx="10972800" cy="731520"/>
          </a:xfrm>
        </p:grpSpPr>
        <p:sp>
          <p:nvSpPr>
            <p:cNvPr name="Freeform 5" id="5"/>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6" id="6"/>
            <p:cNvSpPr txBox="true"/>
            <p:nvPr/>
          </p:nvSpPr>
          <p:spPr>
            <a:xfrm>
              <a:off x="0" y="-47625"/>
              <a:ext cx="10972800" cy="779145"/>
            </a:xfrm>
            <a:prstGeom prst="rect">
              <a:avLst/>
            </a:prstGeom>
          </p:spPr>
          <p:txBody>
            <a:bodyPr anchor="ctr" rtlCol="false" tIns="0" lIns="0" bIns="0" rIns="0"/>
            <a:lstStyle/>
            <a:p>
              <a:pPr algn="l">
                <a:lnSpc>
                  <a:spcPts val="2340"/>
                </a:lnSpc>
              </a:pPr>
              <a:r>
                <a:rPr lang="en-US" b="true" sz="1950" spc="450">
                  <a:solidFill>
                    <a:srgbClr val="22D3EE"/>
                  </a:solidFill>
                  <a:latin typeface="Calibri (MS) Bold"/>
                  <a:ea typeface="Calibri (MS) Bold"/>
                  <a:cs typeface="Calibri (MS) Bold"/>
                  <a:sym typeface="Calibri (MS) Bold"/>
                </a:rPr>
                <a:t>SECTION 03 / 05</a:t>
              </a:r>
            </a:p>
          </p:txBody>
        </p:sp>
      </p:grpSp>
      <p:grpSp>
        <p:nvGrpSpPr>
          <p:cNvPr name="Group 7" id="7"/>
          <p:cNvGrpSpPr/>
          <p:nvPr/>
        </p:nvGrpSpPr>
        <p:grpSpPr>
          <a:xfrm rot="0">
            <a:off x="1165860" y="4114800"/>
            <a:ext cx="13030200" cy="1920240"/>
            <a:chOff x="0" y="0"/>
            <a:chExt cx="17373600" cy="2560320"/>
          </a:xfrm>
        </p:grpSpPr>
        <p:sp>
          <p:nvSpPr>
            <p:cNvPr name="Freeform 8" id="8"/>
            <p:cNvSpPr/>
            <p:nvPr/>
          </p:nvSpPr>
          <p:spPr>
            <a:xfrm flipH="false" flipV="false" rot="0">
              <a:off x="0" y="0"/>
              <a:ext cx="17373600" cy="2560320"/>
            </a:xfrm>
            <a:custGeom>
              <a:avLst/>
              <a:gdLst/>
              <a:ahLst/>
              <a:cxnLst/>
              <a:rect r="r" b="b" t="t" l="l"/>
              <a:pathLst>
                <a:path h="2560320" w="17373600">
                  <a:moveTo>
                    <a:pt x="0" y="0"/>
                  </a:moveTo>
                  <a:lnTo>
                    <a:pt x="17373600" y="0"/>
                  </a:lnTo>
                  <a:lnTo>
                    <a:pt x="17373600" y="2560320"/>
                  </a:lnTo>
                  <a:lnTo>
                    <a:pt x="0" y="2560320"/>
                  </a:lnTo>
                  <a:close/>
                </a:path>
              </a:pathLst>
            </a:custGeom>
            <a:blipFill>
              <a:blip r:embed="rId3">
                <a:alphaModFix amt="0"/>
              </a:blip>
              <a:stretch>
                <a:fillRect l="0" t="-82219" r="0" b="-82219"/>
              </a:stretch>
            </a:blipFill>
          </p:spPr>
        </p:sp>
        <p:sp>
          <p:nvSpPr>
            <p:cNvPr name="TextBox 9" id="9"/>
            <p:cNvSpPr txBox="true"/>
            <p:nvPr/>
          </p:nvSpPr>
          <p:spPr>
            <a:xfrm>
              <a:off x="0" y="-19050"/>
              <a:ext cx="17373600" cy="2579370"/>
            </a:xfrm>
            <a:prstGeom prst="rect">
              <a:avLst/>
            </a:prstGeom>
          </p:spPr>
          <p:txBody>
            <a:bodyPr anchor="ctr" rtlCol="false" tIns="0" lIns="0" bIns="0" rIns="0"/>
            <a:lstStyle/>
            <a:p>
              <a:pPr algn="l">
                <a:lnSpc>
                  <a:spcPts val="7559"/>
                </a:lnSpc>
              </a:pPr>
              <a:r>
                <a:rPr lang="en-US" sz="6300" b="true">
                  <a:solidFill>
                    <a:srgbClr val="FFFFFF"/>
                  </a:solidFill>
                  <a:latin typeface="Arial Bold"/>
                  <a:ea typeface="Arial Bold"/>
                  <a:cs typeface="Arial Bold"/>
                  <a:sym typeface="Arial Bold"/>
                </a:rPr>
                <a:t>Attributes</a:t>
              </a:r>
            </a:p>
          </p:txBody>
        </p:sp>
      </p:grpSp>
      <p:grpSp>
        <p:nvGrpSpPr>
          <p:cNvPr name="Group 10" id="10"/>
          <p:cNvGrpSpPr/>
          <p:nvPr/>
        </p:nvGrpSpPr>
        <p:grpSpPr>
          <a:xfrm rot="0">
            <a:off x="1234440" y="5966460"/>
            <a:ext cx="11795760" cy="1097280"/>
            <a:chOff x="0" y="0"/>
            <a:chExt cx="15727680" cy="1463040"/>
          </a:xfrm>
        </p:grpSpPr>
        <p:sp>
          <p:nvSpPr>
            <p:cNvPr name="Freeform 11" id="11"/>
            <p:cNvSpPr/>
            <p:nvPr/>
          </p:nvSpPr>
          <p:spPr>
            <a:xfrm flipH="false" flipV="false" rot="0">
              <a:off x="0" y="0"/>
              <a:ext cx="15727680" cy="1463040"/>
            </a:xfrm>
            <a:custGeom>
              <a:avLst/>
              <a:gdLst/>
              <a:ahLst/>
              <a:cxnLst/>
              <a:rect r="r" b="b" t="t" l="l"/>
              <a:pathLst>
                <a:path h="1463040" w="15727680">
                  <a:moveTo>
                    <a:pt x="0" y="0"/>
                  </a:moveTo>
                  <a:lnTo>
                    <a:pt x="15727680" y="0"/>
                  </a:lnTo>
                  <a:lnTo>
                    <a:pt x="15727680" y="1463040"/>
                  </a:lnTo>
                  <a:lnTo>
                    <a:pt x="0" y="1463040"/>
                  </a:lnTo>
                  <a:close/>
                </a:path>
              </a:pathLst>
            </a:custGeom>
            <a:blipFill>
              <a:blip r:embed="rId3">
                <a:alphaModFix amt="0"/>
              </a:blip>
              <a:stretch>
                <a:fillRect l="0" t="-159464" r="0" b="-159464"/>
              </a:stretch>
            </a:blipFill>
          </p:spPr>
        </p:sp>
        <p:sp>
          <p:nvSpPr>
            <p:cNvPr name="TextBox 12" id="12"/>
            <p:cNvSpPr txBox="true"/>
            <p:nvPr/>
          </p:nvSpPr>
          <p:spPr>
            <a:xfrm>
              <a:off x="0" y="-38100"/>
              <a:ext cx="15727680" cy="1501140"/>
            </a:xfrm>
            <a:prstGeom prst="rect">
              <a:avLst/>
            </a:prstGeom>
          </p:spPr>
          <p:txBody>
            <a:bodyPr anchor="ctr" rtlCol="false" tIns="0" lIns="0" bIns="0" rIns="0"/>
            <a:lstStyle/>
            <a:p>
              <a:pPr algn="l">
                <a:lnSpc>
                  <a:spcPts val="2879"/>
                </a:lnSpc>
              </a:pPr>
              <a:r>
                <a:rPr lang="en-US" sz="2400" i="true">
                  <a:solidFill>
                    <a:srgbClr val="C9BFEF"/>
                  </a:solidFill>
                  <a:latin typeface="Calibri (MS) Italics"/>
                  <a:ea typeface="Calibri (MS) Italics"/>
                  <a:cs typeface="Calibri (MS) Italics"/>
                  <a:sym typeface="Calibri (MS) Italics"/>
                </a:rPr>
                <a:t>Declarative metadata attached with [Brackets] — inert until something reads it.</a:t>
              </a:r>
            </a:p>
          </p:txBody>
        </p:sp>
      </p:grpSp>
      <p:grpSp>
        <p:nvGrpSpPr>
          <p:cNvPr name="Group 13" id="13"/>
          <p:cNvGrpSpPr/>
          <p:nvPr/>
        </p:nvGrpSpPr>
        <p:grpSpPr>
          <a:xfrm rot="0">
            <a:off x="1234440" y="7406640"/>
            <a:ext cx="192024" cy="192024"/>
            <a:chOff x="0" y="0"/>
            <a:chExt cx="256032" cy="256032"/>
          </a:xfrm>
        </p:grpSpPr>
        <p:sp>
          <p:nvSpPr>
            <p:cNvPr name="Freeform 14" id="14"/>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5" id="15"/>
          <p:cNvGrpSpPr/>
          <p:nvPr/>
        </p:nvGrpSpPr>
        <p:grpSpPr>
          <a:xfrm rot="0">
            <a:off x="1700784" y="7406640"/>
            <a:ext cx="192024" cy="192024"/>
            <a:chOff x="0" y="0"/>
            <a:chExt cx="256032" cy="256032"/>
          </a:xfrm>
        </p:grpSpPr>
        <p:sp>
          <p:nvSpPr>
            <p:cNvPr name="Freeform 16" id="16"/>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7" id="17"/>
          <p:cNvGrpSpPr/>
          <p:nvPr/>
        </p:nvGrpSpPr>
        <p:grpSpPr>
          <a:xfrm rot="0">
            <a:off x="2167128" y="7406640"/>
            <a:ext cx="192024" cy="192024"/>
            <a:chOff x="0" y="0"/>
            <a:chExt cx="256032" cy="256032"/>
          </a:xfrm>
        </p:grpSpPr>
        <p:sp>
          <p:nvSpPr>
            <p:cNvPr name="Freeform 18" id="1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EE"/>
            </a:solidFill>
          </p:spPr>
        </p:sp>
      </p:grpSp>
      <p:grpSp>
        <p:nvGrpSpPr>
          <p:cNvPr name="Group 19" id="19"/>
          <p:cNvGrpSpPr/>
          <p:nvPr/>
        </p:nvGrpSpPr>
        <p:grpSpPr>
          <a:xfrm rot="0">
            <a:off x="2633472" y="7406640"/>
            <a:ext cx="192024" cy="192024"/>
            <a:chOff x="0" y="0"/>
            <a:chExt cx="256032" cy="256032"/>
          </a:xfrm>
        </p:grpSpPr>
        <p:sp>
          <p:nvSpPr>
            <p:cNvPr name="Freeform 20" id="20"/>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1" id="21"/>
          <p:cNvGrpSpPr/>
          <p:nvPr/>
        </p:nvGrpSpPr>
        <p:grpSpPr>
          <a:xfrm rot="0">
            <a:off x="3099816" y="7406640"/>
            <a:ext cx="192024" cy="192024"/>
            <a:chOff x="0" y="0"/>
            <a:chExt cx="256032" cy="256032"/>
          </a:xfrm>
        </p:grpSpPr>
        <p:sp>
          <p:nvSpPr>
            <p:cNvPr name="Freeform 22" id="22"/>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29</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3.1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What Is an Attribute?</a:t>
              </a:r>
            </a:p>
          </p:txBody>
        </p:sp>
      </p:grpSp>
      <p:grpSp>
        <p:nvGrpSpPr>
          <p:cNvPr name="Group 8" id="8"/>
          <p:cNvGrpSpPr/>
          <p:nvPr/>
        </p:nvGrpSpPr>
        <p:grpSpPr>
          <a:xfrm rot="0">
            <a:off x="960120" y="2606040"/>
            <a:ext cx="7680960" cy="6858000"/>
            <a:chOff x="0" y="0"/>
            <a:chExt cx="10241280" cy="9144000"/>
          </a:xfrm>
        </p:grpSpPr>
        <p:sp>
          <p:nvSpPr>
            <p:cNvPr name="Freeform 9" id="9"/>
            <p:cNvSpPr/>
            <p:nvPr/>
          </p:nvSpPr>
          <p:spPr>
            <a:xfrm flipH="false" flipV="false" rot="0">
              <a:off x="0" y="0"/>
              <a:ext cx="10241280" cy="9144000"/>
            </a:xfrm>
            <a:custGeom>
              <a:avLst/>
              <a:gdLst/>
              <a:ahLst/>
              <a:cxnLst/>
              <a:rect r="r" b="b" t="t" l="l"/>
              <a:pathLst>
                <a:path h="9144000" w="10241280">
                  <a:moveTo>
                    <a:pt x="0" y="146304"/>
                  </a:moveTo>
                  <a:cubicBezTo>
                    <a:pt x="0" y="65532"/>
                    <a:pt x="65532" y="0"/>
                    <a:pt x="146304" y="0"/>
                  </a:cubicBezTo>
                  <a:lnTo>
                    <a:pt x="10094976" y="0"/>
                  </a:lnTo>
                  <a:cubicBezTo>
                    <a:pt x="10175748" y="0"/>
                    <a:pt x="10241280" y="65532"/>
                    <a:pt x="10241280" y="146304"/>
                  </a:cubicBezTo>
                  <a:lnTo>
                    <a:pt x="10241280" y="8997696"/>
                  </a:lnTo>
                  <a:cubicBezTo>
                    <a:pt x="10241280" y="9078468"/>
                    <a:pt x="10175748" y="9144000"/>
                    <a:pt x="1009497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6729984" cy="5991225"/>
          </a:xfrm>
          <a:prstGeom prst="rect">
            <a:avLst/>
          </a:prstGeom>
        </p:spPr>
        <p:txBody>
          <a:bodyPr anchor="t" rtlCol="false" tIns="0" lIns="0" bIns="0" rIns="0">
            <a:spAutoFit/>
          </a:bodyPr>
          <a:lstStyle/>
          <a:p>
            <a:pPr algn="l">
              <a:lnSpc>
                <a:spcPts val="2761"/>
              </a:lnSpc>
            </a:pPr>
            <a:r>
              <a:rPr lang="en-US" sz="1950">
                <a:solidFill>
                  <a:srgbClr val="D9D4F0"/>
                </a:solidFill>
                <a:latin typeface="Courier New"/>
                <a:ea typeface="Courier New"/>
                <a:cs typeface="Courier New"/>
                <a:sym typeface="Courier New"/>
              </a:rPr>
              <a:t>[Obsolete("Use CalculateBonus2 instead")]</a:t>
            </a:r>
          </a:p>
          <a:p>
            <a:pPr algn="l">
              <a:lnSpc>
                <a:spcPts val="2761"/>
              </a:lnSpc>
            </a:pPr>
            <a:r>
              <a:rPr lang="en-US" sz="1950">
                <a:solidFill>
                  <a:srgbClr val="D9D4F0"/>
                </a:solidFill>
                <a:latin typeface="Courier New"/>
                <a:ea typeface="Courier New"/>
                <a:cs typeface="Courier New"/>
                <a:sym typeface="Courier New"/>
              </a:rPr>
              <a:t>public decimal CalculateBonus(Employee emp) { /* ... */ }</a:t>
            </a:r>
          </a:p>
        </p:txBody>
      </p:sp>
      <p:grpSp>
        <p:nvGrpSpPr>
          <p:cNvPr name="Group 17" id="17"/>
          <p:cNvGrpSpPr/>
          <p:nvPr/>
        </p:nvGrpSpPr>
        <p:grpSpPr>
          <a:xfrm rot="0">
            <a:off x="912114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9555480" y="2593467"/>
            <a:ext cx="781766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Declarative metadata attached to a class, method, property, parameter, or assembly using [SquareBrackets].</a:t>
            </a:r>
          </a:p>
        </p:txBody>
      </p:sp>
      <p:grpSp>
        <p:nvGrpSpPr>
          <p:cNvPr name="Group 20" id="20"/>
          <p:cNvGrpSpPr/>
          <p:nvPr/>
        </p:nvGrpSpPr>
        <p:grpSpPr>
          <a:xfrm rot="0">
            <a:off x="9121140" y="404622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9555480" y="3896487"/>
            <a:ext cx="781766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By itself, an attribute does nothing. It doesn't run code or change runtime behavior.</a:t>
            </a:r>
          </a:p>
        </p:txBody>
      </p:sp>
      <p:grpSp>
        <p:nvGrpSpPr>
          <p:cNvPr name="Group 23" id="23"/>
          <p:cNvGrpSpPr/>
          <p:nvPr/>
        </p:nvGrpSpPr>
        <p:grpSpPr>
          <a:xfrm rot="0">
            <a:off x="9121140" y="534924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9555480" y="5199507"/>
            <a:ext cx="781766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It's purely data baked into the compiled assembly's metadata, waiting for something else — usually reflection — to read and act on it.</a:t>
            </a:r>
          </a:p>
        </p:txBody>
      </p:sp>
      <p:grpSp>
        <p:nvGrpSpPr>
          <p:cNvPr name="Group 26" id="26"/>
          <p:cNvGrpSpPr/>
          <p:nvPr/>
        </p:nvGrpSpPr>
        <p:grpSpPr>
          <a:xfrm rot="0">
            <a:off x="9121140" y="6652260"/>
            <a:ext cx="137160" cy="137160"/>
            <a:chOff x="0" y="0"/>
            <a:chExt cx="182880" cy="182880"/>
          </a:xfrm>
        </p:grpSpPr>
        <p:sp>
          <p:nvSpPr>
            <p:cNvPr name="Freeform 27" id="2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8" id="28"/>
          <p:cNvSpPr txBox="true"/>
          <p:nvPr/>
        </p:nvSpPr>
        <p:spPr>
          <a:xfrm rot="0">
            <a:off x="9555480" y="6502527"/>
            <a:ext cx="7817663" cy="17072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Key insight: [Obsolete] doesn't stop the method working — the compiler specifically looks for it and emits a warning. For your own attributes, nothing looks at them automatically; you write the reflection code.</a:t>
            </a:r>
          </a:p>
        </p:txBody>
      </p:sp>
      <p:grpSp>
        <p:nvGrpSpPr>
          <p:cNvPr name="Group 29" id="29"/>
          <p:cNvGrpSpPr/>
          <p:nvPr/>
        </p:nvGrpSpPr>
        <p:grpSpPr>
          <a:xfrm rot="0">
            <a:off x="17053103" y="9820656"/>
            <a:ext cx="685800" cy="411480"/>
            <a:chOff x="0" y="0"/>
            <a:chExt cx="914400" cy="548640"/>
          </a:xfrm>
        </p:grpSpPr>
        <p:sp>
          <p:nvSpPr>
            <p:cNvPr name="Freeform 30" id="3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1" id="3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30</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3.2 FAMILIAR EXAMPLES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Built-In Attributes You Already Know</a:t>
              </a:r>
            </a:p>
          </p:txBody>
        </p:sp>
      </p:grpSp>
      <p:graphicFrame>
        <p:nvGraphicFramePr>
          <p:cNvPr name="Table 8" id="8"/>
          <p:cNvGraphicFramePr>
            <a:graphicFrameLocks noGrp="true"/>
          </p:cNvGraphicFramePr>
          <p:nvPr/>
        </p:nvGraphicFramePr>
        <p:xfrm>
          <a:off x="960120" y="2606040"/>
          <a:ext cx="16344900" cy="6667500"/>
        </p:xfrm>
        <a:graphic>
          <a:graphicData uri="http://schemas.openxmlformats.org/drawingml/2006/table">
            <a:tbl>
              <a:tblPr/>
              <a:tblGrid>
                <a:gridCol w="3836188"/>
                <a:gridCol w="4932241"/>
                <a:gridCol w="7576471"/>
              </a:tblGrid>
              <a:tr h="9525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Attribute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What reads 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What it does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r>
              <a:tr h="952500">
                <a:tc>
                  <a:txBody>
                    <a:bodyPr anchor="t" rtlCol="false"/>
                    <a:lstStyle/>
                    <a:p>
                      <a:pPr algn="l">
                        <a:lnSpc>
                          <a:spcPts val="2520"/>
                        </a:lnSpc>
                        <a:defRPr/>
                      </a:pPr>
                      <a:r>
                        <a:rPr lang="en-US" sz="2100">
                          <a:solidFill>
                            <a:srgbClr val="201A3A"/>
                          </a:solidFill>
                          <a:latin typeface="Calibri (MS)"/>
                          <a:ea typeface="Calibri (MS)"/>
                          <a:cs typeface="Calibri (MS)"/>
                          <a:sym typeface="Calibri (MS)"/>
                        </a:rPr>
                        <a:t>[Obsolete]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The C# compiler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Emits a build warning (or error) when the member is used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952500">
                <a:tc>
                  <a:txBody>
                    <a:bodyPr anchor="t" rtlCol="false"/>
                    <a:lstStyle/>
                    <a:p>
                      <a:pPr algn="l">
                        <a:lnSpc>
                          <a:spcPts val="2520"/>
                        </a:lnSpc>
                        <a:defRPr/>
                      </a:pPr>
                      <a:r>
                        <a:rPr lang="en-US" sz="2100">
                          <a:solidFill>
                            <a:srgbClr val="201A3A"/>
                          </a:solidFill>
                          <a:latin typeface="Calibri (MS)"/>
                          <a:ea typeface="Calibri (MS)"/>
                          <a:cs typeface="Calibri (MS)"/>
                          <a:sym typeface="Calibri (MS)"/>
                        </a:rPr>
                        <a:t>[Serializable]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Legacy binary serializers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Marks a type eligible for binary serialization (mostly legacy)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952500">
                <a:tc>
                  <a:txBody>
                    <a:bodyPr anchor="t" rtlCol="false"/>
                    <a:lstStyle/>
                    <a:p>
                      <a:pPr algn="l">
                        <a:lnSpc>
                          <a:spcPts val="2520"/>
                        </a:lnSpc>
                        <a:defRPr/>
                      </a:pPr>
                      <a:r>
                        <a:rPr lang="en-US" sz="2100">
                          <a:solidFill>
                            <a:srgbClr val="201A3A"/>
                          </a:solidFill>
                          <a:latin typeface="Calibri (MS)"/>
                          <a:ea typeface="Calibri (MS)"/>
                          <a:cs typeface="Calibri (MS)"/>
                          <a:sym typeface="Calibri (MS)"/>
                        </a:rPr>
                        <a:t>[JsonPropertyName]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System.Text.Json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Maps a JSON key to a differently-named property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952500">
                <a:tc>
                  <a:txBody>
                    <a:bodyPr anchor="t" rtlCol="false"/>
                    <a:lstStyle/>
                    <a:p>
                      <a:pPr algn="l">
                        <a:lnSpc>
                          <a:spcPts val="2520"/>
                        </a:lnSpc>
                        <a:defRPr/>
                      </a:pPr>
                      <a:r>
                        <a:rPr lang="en-US" sz="2100">
                          <a:solidFill>
                            <a:srgbClr val="201A3A"/>
                          </a:solidFill>
                          <a:latin typeface="Calibri (MS)"/>
                          <a:ea typeface="Calibri (MS)"/>
                          <a:cs typeface="Calibri (MS)"/>
                          <a:sym typeface="Calibri (MS)"/>
                        </a:rPr>
                        <a:t>[Required], [Range]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ASP.NET Core model validation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Drives automatic input validation on request models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952500">
                <a:tc>
                  <a:txBody>
                    <a:bodyPr anchor="t" rtlCol="false"/>
                    <a:lstStyle/>
                    <a:p>
                      <a:pPr algn="l">
                        <a:lnSpc>
                          <a:spcPts val="2520"/>
                        </a:lnSpc>
                        <a:defRPr/>
                      </a:pPr>
                      <a:r>
                        <a:rPr lang="en-US" sz="2100">
                          <a:solidFill>
                            <a:srgbClr val="201A3A"/>
                          </a:solidFill>
                          <a:latin typeface="Calibri (MS)"/>
                          <a:ea typeface="Calibri (MS)"/>
                          <a:cs typeface="Calibri (MS)"/>
                          <a:sym typeface="Calibri (MS)"/>
                        </a:rPr>
                        <a:t>[HttpGet], [Route]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ASP.NET Core routing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Maps an HTTP request to a controller action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952500">
                <a:tc>
                  <a:txBody>
                    <a:bodyPr anchor="t" rtlCol="false"/>
                    <a:lstStyle/>
                    <a:p>
                      <a:pPr algn="l">
                        <a:lnSpc>
                          <a:spcPts val="2520"/>
                        </a:lnSpc>
                        <a:defRPr/>
                      </a:pPr>
                      <a:r>
                        <a:rPr lang="en-US" sz="2100">
                          <a:solidFill>
                            <a:srgbClr val="201A3A"/>
                          </a:solidFill>
                          <a:latin typeface="Calibri (MS)"/>
                          <a:ea typeface="Calibri (MS)"/>
                          <a:cs typeface="Calibri (MS)"/>
                          <a:sym typeface="Calibri (MS)"/>
                        </a:rPr>
                        <a:t>[Fact], [Test]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Test runners (xUnit, NUnit)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Marks a method as a test to discover and execute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17053103" y="9820656"/>
            <a:ext cx="685800" cy="411480"/>
            <a:chOff x="0" y="0"/>
            <a:chExt cx="914400" cy="548640"/>
          </a:xfrm>
        </p:grpSpPr>
        <p:sp>
          <p:nvSpPr>
            <p:cNvPr name="Freeform 10" id="1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1" id="1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31</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3.3 CUSTOM ATTRIBUTES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Defining a Custom Attribute</a:t>
              </a:r>
            </a:p>
          </p:txBody>
        </p:sp>
      </p:grpSp>
      <p:grpSp>
        <p:nvGrpSpPr>
          <p:cNvPr name="Group 8" id="8"/>
          <p:cNvGrpSpPr/>
          <p:nvPr/>
        </p:nvGrpSpPr>
        <p:grpSpPr>
          <a:xfrm rot="0">
            <a:off x="960120" y="2606040"/>
            <a:ext cx="9326880" cy="6858000"/>
            <a:chOff x="0" y="0"/>
            <a:chExt cx="12435840" cy="9144000"/>
          </a:xfrm>
        </p:grpSpPr>
        <p:sp>
          <p:nvSpPr>
            <p:cNvPr name="Freeform 9" id="9"/>
            <p:cNvSpPr/>
            <p:nvPr/>
          </p:nvSpPr>
          <p:spPr>
            <a:xfrm flipH="false" flipV="false" rot="0">
              <a:off x="0" y="0"/>
              <a:ext cx="12435840" cy="9144000"/>
            </a:xfrm>
            <a:custGeom>
              <a:avLst/>
              <a:gdLst/>
              <a:ahLst/>
              <a:cxnLst/>
              <a:rect r="r" b="b" t="t" l="l"/>
              <a:pathLst>
                <a:path h="9144000" w="12435840">
                  <a:moveTo>
                    <a:pt x="0" y="146304"/>
                  </a:moveTo>
                  <a:cubicBezTo>
                    <a:pt x="0" y="65532"/>
                    <a:pt x="65532" y="0"/>
                    <a:pt x="146304" y="0"/>
                  </a:cubicBezTo>
                  <a:lnTo>
                    <a:pt x="12289536" y="0"/>
                  </a:lnTo>
                  <a:cubicBezTo>
                    <a:pt x="12370308" y="0"/>
                    <a:pt x="12435840" y="65532"/>
                    <a:pt x="12435840" y="146304"/>
                  </a:cubicBezTo>
                  <a:lnTo>
                    <a:pt x="12435840" y="8997696"/>
                  </a:lnTo>
                  <a:cubicBezTo>
                    <a:pt x="12435840" y="9078468"/>
                    <a:pt x="12370308" y="9144000"/>
                    <a:pt x="1228953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375904" cy="5991225"/>
          </a:xfrm>
          <a:prstGeom prst="rect">
            <a:avLst/>
          </a:prstGeom>
        </p:spPr>
        <p:txBody>
          <a:bodyPr anchor="t" rtlCol="false" tIns="0" lIns="0" bIns="0" rIns="0">
            <a:spAutoFit/>
          </a:bodyPr>
          <a:lstStyle/>
          <a:p>
            <a:pPr algn="l">
              <a:lnSpc>
                <a:spcPts val="2548"/>
              </a:lnSpc>
            </a:pPr>
            <a:r>
              <a:rPr lang="en-US" sz="1800">
                <a:solidFill>
                  <a:srgbClr val="8B84AE"/>
                </a:solidFill>
                <a:latin typeface="Courier New"/>
                <a:ea typeface="Courier New"/>
                <a:cs typeface="Courier New"/>
                <a:sym typeface="Courier New"/>
              </a:rPr>
              <a:t>// Attributes are just classes that inherit from System.Attribute</a:t>
            </a:r>
          </a:p>
          <a:p>
            <a:pPr algn="l">
              <a:lnSpc>
                <a:spcPts val="2548"/>
              </a:lnSpc>
            </a:pPr>
            <a:r>
              <a:rPr lang="en-US" sz="1800">
                <a:solidFill>
                  <a:srgbClr val="D9D4F0"/>
                </a:solidFill>
                <a:latin typeface="Courier New"/>
                <a:ea typeface="Courier New"/>
                <a:cs typeface="Courier New"/>
                <a:sym typeface="Courier New"/>
              </a:rPr>
              <a:t>[AttributeUsage(AttributeTargets.Property, AllowMultiple = false)]</a:t>
            </a:r>
          </a:p>
          <a:p>
            <a:pPr algn="l">
              <a:lnSpc>
                <a:spcPts val="2548"/>
              </a:lnSpc>
            </a:pPr>
            <a:r>
              <a:rPr lang="en-US" sz="1800">
                <a:solidFill>
                  <a:srgbClr val="D9D4F0"/>
                </a:solidFill>
                <a:latin typeface="Courier New"/>
                <a:ea typeface="Courier New"/>
                <a:cs typeface="Courier New"/>
                <a:sym typeface="Courier New"/>
              </a:rPr>
              <a:t>public class ColumnNameAttribute : Attribute</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public string Name { get; }</a:t>
            </a:r>
          </a:p>
          <a:p>
            <a:pPr algn="l">
              <a:lnSpc>
                <a:spcPts val="2548"/>
              </a:lnSpc>
            </a:pPr>
          </a:p>
          <a:p>
            <a:pPr algn="l">
              <a:lnSpc>
                <a:spcPts val="2548"/>
              </a:lnSpc>
            </a:pPr>
            <a:r>
              <a:rPr lang="en-US" sz="1800">
                <a:solidFill>
                  <a:srgbClr val="8B84AE"/>
                </a:solidFill>
                <a:latin typeface="Courier New"/>
                <a:ea typeface="Courier New"/>
                <a:cs typeface="Courier New"/>
                <a:sym typeface="Courier New"/>
              </a:rPr>
              <a:t>    // Attribute "arguments" are just constructor arguments</a:t>
            </a:r>
          </a:p>
          <a:p>
            <a:pPr algn="l">
              <a:lnSpc>
                <a:spcPts val="2548"/>
              </a:lnSpc>
            </a:pPr>
            <a:r>
              <a:rPr lang="en-US" sz="1800">
                <a:solidFill>
                  <a:srgbClr val="D9D4F0"/>
                </a:solidFill>
                <a:latin typeface="Courier New"/>
                <a:ea typeface="Courier New"/>
                <a:cs typeface="Courier New"/>
                <a:sym typeface="Courier New"/>
              </a:rPr>
              <a:t>    public ColumnNameAttribute(string name) =&gt; Name = name;</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p>
          <a:p>
            <a:pPr algn="l">
              <a:lnSpc>
                <a:spcPts val="2548"/>
              </a:lnSpc>
            </a:pPr>
            <a:r>
              <a:rPr lang="en-US" sz="1800">
                <a:solidFill>
                  <a:srgbClr val="D9D4F0"/>
                </a:solidFill>
                <a:latin typeface="Courier New"/>
                <a:ea typeface="Courier New"/>
                <a:cs typeface="Courier New"/>
                <a:sym typeface="Courier New"/>
              </a:rPr>
              <a:t>public class Player</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[ColumnName("player_name")]</a:t>
            </a:r>
          </a:p>
          <a:p>
            <a:pPr algn="l">
              <a:lnSpc>
                <a:spcPts val="2548"/>
              </a:lnSpc>
            </a:pPr>
            <a:r>
              <a:rPr lang="en-US" sz="1800">
                <a:solidFill>
                  <a:srgbClr val="D9D4F0"/>
                </a:solidFill>
                <a:latin typeface="Courier New"/>
                <a:ea typeface="Courier New"/>
                <a:cs typeface="Courier New"/>
                <a:sym typeface="Courier New"/>
              </a:rPr>
              <a:t>    public string Name { get; set; }</a:t>
            </a:r>
          </a:p>
          <a:p>
            <a:pPr algn="l">
              <a:lnSpc>
                <a:spcPts val="2548"/>
              </a:lnSpc>
            </a:pPr>
          </a:p>
          <a:p>
            <a:pPr algn="l">
              <a:lnSpc>
                <a:spcPts val="2548"/>
              </a:lnSpc>
            </a:pPr>
            <a:r>
              <a:rPr lang="en-US" sz="1800">
                <a:solidFill>
                  <a:srgbClr val="D9D4F0"/>
                </a:solidFill>
                <a:latin typeface="Courier New"/>
                <a:ea typeface="Courier New"/>
                <a:cs typeface="Courier New"/>
                <a:sym typeface="Courier New"/>
              </a:rPr>
              <a:t>    [ColumnName("jersey_no")]</a:t>
            </a:r>
          </a:p>
          <a:p>
            <a:pPr algn="l">
              <a:lnSpc>
                <a:spcPts val="2548"/>
              </a:lnSpc>
            </a:pPr>
            <a:r>
              <a:rPr lang="en-US" sz="1800">
                <a:solidFill>
                  <a:srgbClr val="D9D4F0"/>
                </a:solidFill>
                <a:latin typeface="Courier New"/>
                <a:ea typeface="Courier New"/>
                <a:cs typeface="Courier New"/>
                <a:sym typeface="Courier New"/>
              </a:rPr>
              <a:t>    public int JerseyNumber { get; set; }</a:t>
            </a:r>
          </a:p>
          <a:p>
            <a:pPr algn="l">
              <a:lnSpc>
                <a:spcPts val="2548"/>
              </a:lnSpc>
            </a:pPr>
            <a:r>
              <a:rPr lang="en-US" sz="1800">
                <a:solidFill>
                  <a:srgbClr val="D9D4F0"/>
                </a:solidFill>
                <a:latin typeface="Courier New"/>
                <a:ea typeface="Courier New"/>
                <a:cs typeface="Courier New"/>
                <a:sym typeface="Courier New"/>
              </a:rPr>
              <a:t>}</a:t>
            </a:r>
          </a:p>
        </p:txBody>
      </p:sp>
      <p:grpSp>
        <p:nvGrpSpPr>
          <p:cNvPr name="Group 17" id="17"/>
          <p:cNvGrpSpPr/>
          <p:nvPr/>
        </p:nvGrpSpPr>
        <p:grpSpPr>
          <a:xfrm rot="0">
            <a:off x="1076706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201400" y="2593467"/>
            <a:ext cx="617174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That's the whole trick: inherit from System.Attribute.</a:t>
            </a:r>
          </a:p>
        </p:txBody>
      </p:sp>
      <p:grpSp>
        <p:nvGrpSpPr>
          <p:cNvPr name="Group 20" id="20"/>
          <p:cNvGrpSpPr/>
          <p:nvPr/>
        </p:nvGrpSpPr>
        <p:grpSpPr>
          <a:xfrm rot="0">
            <a:off x="10767060" y="459486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201400" y="4445127"/>
            <a:ext cx="617174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AttributeUsage controls where it's legal and whether it can repeat: Class | Method targets, AllowMultiple, Inherited.</a:t>
            </a:r>
          </a:p>
        </p:txBody>
      </p:sp>
      <p:grpSp>
        <p:nvGrpSpPr>
          <p:cNvPr name="Group 23" id="23"/>
          <p:cNvGrpSpPr/>
          <p:nvPr/>
        </p:nvGrpSpPr>
        <p:grpSpPr>
          <a:xfrm rot="0">
            <a:off x="10767060" y="644652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1201400" y="6296787"/>
            <a:ext cx="617174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Common AttributeTargets: Class, Method, Property, Field, Parameter, Constructor, Assembly, All.</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32</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22D3EE"/>
                  </a:solidFill>
                  <a:latin typeface="Calibri (MS) Bold"/>
                  <a:ea typeface="Calibri (MS) Bold"/>
                  <a:cs typeface="Calibri (MS) Bold"/>
                  <a:sym typeface="Calibri (MS) Bold"/>
                </a:rPr>
                <a:t>3.5 THE CORE IDEA</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Attributes Alone Do Nothing — The Key Insight</a:t>
              </a:r>
            </a:p>
          </p:txBody>
        </p:sp>
      </p:grpSp>
      <p:grpSp>
        <p:nvGrpSpPr>
          <p:cNvPr name="Group 8" id="8"/>
          <p:cNvGrpSpPr/>
          <p:nvPr/>
        </p:nvGrpSpPr>
        <p:grpSpPr>
          <a:xfrm rot="0">
            <a:off x="1222534" y="2868454"/>
            <a:ext cx="15797212" cy="1601152"/>
            <a:chOff x="0" y="0"/>
            <a:chExt cx="21062950" cy="2134870"/>
          </a:xfrm>
        </p:grpSpPr>
        <p:sp>
          <p:nvSpPr>
            <p:cNvPr name="Freeform 9" id="9"/>
            <p:cNvSpPr/>
            <p:nvPr/>
          </p:nvSpPr>
          <p:spPr>
            <a:xfrm flipH="false" flipV="false" rot="0">
              <a:off x="0" y="0"/>
              <a:ext cx="21062950" cy="2134870"/>
            </a:xfrm>
            <a:custGeom>
              <a:avLst/>
              <a:gdLst/>
              <a:ahLst/>
              <a:cxnLst/>
              <a:rect r="r" b="b" t="t" l="l"/>
              <a:pathLst>
                <a:path h="2134870" w="21062950">
                  <a:moveTo>
                    <a:pt x="0" y="185674"/>
                  </a:moveTo>
                  <a:cubicBezTo>
                    <a:pt x="0" y="83058"/>
                    <a:pt x="83058" y="0"/>
                    <a:pt x="185674" y="0"/>
                  </a:cubicBezTo>
                  <a:lnTo>
                    <a:pt x="20877276" y="0"/>
                  </a:lnTo>
                  <a:cubicBezTo>
                    <a:pt x="20979764" y="0"/>
                    <a:pt x="21062950" y="83058"/>
                    <a:pt x="21062950" y="185674"/>
                  </a:cubicBezTo>
                  <a:lnTo>
                    <a:pt x="21062950" y="1949196"/>
                  </a:lnTo>
                  <a:cubicBezTo>
                    <a:pt x="21062950" y="2051685"/>
                    <a:pt x="20979892" y="2134870"/>
                    <a:pt x="20877276" y="2134870"/>
                  </a:cubicBezTo>
                  <a:lnTo>
                    <a:pt x="185674" y="2134870"/>
                  </a:lnTo>
                  <a:cubicBezTo>
                    <a:pt x="83058" y="2134870"/>
                    <a:pt x="0" y="2051812"/>
                    <a:pt x="0" y="1949196"/>
                  </a:cubicBezTo>
                  <a:close/>
                </a:path>
              </a:pathLst>
            </a:custGeom>
            <a:solidFill>
              <a:srgbClr val="241659"/>
            </a:solidFill>
            <a:ln w="23812" cap="sq">
              <a:solidFill>
                <a:srgbClr val="22D3EE"/>
              </a:solidFill>
              <a:prstDash val="solid"/>
              <a:miter/>
            </a:ln>
          </p:spPr>
        </p:sp>
      </p:grpSp>
      <p:grpSp>
        <p:nvGrpSpPr>
          <p:cNvPr name="Group 10" id="10"/>
          <p:cNvGrpSpPr/>
          <p:nvPr/>
        </p:nvGrpSpPr>
        <p:grpSpPr>
          <a:xfrm rot="0">
            <a:off x="1508760" y="2880360"/>
            <a:ext cx="1234440" cy="1577340"/>
            <a:chOff x="0" y="0"/>
            <a:chExt cx="1645920" cy="2103120"/>
          </a:xfrm>
        </p:grpSpPr>
        <p:sp>
          <p:nvSpPr>
            <p:cNvPr name="Freeform 11" id="11"/>
            <p:cNvSpPr/>
            <p:nvPr/>
          </p:nvSpPr>
          <p:spPr>
            <a:xfrm flipH="false" flipV="false" rot="0">
              <a:off x="0" y="0"/>
              <a:ext cx="1645920" cy="2103120"/>
            </a:xfrm>
            <a:custGeom>
              <a:avLst/>
              <a:gdLst/>
              <a:ahLst/>
              <a:cxnLst/>
              <a:rect r="r" b="b" t="t" l="l"/>
              <a:pathLst>
                <a:path h="2103120" w="1645920">
                  <a:moveTo>
                    <a:pt x="0" y="0"/>
                  </a:moveTo>
                  <a:lnTo>
                    <a:pt x="1645920" y="0"/>
                  </a:lnTo>
                  <a:lnTo>
                    <a:pt x="1645920" y="2103120"/>
                  </a:lnTo>
                  <a:lnTo>
                    <a:pt x="0" y="2103120"/>
                  </a:lnTo>
                  <a:close/>
                </a:path>
              </a:pathLst>
            </a:custGeom>
            <a:blipFill>
              <a:blip r:embed="rId3">
                <a:alphaModFix amt="0"/>
              </a:blip>
              <a:stretch>
                <a:fillRect l="-113943" t="0" r="-113943" b="0"/>
              </a:stretch>
            </a:blipFill>
          </p:spPr>
        </p:sp>
        <p:sp>
          <p:nvSpPr>
            <p:cNvPr name="TextBox 12" id="12"/>
            <p:cNvSpPr txBox="true"/>
            <p:nvPr/>
          </p:nvSpPr>
          <p:spPr>
            <a:xfrm>
              <a:off x="0" y="-28575"/>
              <a:ext cx="1645920" cy="213169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Q</a:t>
              </a:r>
            </a:p>
          </p:txBody>
        </p:sp>
      </p:grpSp>
      <p:grpSp>
        <p:nvGrpSpPr>
          <p:cNvPr name="Group 13" id="13"/>
          <p:cNvGrpSpPr/>
          <p:nvPr/>
        </p:nvGrpSpPr>
        <p:grpSpPr>
          <a:xfrm rot="0">
            <a:off x="2811780" y="2880360"/>
            <a:ext cx="13921740" cy="1577340"/>
            <a:chOff x="0" y="0"/>
            <a:chExt cx="18562320" cy="2103120"/>
          </a:xfrm>
        </p:grpSpPr>
        <p:sp>
          <p:nvSpPr>
            <p:cNvPr name="Freeform 14" id="14"/>
            <p:cNvSpPr/>
            <p:nvPr/>
          </p:nvSpPr>
          <p:spPr>
            <a:xfrm flipH="false" flipV="false" rot="0">
              <a:off x="0" y="0"/>
              <a:ext cx="18562320" cy="2103120"/>
            </a:xfrm>
            <a:custGeom>
              <a:avLst/>
              <a:gdLst/>
              <a:ahLst/>
              <a:cxnLst/>
              <a:rect r="r" b="b" t="t" l="l"/>
              <a:pathLst>
                <a:path h="2103120" w="18562320">
                  <a:moveTo>
                    <a:pt x="0" y="0"/>
                  </a:moveTo>
                  <a:lnTo>
                    <a:pt x="18562320" y="0"/>
                  </a:lnTo>
                  <a:lnTo>
                    <a:pt x="18562320" y="2103120"/>
                  </a:lnTo>
                  <a:lnTo>
                    <a:pt x="0" y="2103120"/>
                  </a:lnTo>
                  <a:close/>
                </a:path>
              </a:pathLst>
            </a:custGeom>
            <a:blipFill>
              <a:blip r:embed="rId3">
                <a:alphaModFix amt="0"/>
              </a:blip>
              <a:stretch>
                <a:fillRect l="0" t="-121976" r="0" b="-121976"/>
              </a:stretch>
            </a:blipFill>
          </p:spPr>
        </p:sp>
        <p:sp>
          <p:nvSpPr>
            <p:cNvPr name="TextBox 15" id="15"/>
            <p:cNvSpPr txBox="true"/>
            <p:nvPr/>
          </p:nvSpPr>
          <p:spPr>
            <a:xfrm>
              <a:off x="0" y="-9525"/>
              <a:ext cx="18562320" cy="2112645"/>
            </a:xfrm>
            <a:prstGeom prst="rect">
              <a:avLst/>
            </a:prstGeom>
          </p:spPr>
          <p:txBody>
            <a:bodyPr anchor="ctr" rtlCol="false" tIns="0" lIns="0" bIns="0" rIns="0"/>
            <a:lstStyle/>
            <a:p>
              <a:pPr algn="l">
                <a:lnSpc>
                  <a:spcPts val="3060"/>
                </a:lnSpc>
              </a:pPr>
              <a:r>
                <a:rPr lang="en-US" b="true" sz="2550" i="true">
                  <a:solidFill>
                    <a:srgbClr val="FFFFFF"/>
                  </a:solidFill>
                  <a:latin typeface="Arial Bold Italics"/>
                  <a:ea typeface="Arial Bold Italics"/>
                  <a:cs typeface="Arial Bold Italics"/>
                  <a:sym typeface="Arial Bold Italics"/>
                </a:rPr>
                <a:t>So what does [ColumnName("player_name")] actually change?</a:t>
              </a:r>
            </a:p>
          </p:txBody>
        </p:sp>
      </p:grpSp>
      <p:grpSp>
        <p:nvGrpSpPr>
          <p:cNvPr name="Group 16" id="16"/>
          <p:cNvGrpSpPr/>
          <p:nvPr/>
        </p:nvGrpSpPr>
        <p:grpSpPr>
          <a:xfrm rot="0">
            <a:off x="1234440" y="4869180"/>
            <a:ext cx="15773400" cy="4251960"/>
            <a:chOff x="0" y="0"/>
            <a:chExt cx="21031200" cy="5669280"/>
          </a:xfrm>
        </p:grpSpPr>
        <p:sp>
          <p:nvSpPr>
            <p:cNvPr name="Freeform 17" id="17"/>
            <p:cNvSpPr/>
            <p:nvPr/>
          </p:nvSpPr>
          <p:spPr>
            <a:xfrm flipH="false" flipV="false" rot="0">
              <a:off x="0" y="0"/>
              <a:ext cx="21031200" cy="5669280"/>
            </a:xfrm>
            <a:custGeom>
              <a:avLst/>
              <a:gdLst/>
              <a:ahLst/>
              <a:cxnLst/>
              <a:rect r="r" b="b" t="t" l="l"/>
              <a:pathLst>
                <a:path h="5669280" w="21031200">
                  <a:moveTo>
                    <a:pt x="0" y="182880"/>
                  </a:moveTo>
                  <a:cubicBezTo>
                    <a:pt x="0" y="81915"/>
                    <a:pt x="81915" y="0"/>
                    <a:pt x="182880" y="0"/>
                  </a:cubicBezTo>
                  <a:lnTo>
                    <a:pt x="20848320" y="0"/>
                  </a:lnTo>
                  <a:cubicBezTo>
                    <a:pt x="20949284" y="0"/>
                    <a:pt x="21031200" y="81915"/>
                    <a:pt x="21031200" y="182880"/>
                  </a:cubicBezTo>
                  <a:lnTo>
                    <a:pt x="21031200" y="5486400"/>
                  </a:lnTo>
                  <a:cubicBezTo>
                    <a:pt x="21031200" y="5587365"/>
                    <a:pt x="20949284" y="5669280"/>
                    <a:pt x="20848320" y="5669280"/>
                  </a:cubicBezTo>
                  <a:lnTo>
                    <a:pt x="182880" y="5669280"/>
                  </a:lnTo>
                  <a:cubicBezTo>
                    <a:pt x="81915" y="5669280"/>
                    <a:pt x="0" y="5587365"/>
                    <a:pt x="0" y="5486400"/>
                  </a:cubicBezTo>
                  <a:close/>
                </a:path>
              </a:pathLst>
            </a:custGeom>
            <a:solidFill>
              <a:srgbClr val="FFFFFF"/>
            </a:solidFill>
          </p:spPr>
        </p:sp>
      </p:grpSp>
      <p:sp>
        <p:nvSpPr>
          <p:cNvPr name="TextBox 18" id="18"/>
          <p:cNvSpPr txBox="true"/>
          <p:nvPr/>
        </p:nvSpPr>
        <p:spPr>
          <a:xfrm rot="0">
            <a:off x="1600200" y="4886325"/>
            <a:ext cx="1051560" cy="4189095"/>
          </a:xfrm>
          <a:prstGeom prst="rect">
            <a:avLst/>
          </a:prstGeom>
        </p:spPr>
        <p:txBody>
          <a:bodyPr anchor="t" rtlCol="false" tIns="0" lIns="0" bIns="0" rIns="0">
            <a:spAutoFit/>
          </a:bodyPr>
          <a:lstStyle/>
          <a:p>
            <a:pPr algn="ctr">
              <a:lnSpc>
                <a:spcPts val="6120"/>
              </a:lnSpc>
            </a:pPr>
            <a:r>
              <a:rPr lang="en-US" sz="5100" b="true">
                <a:solidFill>
                  <a:srgbClr val="512BD4"/>
                </a:solidFill>
                <a:latin typeface="Arial Bold"/>
                <a:ea typeface="Arial Bold"/>
                <a:cs typeface="Arial Bold"/>
                <a:sym typeface="Arial Bold"/>
              </a:rPr>
              <a:t>A</a:t>
            </a:r>
          </a:p>
        </p:txBody>
      </p:sp>
      <p:sp>
        <p:nvSpPr>
          <p:cNvPr name="TextBox 19" id="19"/>
          <p:cNvSpPr txBox="true"/>
          <p:nvPr/>
        </p:nvSpPr>
        <p:spPr>
          <a:xfrm rot="0">
            <a:off x="2903220" y="5074920"/>
            <a:ext cx="13738860" cy="2308860"/>
          </a:xfrm>
          <a:prstGeom prst="rect">
            <a:avLst/>
          </a:prstGeom>
        </p:spPr>
        <p:txBody>
          <a:bodyPr anchor="t" rtlCol="false" tIns="0" lIns="0" bIns="0" rIns="0">
            <a:spAutoFit/>
          </a:bodyPr>
          <a:lstStyle/>
          <a:p>
            <a:pPr algn="l">
              <a:lnSpc>
                <a:spcPts val="3600"/>
              </a:lnSpc>
            </a:pPr>
            <a:r>
              <a:rPr lang="en-US" sz="2400">
                <a:solidFill>
                  <a:srgbClr val="201A3A"/>
                </a:solidFill>
                <a:latin typeface="Calibri (MS)"/>
                <a:ea typeface="Calibri (MS)"/>
                <a:cs typeface="Calibri (MS)"/>
                <a:sym typeface="Calibri (MS)"/>
              </a:rPr>
              <a:t>Nothing about how that property behaves. No validation runs. No mapping happens.</a:t>
            </a:r>
          </a:p>
          <a:p>
            <a:pPr algn="l">
              <a:lnSpc>
                <a:spcPts val="3600"/>
              </a:lnSpc>
            </a:pPr>
          </a:p>
          <a:p>
            <a:pPr algn="l">
              <a:lnSpc>
                <a:spcPts val="3600"/>
              </a:lnSpc>
            </a:pPr>
            <a:r>
              <a:rPr lang="en-US" sz="2400">
                <a:solidFill>
                  <a:srgbClr val="201A3A"/>
                </a:solidFill>
                <a:latin typeface="Calibri (MS)"/>
                <a:ea typeface="Calibri (MS)"/>
                <a:cs typeface="Calibri (MS)"/>
                <a:sym typeface="Calibri (MS)"/>
              </a:rPr>
              <a:t>It's inert metadata sitting in the compiled assembly — exactly like a comment, except a comment is stripped at compile time and an attribute survives into the compiled binary, where it can be read back out at runtime. That's the entire value proposition, and it's the most common gap in a junior engineer's understanding.</a:t>
            </a:r>
          </a:p>
        </p:txBody>
      </p:sp>
      <p:grpSp>
        <p:nvGrpSpPr>
          <p:cNvPr name="Group 20" id="20"/>
          <p:cNvGrpSpPr/>
          <p:nvPr/>
        </p:nvGrpSpPr>
        <p:grpSpPr>
          <a:xfrm rot="0">
            <a:off x="17053103" y="9820656"/>
            <a:ext cx="685800" cy="411480"/>
            <a:chOff x="0" y="0"/>
            <a:chExt cx="914400" cy="548640"/>
          </a:xfrm>
        </p:grpSpPr>
        <p:sp>
          <p:nvSpPr>
            <p:cNvPr name="Freeform 21" id="2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2" id="22"/>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33</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3.6 ATTRIBUTES + REFLECTION</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Reading Attributes with Reflection</a:t>
              </a:r>
            </a:p>
          </p:txBody>
        </p:sp>
      </p:grpSp>
      <p:grpSp>
        <p:nvGrpSpPr>
          <p:cNvPr name="Group 8" id="8"/>
          <p:cNvGrpSpPr/>
          <p:nvPr/>
        </p:nvGrpSpPr>
        <p:grpSpPr>
          <a:xfrm rot="0">
            <a:off x="960120" y="2606040"/>
            <a:ext cx="9326880" cy="6858000"/>
            <a:chOff x="0" y="0"/>
            <a:chExt cx="12435840" cy="9144000"/>
          </a:xfrm>
        </p:grpSpPr>
        <p:sp>
          <p:nvSpPr>
            <p:cNvPr name="Freeform 9" id="9"/>
            <p:cNvSpPr/>
            <p:nvPr/>
          </p:nvSpPr>
          <p:spPr>
            <a:xfrm flipH="false" flipV="false" rot="0">
              <a:off x="0" y="0"/>
              <a:ext cx="12435840" cy="9144000"/>
            </a:xfrm>
            <a:custGeom>
              <a:avLst/>
              <a:gdLst/>
              <a:ahLst/>
              <a:cxnLst/>
              <a:rect r="r" b="b" t="t" l="l"/>
              <a:pathLst>
                <a:path h="9144000" w="12435840">
                  <a:moveTo>
                    <a:pt x="0" y="146304"/>
                  </a:moveTo>
                  <a:cubicBezTo>
                    <a:pt x="0" y="65532"/>
                    <a:pt x="65532" y="0"/>
                    <a:pt x="146304" y="0"/>
                  </a:cubicBezTo>
                  <a:lnTo>
                    <a:pt x="12289536" y="0"/>
                  </a:lnTo>
                  <a:cubicBezTo>
                    <a:pt x="12370308" y="0"/>
                    <a:pt x="12435840" y="65532"/>
                    <a:pt x="12435840" y="146304"/>
                  </a:cubicBezTo>
                  <a:lnTo>
                    <a:pt x="12435840" y="8997696"/>
                  </a:lnTo>
                  <a:cubicBezTo>
                    <a:pt x="12435840" y="9078468"/>
                    <a:pt x="12370308" y="9144000"/>
                    <a:pt x="1228953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375904" cy="5991225"/>
          </a:xfrm>
          <a:prstGeom prst="rect">
            <a:avLst/>
          </a:prstGeom>
        </p:spPr>
        <p:txBody>
          <a:bodyPr anchor="t" rtlCol="false" tIns="0" lIns="0" bIns="0" rIns="0">
            <a:spAutoFit/>
          </a:bodyPr>
          <a:lstStyle/>
          <a:p>
            <a:pPr algn="l">
              <a:lnSpc>
                <a:spcPts val="2654"/>
              </a:lnSpc>
            </a:pPr>
            <a:r>
              <a:rPr lang="en-US" sz="1875">
                <a:solidFill>
                  <a:srgbClr val="D9D4F0"/>
                </a:solidFill>
                <a:latin typeface="Courier New"/>
                <a:ea typeface="Courier New"/>
                <a:cs typeface="Courier New"/>
                <a:sym typeface="Courier New"/>
              </a:rPr>
              <a:t>public static Dictionary&lt;string, string&gt; GetColumnMappings(Type type)</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r>
              <a:rPr lang="en-US" sz="1875">
                <a:solidFill>
                  <a:srgbClr val="D9D4F0"/>
                </a:solidFill>
                <a:latin typeface="Courier New"/>
                <a:ea typeface="Courier New"/>
                <a:cs typeface="Courier New"/>
                <a:sym typeface="Courier New"/>
              </a:rPr>
              <a:t>    var mappings = new Dictionary&lt;string, string&gt;();</a:t>
            </a:r>
          </a:p>
          <a:p>
            <a:pPr algn="l">
              <a:lnSpc>
                <a:spcPts val="2654"/>
              </a:lnSpc>
            </a:pPr>
            <a:r>
              <a:rPr lang="en-US" sz="1875">
                <a:solidFill>
                  <a:srgbClr val="D9D4F0"/>
                </a:solidFill>
                <a:latin typeface="Courier New"/>
                <a:ea typeface="Courier New"/>
                <a:cs typeface="Courier New"/>
                <a:sym typeface="Courier New"/>
              </a:rPr>
              <a:t>    foreach (PropertyInfo property in type.GetProperties())</a:t>
            </a:r>
          </a:p>
          <a:p>
            <a:pPr algn="l">
              <a:lnSpc>
                <a:spcPts val="2654"/>
              </a:lnSpc>
            </a:pPr>
            <a:r>
              <a:rPr lang="en-US" sz="1875">
                <a:solidFill>
                  <a:srgbClr val="D9D4F0"/>
                </a:solidFill>
                <a:latin typeface="Courier New"/>
                <a:ea typeface="Courier New"/>
                <a:cs typeface="Courier New"/>
                <a:sym typeface="Courier New"/>
              </a:rPr>
              <a:t>    {</a:t>
            </a:r>
          </a:p>
          <a:p>
            <a:pPr algn="l">
              <a:lnSpc>
                <a:spcPts val="2654"/>
              </a:lnSpc>
            </a:pPr>
            <a:r>
              <a:rPr lang="en-US" sz="1875">
                <a:solidFill>
                  <a:srgbClr val="D9D4F0"/>
                </a:solidFill>
                <a:latin typeface="Courier New"/>
                <a:ea typeface="Courier New"/>
                <a:cs typeface="Courier New"/>
                <a:sym typeface="Courier New"/>
              </a:rPr>
              <a:t>        var columnAttr = property.GetCustomAttribute&lt;ColumnNameAttribute&gt;();</a:t>
            </a:r>
          </a:p>
          <a:p>
            <a:pPr algn="l">
              <a:lnSpc>
                <a:spcPts val="2654"/>
              </a:lnSpc>
            </a:pPr>
            <a:r>
              <a:rPr lang="en-US" sz="1875">
                <a:solidFill>
                  <a:srgbClr val="D9D4F0"/>
                </a:solidFill>
                <a:latin typeface="Courier New"/>
                <a:ea typeface="Courier New"/>
                <a:cs typeface="Courier New"/>
                <a:sym typeface="Courier New"/>
              </a:rPr>
              <a:t>        if (columnAttr != null)</a:t>
            </a:r>
          </a:p>
          <a:p>
            <a:pPr algn="l">
              <a:lnSpc>
                <a:spcPts val="2654"/>
              </a:lnSpc>
            </a:pPr>
            <a:r>
              <a:rPr lang="en-US" sz="1875">
                <a:solidFill>
                  <a:srgbClr val="D9D4F0"/>
                </a:solidFill>
                <a:latin typeface="Courier New"/>
                <a:ea typeface="Courier New"/>
                <a:cs typeface="Courier New"/>
                <a:sym typeface="Courier New"/>
              </a:rPr>
              <a:t>            mappings[property.Name] = columnAttr.Name;</a:t>
            </a:r>
          </a:p>
          <a:p>
            <a:pPr algn="l">
              <a:lnSpc>
                <a:spcPts val="2654"/>
              </a:lnSpc>
            </a:pPr>
            <a:r>
              <a:rPr lang="en-US" sz="1875">
                <a:solidFill>
                  <a:srgbClr val="D9D4F0"/>
                </a:solidFill>
                <a:latin typeface="Courier New"/>
                <a:ea typeface="Courier New"/>
                <a:cs typeface="Courier New"/>
                <a:sym typeface="Courier New"/>
              </a:rPr>
              <a:t>    }</a:t>
            </a:r>
          </a:p>
          <a:p>
            <a:pPr algn="l">
              <a:lnSpc>
                <a:spcPts val="2654"/>
              </a:lnSpc>
            </a:pPr>
            <a:r>
              <a:rPr lang="en-US" sz="1875">
                <a:solidFill>
                  <a:srgbClr val="D9D4F0"/>
                </a:solidFill>
                <a:latin typeface="Courier New"/>
                <a:ea typeface="Courier New"/>
                <a:cs typeface="Courier New"/>
                <a:sym typeface="Courier New"/>
              </a:rPr>
              <a:t>    return mappings;</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var mappings = GetColumnMappings(typeof(Player));</a:t>
            </a:r>
          </a:p>
          <a:p>
            <a:pPr algn="l">
              <a:lnSpc>
                <a:spcPts val="2654"/>
              </a:lnSpc>
            </a:pPr>
            <a:r>
              <a:rPr lang="en-US" sz="1875">
                <a:solidFill>
                  <a:srgbClr val="8B84AE"/>
                </a:solidFill>
                <a:latin typeface="Courier New"/>
                <a:ea typeface="Courier New"/>
                <a:cs typeface="Courier New"/>
                <a:sym typeface="Courier New"/>
              </a:rPr>
              <a:t>// { "Name" -&gt; "player_name", "JerseyNumber" -&gt; "jersey_no" }</a:t>
            </a:r>
          </a:p>
        </p:txBody>
      </p:sp>
      <p:grpSp>
        <p:nvGrpSpPr>
          <p:cNvPr name="Group 17" id="17"/>
          <p:cNvGrpSpPr/>
          <p:nvPr/>
        </p:nvGrpSpPr>
        <p:grpSpPr>
          <a:xfrm rot="0">
            <a:off x="1076706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201400" y="2593467"/>
            <a:ext cx="617174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The attribute declares intent (“this property maps to this column”).</a:t>
            </a:r>
          </a:p>
        </p:txBody>
      </p:sp>
      <p:grpSp>
        <p:nvGrpSpPr>
          <p:cNvPr name="Group 20" id="20"/>
          <p:cNvGrpSpPr/>
          <p:nvPr/>
        </p:nvGrpSpPr>
        <p:grpSpPr>
          <a:xfrm rot="0">
            <a:off x="10767060" y="445770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201400" y="4307967"/>
            <a:ext cx="617174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Separate, generic reflection code reads that intent and acts on it.</a:t>
            </a:r>
          </a:p>
        </p:txBody>
      </p:sp>
      <p:grpSp>
        <p:nvGrpSpPr>
          <p:cNvPr name="Group 23" id="23"/>
          <p:cNvGrpSpPr/>
          <p:nvPr/>
        </p:nvGrpSpPr>
        <p:grpSpPr>
          <a:xfrm rot="0">
            <a:off x="10767060" y="617220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1201400" y="6022467"/>
            <a:ext cx="6171743" cy="17072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Neither half is useful alone — together they let you write a data-mapping layer that works for every class in the codebase, with zero per-class mapping code.</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34</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3.7 TO KNOW</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Real-World Use Cases</a:t>
              </a:r>
            </a:p>
          </p:txBody>
        </p:sp>
      </p:grpSp>
      <p:graphicFrame>
        <p:nvGraphicFramePr>
          <p:cNvPr name="Table 8" id="8"/>
          <p:cNvGraphicFramePr>
            <a:graphicFrameLocks noGrp="true"/>
          </p:cNvGraphicFramePr>
          <p:nvPr/>
        </p:nvGraphicFramePr>
        <p:xfrm>
          <a:off x="960120" y="2606040"/>
          <a:ext cx="16344900" cy="6972300"/>
        </p:xfrm>
        <a:graphic>
          <a:graphicData uri="http://schemas.openxmlformats.org/drawingml/2006/table">
            <a:tbl>
              <a:tblPr/>
              <a:tblGrid>
                <a:gridCol w="4521221"/>
                <a:gridCol w="4932241"/>
                <a:gridCol w="6891437"/>
              </a:tblGrid>
              <a:tr h="116205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Framework pattern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Attribute example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What the reflection layer does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r>
              <a:tr h="1162050">
                <a:tc>
                  <a:txBody>
                    <a:bodyPr anchor="t" rtlCol="false"/>
                    <a:lstStyle/>
                    <a:p>
                      <a:pPr algn="l">
                        <a:lnSpc>
                          <a:spcPts val="2520"/>
                        </a:lnSpc>
                        <a:defRPr/>
                      </a:pPr>
                      <a:r>
                        <a:rPr lang="en-US" sz="2100">
                          <a:solidFill>
                            <a:srgbClr val="201A3A"/>
                          </a:solidFill>
                          <a:latin typeface="Calibri (MS)"/>
                          <a:ea typeface="Calibri (MS)"/>
                          <a:cs typeface="Calibri (MS)"/>
                          <a:sym typeface="Calibri (MS)"/>
                        </a:rPr>
                        <a:t>ORMs (EF, Dapper)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[Column], [Key]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Maps properties to DB columns; identifies primary keys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1162050">
                <a:tc>
                  <a:txBody>
                    <a:bodyPr anchor="t" rtlCol="false"/>
                    <a:lstStyle/>
                    <a:p>
                      <a:pPr algn="l">
                        <a:lnSpc>
                          <a:spcPts val="2520"/>
                        </a:lnSpc>
                        <a:defRPr/>
                      </a:pPr>
                      <a:r>
                        <a:rPr lang="en-US" sz="2100">
                          <a:solidFill>
                            <a:srgbClr val="201A3A"/>
                          </a:solidFill>
                          <a:latin typeface="Calibri (MS)"/>
                          <a:ea typeface="Calibri (MS)"/>
                          <a:cs typeface="Calibri (MS)"/>
                          <a:sym typeface="Calibri (MS)"/>
                        </a:rPr>
                        <a:t>Validation (ASP.NET Core)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[Required], [Range(1,99)]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Inspects a submitted model before a controller action runs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62050">
                <a:tc>
                  <a:txBody>
                    <a:bodyPr anchor="t" rtlCol="false"/>
                    <a:lstStyle/>
                    <a:p>
                      <a:pPr algn="l">
                        <a:lnSpc>
                          <a:spcPts val="2520"/>
                        </a:lnSpc>
                        <a:defRPr/>
                      </a:pPr>
                      <a:r>
                        <a:rPr lang="en-US" sz="2100">
                          <a:solidFill>
                            <a:srgbClr val="201A3A"/>
                          </a:solidFill>
                          <a:latin typeface="Calibri (MS)"/>
                          <a:ea typeface="Calibri (MS)"/>
                          <a:cs typeface="Calibri (MS)"/>
                          <a:sym typeface="Calibri (MS)"/>
                        </a:rPr>
                        <a:t>Dependency injection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[Inject]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Locates members that need a dependency supplied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1162050">
                <a:tc>
                  <a:txBody>
                    <a:bodyPr anchor="t" rtlCol="false"/>
                    <a:lstStyle/>
                    <a:p>
                      <a:pPr algn="l">
                        <a:lnSpc>
                          <a:spcPts val="2520"/>
                        </a:lnSpc>
                        <a:defRPr/>
                      </a:pPr>
                      <a:r>
                        <a:rPr lang="en-US" sz="2100">
                          <a:solidFill>
                            <a:srgbClr val="201A3A"/>
                          </a:solidFill>
                          <a:latin typeface="Calibri (MS)"/>
                          <a:ea typeface="Calibri (MS)"/>
                          <a:cs typeface="Calibri (MS)"/>
                          <a:sym typeface="Calibri (MS)"/>
                        </a:rPr>
                        <a:t>Testing frameworks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[Fact], [TestMethod]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Discovers every method the test runner should execute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62050">
                <a:tc>
                  <a:txBody>
                    <a:bodyPr anchor="t" rtlCol="false"/>
                    <a:lstStyle/>
                    <a:p>
                      <a:pPr algn="l">
                        <a:lnSpc>
                          <a:spcPts val="2520"/>
                        </a:lnSpc>
                        <a:defRPr/>
                      </a:pPr>
                      <a:r>
                        <a:rPr lang="en-US" sz="2100">
                          <a:solidFill>
                            <a:srgbClr val="201A3A"/>
                          </a:solidFill>
                          <a:latin typeface="Calibri (MS)"/>
                          <a:ea typeface="Calibri (MS)"/>
                          <a:cs typeface="Calibri (MS)"/>
                          <a:sym typeface="Calibri (MS)"/>
                        </a:rPr>
                        <a:t>Serialization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[JsonPropertyName], [JsonIgnore]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Controls how the serializer maps to/from JSON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bl>
          </a:graphicData>
        </a:graphic>
      </p:graphicFrame>
      <p:grpSp>
        <p:nvGrpSpPr>
          <p:cNvPr name="Group 9" id="9"/>
          <p:cNvGrpSpPr/>
          <p:nvPr/>
        </p:nvGrpSpPr>
        <p:grpSpPr>
          <a:xfrm rot="0">
            <a:off x="17053103" y="9820656"/>
            <a:ext cx="685800" cy="411480"/>
            <a:chOff x="0" y="0"/>
            <a:chExt cx="914400" cy="548640"/>
          </a:xfrm>
        </p:grpSpPr>
        <p:sp>
          <p:nvSpPr>
            <p:cNvPr name="Freeform 10" id="1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1" id="1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35</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1316736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512BD4">
                <a:alpha val="17255"/>
              </a:srgbClr>
            </a:solidFill>
          </p:spPr>
        </p:sp>
      </p:grpSp>
      <p:grpSp>
        <p:nvGrpSpPr>
          <p:cNvPr name="Group 4" id="4"/>
          <p:cNvGrpSpPr/>
          <p:nvPr/>
        </p:nvGrpSpPr>
        <p:grpSpPr>
          <a:xfrm rot="0">
            <a:off x="1234440" y="3497580"/>
            <a:ext cx="8229600" cy="548640"/>
            <a:chOff x="0" y="0"/>
            <a:chExt cx="10972800" cy="731520"/>
          </a:xfrm>
        </p:grpSpPr>
        <p:sp>
          <p:nvSpPr>
            <p:cNvPr name="Freeform 5" id="5"/>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6" id="6"/>
            <p:cNvSpPr txBox="true"/>
            <p:nvPr/>
          </p:nvSpPr>
          <p:spPr>
            <a:xfrm>
              <a:off x="0" y="-47625"/>
              <a:ext cx="10972800" cy="779145"/>
            </a:xfrm>
            <a:prstGeom prst="rect">
              <a:avLst/>
            </a:prstGeom>
          </p:spPr>
          <p:txBody>
            <a:bodyPr anchor="ctr" rtlCol="false" tIns="0" lIns="0" bIns="0" rIns="0"/>
            <a:lstStyle/>
            <a:p>
              <a:pPr algn="l">
                <a:lnSpc>
                  <a:spcPts val="2340"/>
                </a:lnSpc>
              </a:pPr>
              <a:r>
                <a:rPr lang="en-US" b="true" sz="1950" spc="450">
                  <a:solidFill>
                    <a:srgbClr val="22D3EE"/>
                  </a:solidFill>
                  <a:latin typeface="Calibri (MS) Bold"/>
                  <a:ea typeface="Calibri (MS) Bold"/>
                  <a:cs typeface="Calibri (MS) Bold"/>
                  <a:sym typeface="Calibri (MS) Bold"/>
                </a:rPr>
                <a:t>SECTION 04 / 05</a:t>
              </a:r>
            </a:p>
          </p:txBody>
        </p:sp>
      </p:grpSp>
      <p:grpSp>
        <p:nvGrpSpPr>
          <p:cNvPr name="Group 7" id="7"/>
          <p:cNvGrpSpPr/>
          <p:nvPr/>
        </p:nvGrpSpPr>
        <p:grpSpPr>
          <a:xfrm rot="0">
            <a:off x="1165860" y="4114800"/>
            <a:ext cx="13030200" cy="1920240"/>
            <a:chOff x="0" y="0"/>
            <a:chExt cx="17373600" cy="2560320"/>
          </a:xfrm>
        </p:grpSpPr>
        <p:sp>
          <p:nvSpPr>
            <p:cNvPr name="Freeform 8" id="8"/>
            <p:cNvSpPr/>
            <p:nvPr/>
          </p:nvSpPr>
          <p:spPr>
            <a:xfrm flipH="false" flipV="false" rot="0">
              <a:off x="0" y="0"/>
              <a:ext cx="17373600" cy="2560320"/>
            </a:xfrm>
            <a:custGeom>
              <a:avLst/>
              <a:gdLst/>
              <a:ahLst/>
              <a:cxnLst/>
              <a:rect r="r" b="b" t="t" l="l"/>
              <a:pathLst>
                <a:path h="2560320" w="17373600">
                  <a:moveTo>
                    <a:pt x="0" y="0"/>
                  </a:moveTo>
                  <a:lnTo>
                    <a:pt x="17373600" y="0"/>
                  </a:lnTo>
                  <a:lnTo>
                    <a:pt x="17373600" y="2560320"/>
                  </a:lnTo>
                  <a:lnTo>
                    <a:pt x="0" y="2560320"/>
                  </a:lnTo>
                  <a:close/>
                </a:path>
              </a:pathLst>
            </a:custGeom>
            <a:blipFill>
              <a:blip r:embed="rId3">
                <a:alphaModFix amt="0"/>
              </a:blip>
              <a:stretch>
                <a:fillRect l="0" t="-82219" r="0" b="-82219"/>
              </a:stretch>
            </a:blipFill>
          </p:spPr>
        </p:sp>
        <p:sp>
          <p:nvSpPr>
            <p:cNvPr name="TextBox 9" id="9"/>
            <p:cNvSpPr txBox="true"/>
            <p:nvPr/>
          </p:nvSpPr>
          <p:spPr>
            <a:xfrm>
              <a:off x="0" y="-19050"/>
              <a:ext cx="17373600" cy="2579370"/>
            </a:xfrm>
            <a:prstGeom prst="rect">
              <a:avLst/>
            </a:prstGeom>
          </p:spPr>
          <p:txBody>
            <a:bodyPr anchor="ctr" rtlCol="false" tIns="0" lIns="0" bIns="0" rIns="0"/>
            <a:lstStyle/>
            <a:p>
              <a:pPr algn="l">
                <a:lnSpc>
                  <a:spcPts val="7559"/>
                </a:lnSpc>
              </a:pPr>
              <a:r>
                <a:rPr lang="en-US" sz="6300" b="true">
                  <a:solidFill>
                    <a:srgbClr val="FFFFFF"/>
                  </a:solidFill>
                  <a:latin typeface="Arial Bold"/>
                  <a:ea typeface="Arial Bold"/>
                  <a:cs typeface="Arial Bold"/>
                  <a:sym typeface="Arial Bold"/>
                </a:rPr>
                <a:t>Assemblies</a:t>
              </a:r>
            </a:p>
          </p:txBody>
        </p:sp>
      </p:grpSp>
      <p:grpSp>
        <p:nvGrpSpPr>
          <p:cNvPr name="Group 10" id="10"/>
          <p:cNvGrpSpPr/>
          <p:nvPr/>
        </p:nvGrpSpPr>
        <p:grpSpPr>
          <a:xfrm rot="0">
            <a:off x="1234440" y="5966460"/>
            <a:ext cx="11795760" cy="1097280"/>
            <a:chOff x="0" y="0"/>
            <a:chExt cx="15727680" cy="1463040"/>
          </a:xfrm>
        </p:grpSpPr>
        <p:sp>
          <p:nvSpPr>
            <p:cNvPr name="Freeform 11" id="11"/>
            <p:cNvSpPr/>
            <p:nvPr/>
          </p:nvSpPr>
          <p:spPr>
            <a:xfrm flipH="false" flipV="false" rot="0">
              <a:off x="0" y="0"/>
              <a:ext cx="15727680" cy="1463040"/>
            </a:xfrm>
            <a:custGeom>
              <a:avLst/>
              <a:gdLst/>
              <a:ahLst/>
              <a:cxnLst/>
              <a:rect r="r" b="b" t="t" l="l"/>
              <a:pathLst>
                <a:path h="1463040" w="15727680">
                  <a:moveTo>
                    <a:pt x="0" y="0"/>
                  </a:moveTo>
                  <a:lnTo>
                    <a:pt x="15727680" y="0"/>
                  </a:lnTo>
                  <a:lnTo>
                    <a:pt x="15727680" y="1463040"/>
                  </a:lnTo>
                  <a:lnTo>
                    <a:pt x="0" y="1463040"/>
                  </a:lnTo>
                  <a:close/>
                </a:path>
              </a:pathLst>
            </a:custGeom>
            <a:blipFill>
              <a:blip r:embed="rId3">
                <a:alphaModFix amt="0"/>
              </a:blip>
              <a:stretch>
                <a:fillRect l="0" t="-159464" r="0" b="-159464"/>
              </a:stretch>
            </a:blipFill>
          </p:spPr>
        </p:sp>
        <p:sp>
          <p:nvSpPr>
            <p:cNvPr name="TextBox 12" id="12"/>
            <p:cNvSpPr txBox="true"/>
            <p:nvPr/>
          </p:nvSpPr>
          <p:spPr>
            <a:xfrm>
              <a:off x="0" y="-38100"/>
              <a:ext cx="15727680" cy="1501140"/>
            </a:xfrm>
            <a:prstGeom prst="rect">
              <a:avLst/>
            </a:prstGeom>
          </p:spPr>
          <p:txBody>
            <a:bodyPr anchor="ctr" rtlCol="false" tIns="0" lIns="0" bIns="0" rIns="0"/>
            <a:lstStyle/>
            <a:p>
              <a:pPr algn="l">
                <a:lnSpc>
                  <a:spcPts val="2879"/>
                </a:lnSpc>
              </a:pPr>
              <a:r>
                <a:rPr lang="en-US" sz="2400" i="true">
                  <a:solidFill>
                    <a:srgbClr val="C9BFEF"/>
                  </a:solidFill>
                  <a:latin typeface="Calibri (MS) Italics"/>
                  <a:ea typeface="Calibri (MS) Italics"/>
                  <a:cs typeface="Calibri (MS) Italics"/>
                  <a:sym typeface="Calibri (MS) Italics"/>
                </a:rPr>
                <a:t>The compiled, deployable, self-describing unit .NET runs and versions.</a:t>
              </a:r>
            </a:p>
          </p:txBody>
        </p:sp>
      </p:grpSp>
      <p:grpSp>
        <p:nvGrpSpPr>
          <p:cNvPr name="Group 13" id="13"/>
          <p:cNvGrpSpPr/>
          <p:nvPr/>
        </p:nvGrpSpPr>
        <p:grpSpPr>
          <a:xfrm rot="0">
            <a:off x="1234440" y="7406640"/>
            <a:ext cx="192024" cy="192024"/>
            <a:chOff x="0" y="0"/>
            <a:chExt cx="256032" cy="256032"/>
          </a:xfrm>
        </p:grpSpPr>
        <p:sp>
          <p:nvSpPr>
            <p:cNvPr name="Freeform 14" id="14"/>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5" id="15"/>
          <p:cNvGrpSpPr/>
          <p:nvPr/>
        </p:nvGrpSpPr>
        <p:grpSpPr>
          <a:xfrm rot="0">
            <a:off x="1700784" y="7406640"/>
            <a:ext cx="192024" cy="192024"/>
            <a:chOff x="0" y="0"/>
            <a:chExt cx="256032" cy="256032"/>
          </a:xfrm>
        </p:grpSpPr>
        <p:sp>
          <p:nvSpPr>
            <p:cNvPr name="Freeform 16" id="16"/>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7" id="17"/>
          <p:cNvGrpSpPr/>
          <p:nvPr/>
        </p:nvGrpSpPr>
        <p:grpSpPr>
          <a:xfrm rot="0">
            <a:off x="2167128" y="7406640"/>
            <a:ext cx="192024" cy="192024"/>
            <a:chOff x="0" y="0"/>
            <a:chExt cx="256032" cy="256032"/>
          </a:xfrm>
        </p:grpSpPr>
        <p:sp>
          <p:nvSpPr>
            <p:cNvPr name="Freeform 18" id="1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9" id="19"/>
          <p:cNvGrpSpPr/>
          <p:nvPr/>
        </p:nvGrpSpPr>
        <p:grpSpPr>
          <a:xfrm rot="0">
            <a:off x="2633472" y="7406640"/>
            <a:ext cx="192024" cy="192024"/>
            <a:chOff x="0" y="0"/>
            <a:chExt cx="256032" cy="256032"/>
          </a:xfrm>
        </p:grpSpPr>
        <p:sp>
          <p:nvSpPr>
            <p:cNvPr name="Freeform 20" id="20"/>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EE"/>
            </a:solidFill>
          </p:spPr>
        </p:sp>
      </p:grpSp>
      <p:grpSp>
        <p:nvGrpSpPr>
          <p:cNvPr name="Group 21" id="21"/>
          <p:cNvGrpSpPr/>
          <p:nvPr/>
        </p:nvGrpSpPr>
        <p:grpSpPr>
          <a:xfrm rot="0">
            <a:off x="3099816" y="7406640"/>
            <a:ext cx="192024" cy="192024"/>
            <a:chOff x="0" y="0"/>
            <a:chExt cx="256032" cy="256032"/>
          </a:xfrm>
        </p:grpSpPr>
        <p:sp>
          <p:nvSpPr>
            <p:cNvPr name="Freeform 22" id="22"/>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36</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4.1 FOUNDATIONS</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What Is an Assembly? Compiling in Two Steps</a:t>
              </a:r>
            </a:p>
          </p:txBody>
        </p:sp>
      </p:grpSp>
      <p:grpSp>
        <p:nvGrpSpPr>
          <p:cNvPr name="Group 8" id="8"/>
          <p:cNvGrpSpPr/>
          <p:nvPr/>
        </p:nvGrpSpPr>
        <p:grpSpPr>
          <a:xfrm rot="0">
            <a:off x="960120" y="3429000"/>
            <a:ext cx="3730752" cy="3566160"/>
            <a:chOff x="0" y="0"/>
            <a:chExt cx="4974336" cy="4754880"/>
          </a:xfrm>
        </p:grpSpPr>
        <p:sp>
          <p:nvSpPr>
            <p:cNvPr name="Freeform 9" id="9"/>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F4F1FC"/>
            </a:solidFill>
          </p:spPr>
        </p:sp>
      </p:grpSp>
      <p:grpSp>
        <p:nvGrpSpPr>
          <p:cNvPr name="Group 10" id="10"/>
          <p:cNvGrpSpPr/>
          <p:nvPr/>
        </p:nvGrpSpPr>
        <p:grpSpPr>
          <a:xfrm rot="0">
            <a:off x="2441448" y="3813048"/>
            <a:ext cx="768096" cy="768096"/>
            <a:chOff x="0" y="0"/>
            <a:chExt cx="1024128" cy="1024128"/>
          </a:xfrm>
        </p:grpSpPr>
        <p:sp>
          <p:nvSpPr>
            <p:cNvPr name="Freeform 11" id="11"/>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512BD4"/>
            </a:solidFill>
          </p:spPr>
        </p:sp>
      </p:grpSp>
      <p:grpSp>
        <p:nvGrpSpPr>
          <p:cNvPr name="Group 12" id="12"/>
          <p:cNvGrpSpPr/>
          <p:nvPr/>
        </p:nvGrpSpPr>
        <p:grpSpPr>
          <a:xfrm rot="0">
            <a:off x="2441448" y="3813048"/>
            <a:ext cx="768096" cy="768096"/>
            <a:chOff x="0" y="0"/>
            <a:chExt cx="1024128" cy="1024128"/>
          </a:xfrm>
        </p:grpSpPr>
        <p:sp>
          <p:nvSpPr>
            <p:cNvPr name="Freeform 13" id="13"/>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14" id="14"/>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1</a:t>
              </a:r>
            </a:p>
          </p:txBody>
        </p:sp>
      </p:grpSp>
      <p:grpSp>
        <p:nvGrpSpPr>
          <p:cNvPr name="Group 15" id="15"/>
          <p:cNvGrpSpPr/>
          <p:nvPr/>
        </p:nvGrpSpPr>
        <p:grpSpPr>
          <a:xfrm rot="0">
            <a:off x="1207008" y="4800600"/>
            <a:ext cx="3236976" cy="685800"/>
            <a:chOff x="0" y="0"/>
            <a:chExt cx="4315968" cy="914400"/>
          </a:xfrm>
        </p:grpSpPr>
        <p:sp>
          <p:nvSpPr>
            <p:cNvPr name="Freeform 16" id="16"/>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17" id="17"/>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201A3A"/>
                  </a:solidFill>
                  <a:latin typeface="Arial Bold"/>
                  <a:ea typeface="Arial Bold"/>
                  <a:cs typeface="Arial Bold"/>
                  <a:sym typeface="Arial Bold"/>
                </a:rPr>
                <a:t>C# Source</a:t>
              </a:r>
            </a:p>
          </p:txBody>
        </p:sp>
      </p:grpSp>
      <p:sp>
        <p:nvSpPr>
          <p:cNvPr name="TextBox 18" id="18"/>
          <p:cNvSpPr txBox="true"/>
          <p:nvPr/>
        </p:nvSpPr>
        <p:spPr>
          <a:xfrm rot="0">
            <a:off x="1298448" y="5513070"/>
            <a:ext cx="3054096" cy="1299210"/>
          </a:xfrm>
          <a:prstGeom prst="rect">
            <a:avLst/>
          </a:prstGeom>
        </p:spPr>
        <p:txBody>
          <a:bodyPr anchor="t" rtlCol="false" tIns="0" lIns="0" bIns="0" rIns="0">
            <a:spAutoFit/>
          </a:bodyPr>
          <a:lstStyle/>
          <a:p>
            <a:pPr algn="ctr">
              <a:lnSpc>
                <a:spcPts val="1889"/>
              </a:lnSpc>
            </a:pPr>
            <a:r>
              <a:rPr lang="en-US" sz="1575">
                <a:solidFill>
                  <a:srgbClr val="6E668A"/>
                </a:solidFill>
                <a:latin typeface="Calibri (MS)"/>
                <a:ea typeface="Calibri (MS)"/>
                <a:cs typeface="Calibri (MS)"/>
                <a:sym typeface="Calibri (MS)"/>
              </a:rPr>
              <a:t>Your .cs files</a:t>
            </a:r>
          </a:p>
        </p:txBody>
      </p:sp>
      <p:grpSp>
        <p:nvGrpSpPr>
          <p:cNvPr name="Group 19" id="19"/>
          <p:cNvGrpSpPr/>
          <p:nvPr/>
        </p:nvGrpSpPr>
        <p:grpSpPr>
          <a:xfrm rot="0">
            <a:off x="4690872" y="4800600"/>
            <a:ext cx="480060" cy="822960"/>
            <a:chOff x="0" y="0"/>
            <a:chExt cx="640080" cy="1097280"/>
          </a:xfrm>
        </p:grpSpPr>
        <p:sp>
          <p:nvSpPr>
            <p:cNvPr name="Freeform 20" id="20"/>
            <p:cNvSpPr/>
            <p:nvPr/>
          </p:nvSpPr>
          <p:spPr>
            <a:xfrm flipH="false" flipV="false" rot="0">
              <a:off x="0" y="0"/>
              <a:ext cx="640080" cy="1097280"/>
            </a:xfrm>
            <a:custGeom>
              <a:avLst/>
              <a:gdLst/>
              <a:ahLst/>
              <a:cxnLst/>
              <a:rect r="r" b="b" t="t" l="l"/>
              <a:pathLst>
                <a:path h="1097280" w="640080">
                  <a:moveTo>
                    <a:pt x="0" y="0"/>
                  </a:moveTo>
                  <a:lnTo>
                    <a:pt x="640080" y="0"/>
                  </a:lnTo>
                  <a:lnTo>
                    <a:pt x="640080" y="1097280"/>
                  </a:lnTo>
                  <a:lnTo>
                    <a:pt x="0" y="1097280"/>
                  </a:lnTo>
                  <a:close/>
                </a:path>
              </a:pathLst>
            </a:custGeom>
            <a:blipFill>
              <a:blip r:embed="rId3">
                <a:alphaModFix amt="0"/>
              </a:blip>
              <a:stretch>
                <a:fillRect l="-169948" t="0" r="-169948" b="0"/>
              </a:stretch>
            </a:blipFill>
          </p:spPr>
        </p:sp>
        <p:sp>
          <p:nvSpPr>
            <p:cNvPr name="TextBox 21" id="21"/>
            <p:cNvSpPr txBox="true"/>
            <p:nvPr/>
          </p:nvSpPr>
          <p:spPr>
            <a:xfrm>
              <a:off x="0" y="-28575"/>
              <a:ext cx="640080" cy="1125855"/>
            </a:xfrm>
            <a:prstGeom prst="rect">
              <a:avLst/>
            </a:prstGeom>
          </p:spPr>
          <p:txBody>
            <a:bodyPr anchor="ctr" rtlCol="false" tIns="0" lIns="0" bIns="0" rIns="0"/>
            <a:lstStyle/>
            <a:p>
              <a:pPr algn="ctr">
                <a:lnSpc>
                  <a:spcPts val="3960"/>
                </a:lnSpc>
              </a:pPr>
              <a:r>
                <a:rPr lang="en-US" sz="3300" b="true">
                  <a:solidFill>
                    <a:srgbClr val="512BD4"/>
                  </a:solidFill>
                  <a:latin typeface="Arial Bold"/>
                  <a:ea typeface="Arial Bold"/>
                  <a:cs typeface="Arial Bold"/>
                  <a:sym typeface="Arial Bold"/>
                </a:rPr>
                <a:t>→</a:t>
              </a:r>
            </a:p>
          </p:txBody>
        </p:sp>
      </p:grpSp>
      <p:grpSp>
        <p:nvGrpSpPr>
          <p:cNvPr name="Group 22" id="22"/>
          <p:cNvGrpSpPr/>
          <p:nvPr/>
        </p:nvGrpSpPr>
        <p:grpSpPr>
          <a:xfrm rot="0">
            <a:off x="5170932" y="3429000"/>
            <a:ext cx="3730752" cy="3566160"/>
            <a:chOff x="0" y="0"/>
            <a:chExt cx="4974336" cy="4754880"/>
          </a:xfrm>
        </p:grpSpPr>
        <p:sp>
          <p:nvSpPr>
            <p:cNvPr name="Freeform 23" id="23"/>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F4F1FC"/>
            </a:solidFill>
          </p:spPr>
        </p:sp>
      </p:grpSp>
      <p:grpSp>
        <p:nvGrpSpPr>
          <p:cNvPr name="Group 24" id="24"/>
          <p:cNvGrpSpPr/>
          <p:nvPr/>
        </p:nvGrpSpPr>
        <p:grpSpPr>
          <a:xfrm rot="0">
            <a:off x="6652260" y="3813048"/>
            <a:ext cx="768096" cy="768096"/>
            <a:chOff x="0" y="0"/>
            <a:chExt cx="1024128" cy="1024128"/>
          </a:xfrm>
        </p:grpSpPr>
        <p:sp>
          <p:nvSpPr>
            <p:cNvPr name="Freeform 25" id="25"/>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512BD4"/>
            </a:solidFill>
          </p:spPr>
        </p:sp>
      </p:grpSp>
      <p:grpSp>
        <p:nvGrpSpPr>
          <p:cNvPr name="Group 26" id="26"/>
          <p:cNvGrpSpPr/>
          <p:nvPr/>
        </p:nvGrpSpPr>
        <p:grpSpPr>
          <a:xfrm rot="0">
            <a:off x="6652260" y="3813048"/>
            <a:ext cx="768096" cy="768096"/>
            <a:chOff x="0" y="0"/>
            <a:chExt cx="1024128" cy="1024128"/>
          </a:xfrm>
        </p:grpSpPr>
        <p:sp>
          <p:nvSpPr>
            <p:cNvPr name="Freeform 27" id="27"/>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28" id="28"/>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2</a:t>
              </a:r>
            </a:p>
          </p:txBody>
        </p:sp>
      </p:grpSp>
      <p:grpSp>
        <p:nvGrpSpPr>
          <p:cNvPr name="Group 29" id="29"/>
          <p:cNvGrpSpPr/>
          <p:nvPr/>
        </p:nvGrpSpPr>
        <p:grpSpPr>
          <a:xfrm rot="0">
            <a:off x="5417820" y="4800600"/>
            <a:ext cx="3236976" cy="685800"/>
            <a:chOff x="0" y="0"/>
            <a:chExt cx="4315968" cy="914400"/>
          </a:xfrm>
        </p:grpSpPr>
        <p:sp>
          <p:nvSpPr>
            <p:cNvPr name="Freeform 30" id="30"/>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31" id="31"/>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201A3A"/>
                  </a:solidFill>
                  <a:latin typeface="Arial Bold"/>
                  <a:ea typeface="Arial Bold"/>
                  <a:cs typeface="Arial Bold"/>
                  <a:sym typeface="Arial Bold"/>
                </a:rPr>
                <a:t>Compile to IL</a:t>
              </a:r>
            </a:p>
          </p:txBody>
        </p:sp>
      </p:grpSp>
      <p:sp>
        <p:nvSpPr>
          <p:cNvPr name="TextBox 32" id="32"/>
          <p:cNvSpPr txBox="true"/>
          <p:nvPr/>
        </p:nvSpPr>
        <p:spPr>
          <a:xfrm rot="0">
            <a:off x="5509260" y="5513070"/>
            <a:ext cx="3054096" cy="1299210"/>
          </a:xfrm>
          <a:prstGeom prst="rect">
            <a:avLst/>
          </a:prstGeom>
        </p:spPr>
        <p:txBody>
          <a:bodyPr anchor="t" rtlCol="false" tIns="0" lIns="0" bIns="0" rIns="0">
            <a:spAutoFit/>
          </a:bodyPr>
          <a:lstStyle/>
          <a:p>
            <a:pPr algn="ctr">
              <a:lnSpc>
                <a:spcPts val="1889"/>
              </a:lnSpc>
            </a:pPr>
            <a:r>
              <a:rPr lang="en-US" sz="1575">
                <a:solidFill>
                  <a:srgbClr val="6E668A"/>
                </a:solidFill>
                <a:latin typeface="Calibri (MS)"/>
                <a:ea typeface="Calibri (MS)"/>
                <a:cs typeface="Calibri (MS)"/>
                <a:sym typeface="Calibri (MS)"/>
              </a:rPr>
              <a:t>Intermediate Language + manifest, packaged into a .dll / .exe</a:t>
            </a:r>
          </a:p>
        </p:txBody>
      </p:sp>
      <p:grpSp>
        <p:nvGrpSpPr>
          <p:cNvPr name="Group 33" id="33"/>
          <p:cNvGrpSpPr/>
          <p:nvPr/>
        </p:nvGrpSpPr>
        <p:grpSpPr>
          <a:xfrm rot="0">
            <a:off x="8901684" y="4800600"/>
            <a:ext cx="480060" cy="822960"/>
            <a:chOff x="0" y="0"/>
            <a:chExt cx="640080" cy="1097280"/>
          </a:xfrm>
        </p:grpSpPr>
        <p:sp>
          <p:nvSpPr>
            <p:cNvPr name="Freeform 34" id="34"/>
            <p:cNvSpPr/>
            <p:nvPr/>
          </p:nvSpPr>
          <p:spPr>
            <a:xfrm flipH="false" flipV="false" rot="0">
              <a:off x="0" y="0"/>
              <a:ext cx="640080" cy="1097280"/>
            </a:xfrm>
            <a:custGeom>
              <a:avLst/>
              <a:gdLst/>
              <a:ahLst/>
              <a:cxnLst/>
              <a:rect r="r" b="b" t="t" l="l"/>
              <a:pathLst>
                <a:path h="1097280" w="640080">
                  <a:moveTo>
                    <a:pt x="0" y="0"/>
                  </a:moveTo>
                  <a:lnTo>
                    <a:pt x="640080" y="0"/>
                  </a:lnTo>
                  <a:lnTo>
                    <a:pt x="640080" y="1097280"/>
                  </a:lnTo>
                  <a:lnTo>
                    <a:pt x="0" y="1097280"/>
                  </a:lnTo>
                  <a:close/>
                </a:path>
              </a:pathLst>
            </a:custGeom>
            <a:blipFill>
              <a:blip r:embed="rId3">
                <a:alphaModFix amt="0"/>
              </a:blip>
              <a:stretch>
                <a:fillRect l="-169948" t="0" r="-169948" b="0"/>
              </a:stretch>
            </a:blipFill>
          </p:spPr>
        </p:sp>
        <p:sp>
          <p:nvSpPr>
            <p:cNvPr name="TextBox 35" id="35"/>
            <p:cNvSpPr txBox="true"/>
            <p:nvPr/>
          </p:nvSpPr>
          <p:spPr>
            <a:xfrm>
              <a:off x="0" y="-28575"/>
              <a:ext cx="640080" cy="1125855"/>
            </a:xfrm>
            <a:prstGeom prst="rect">
              <a:avLst/>
            </a:prstGeom>
          </p:spPr>
          <p:txBody>
            <a:bodyPr anchor="ctr" rtlCol="false" tIns="0" lIns="0" bIns="0" rIns="0"/>
            <a:lstStyle/>
            <a:p>
              <a:pPr algn="ctr">
                <a:lnSpc>
                  <a:spcPts val="3960"/>
                </a:lnSpc>
              </a:pPr>
              <a:r>
                <a:rPr lang="en-US" sz="3300" b="true">
                  <a:solidFill>
                    <a:srgbClr val="512BD4"/>
                  </a:solidFill>
                  <a:latin typeface="Arial Bold"/>
                  <a:ea typeface="Arial Bold"/>
                  <a:cs typeface="Arial Bold"/>
                  <a:sym typeface="Arial Bold"/>
                </a:rPr>
                <a:t>→</a:t>
              </a:r>
            </a:p>
          </p:txBody>
        </p:sp>
      </p:grpSp>
      <p:grpSp>
        <p:nvGrpSpPr>
          <p:cNvPr name="Group 36" id="36"/>
          <p:cNvGrpSpPr/>
          <p:nvPr/>
        </p:nvGrpSpPr>
        <p:grpSpPr>
          <a:xfrm rot="0">
            <a:off x="9381744" y="3429000"/>
            <a:ext cx="3730752" cy="3566160"/>
            <a:chOff x="0" y="0"/>
            <a:chExt cx="4974336" cy="4754880"/>
          </a:xfrm>
        </p:grpSpPr>
        <p:sp>
          <p:nvSpPr>
            <p:cNvPr name="Freeform 37" id="37"/>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F4F1FC"/>
            </a:solidFill>
          </p:spPr>
        </p:sp>
      </p:grpSp>
      <p:grpSp>
        <p:nvGrpSpPr>
          <p:cNvPr name="Group 38" id="38"/>
          <p:cNvGrpSpPr/>
          <p:nvPr/>
        </p:nvGrpSpPr>
        <p:grpSpPr>
          <a:xfrm rot="0">
            <a:off x="10863072" y="3813048"/>
            <a:ext cx="768096" cy="768096"/>
            <a:chOff x="0" y="0"/>
            <a:chExt cx="1024128" cy="1024128"/>
          </a:xfrm>
        </p:grpSpPr>
        <p:sp>
          <p:nvSpPr>
            <p:cNvPr name="Freeform 39" id="39"/>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512BD4"/>
            </a:solidFill>
          </p:spPr>
        </p:sp>
      </p:grpSp>
      <p:grpSp>
        <p:nvGrpSpPr>
          <p:cNvPr name="Group 40" id="40"/>
          <p:cNvGrpSpPr/>
          <p:nvPr/>
        </p:nvGrpSpPr>
        <p:grpSpPr>
          <a:xfrm rot="0">
            <a:off x="10863072" y="3813048"/>
            <a:ext cx="768096" cy="768096"/>
            <a:chOff x="0" y="0"/>
            <a:chExt cx="1024128" cy="1024128"/>
          </a:xfrm>
        </p:grpSpPr>
        <p:sp>
          <p:nvSpPr>
            <p:cNvPr name="Freeform 41" id="41"/>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42" id="42"/>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3</a:t>
              </a:r>
            </a:p>
          </p:txBody>
        </p:sp>
      </p:grpSp>
      <p:grpSp>
        <p:nvGrpSpPr>
          <p:cNvPr name="Group 43" id="43"/>
          <p:cNvGrpSpPr/>
          <p:nvPr/>
        </p:nvGrpSpPr>
        <p:grpSpPr>
          <a:xfrm rot="0">
            <a:off x="9628632" y="4800600"/>
            <a:ext cx="3236976" cy="685800"/>
            <a:chOff x="0" y="0"/>
            <a:chExt cx="4315968" cy="914400"/>
          </a:xfrm>
        </p:grpSpPr>
        <p:sp>
          <p:nvSpPr>
            <p:cNvPr name="Freeform 44" id="44"/>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45" id="45"/>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201A3A"/>
                  </a:solidFill>
                  <a:latin typeface="Arial Bold"/>
                  <a:ea typeface="Arial Bold"/>
                  <a:cs typeface="Arial Bold"/>
                  <a:sym typeface="Arial Bold"/>
                </a:rPr>
                <a:t>JIT at Run Time</a:t>
              </a:r>
            </a:p>
          </p:txBody>
        </p:sp>
      </p:grpSp>
      <p:sp>
        <p:nvSpPr>
          <p:cNvPr name="TextBox 46" id="46"/>
          <p:cNvSpPr txBox="true"/>
          <p:nvPr/>
        </p:nvSpPr>
        <p:spPr>
          <a:xfrm rot="0">
            <a:off x="9720072" y="5513070"/>
            <a:ext cx="3054096" cy="1299210"/>
          </a:xfrm>
          <a:prstGeom prst="rect">
            <a:avLst/>
          </a:prstGeom>
        </p:spPr>
        <p:txBody>
          <a:bodyPr anchor="t" rtlCol="false" tIns="0" lIns="0" bIns="0" rIns="0">
            <a:spAutoFit/>
          </a:bodyPr>
          <a:lstStyle/>
          <a:p>
            <a:pPr algn="ctr">
              <a:lnSpc>
                <a:spcPts val="1889"/>
              </a:lnSpc>
            </a:pPr>
            <a:r>
              <a:rPr lang="en-US" sz="1575">
                <a:solidFill>
                  <a:srgbClr val="6E668A"/>
                </a:solidFill>
                <a:latin typeface="Calibri (MS)"/>
                <a:ea typeface="Calibri (MS)"/>
                <a:cs typeface="Calibri (MS)"/>
                <a:sym typeface="Calibri (MS)"/>
              </a:rPr>
              <a:t>The CLR JIT-compiles IL to native code on the target machine</a:t>
            </a:r>
          </a:p>
        </p:txBody>
      </p:sp>
      <p:grpSp>
        <p:nvGrpSpPr>
          <p:cNvPr name="Group 47" id="47"/>
          <p:cNvGrpSpPr/>
          <p:nvPr/>
        </p:nvGrpSpPr>
        <p:grpSpPr>
          <a:xfrm rot="0">
            <a:off x="13112496" y="4800600"/>
            <a:ext cx="480060" cy="822960"/>
            <a:chOff x="0" y="0"/>
            <a:chExt cx="640080" cy="1097280"/>
          </a:xfrm>
        </p:grpSpPr>
        <p:sp>
          <p:nvSpPr>
            <p:cNvPr name="Freeform 48" id="48"/>
            <p:cNvSpPr/>
            <p:nvPr/>
          </p:nvSpPr>
          <p:spPr>
            <a:xfrm flipH="false" flipV="false" rot="0">
              <a:off x="0" y="0"/>
              <a:ext cx="640080" cy="1097280"/>
            </a:xfrm>
            <a:custGeom>
              <a:avLst/>
              <a:gdLst/>
              <a:ahLst/>
              <a:cxnLst/>
              <a:rect r="r" b="b" t="t" l="l"/>
              <a:pathLst>
                <a:path h="1097280" w="640080">
                  <a:moveTo>
                    <a:pt x="0" y="0"/>
                  </a:moveTo>
                  <a:lnTo>
                    <a:pt x="640080" y="0"/>
                  </a:lnTo>
                  <a:lnTo>
                    <a:pt x="640080" y="1097280"/>
                  </a:lnTo>
                  <a:lnTo>
                    <a:pt x="0" y="1097280"/>
                  </a:lnTo>
                  <a:close/>
                </a:path>
              </a:pathLst>
            </a:custGeom>
            <a:blipFill>
              <a:blip r:embed="rId3">
                <a:alphaModFix amt="0"/>
              </a:blip>
              <a:stretch>
                <a:fillRect l="-169948" t="0" r="-169948" b="0"/>
              </a:stretch>
            </a:blipFill>
          </p:spPr>
        </p:sp>
        <p:sp>
          <p:nvSpPr>
            <p:cNvPr name="TextBox 49" id="49"/>
            <p:cNvSpPr txBox="true"/>
            <p:nvPr/>
          </p:nvSpPr>
          <p:spPr>
            <a:xfrm>
              <a:off x="0" y="-28575"/>
              <a:ext cx="640080" cy="1125855"/>
            </a:xfrm>
            <a:prstGeom prst="rect">
              <a:avLst/>
            </a:prstGeom>
          </p:spPr>
          <p:txBody>
            <a:bodyPr anchor="ctr" rtlCol="false" tIns="0" lIns="0" bIns="0" rIns="0"/>
            <a:lstStyle/>
            <a:p>
              <a:pPr algn="ctr">
                <a:lnSpc>
                  <a:spcPts val="3960"/>
                </a:lnSpc>
              </a:pPr>
              <a:r>
                <a:rPr lang="en-US" sz="3300" b="true">
                  <a:solidFill>
                    <a:srgbClr val="512BD4"/>
                  </a:solidFill>
                  <a:latin typeface="Arial Bold"/>
                  <a:ea typeface="Arial Bold"/>
                  <a:cs typeface="Arial Bold"/>
                  <a:sym typeface="Arial Bold"/>
                </a:rPr>
                <a:t>→</a:t>
              </a:r>
            </a:p>
          </p:txBody>
        </p:sp>
      </p:grpSp>
      <p:grpSp>
        <p:nvGrpSpPr>
          <p:cNvPr name="Group 50" id="50"/>
          <p:cNvGrpSpPr/>
          <p:nvPr/>
        </p:nvGrpSpPr>
        <p:grpSpPr>
          <a:xfrm rot="0">
            <a:off x="13592556" y="3429000"/>
            <a:ext cx="3730752" cy="3566160"/>
            <a:chOff x="0" y="0"/>
            <a:chExt cx="4974336" cy="4754880"/>
          </a:xfrm>
        </p:grpSpPr>
        <p:sp>
          <p:nvSpPr>
            <p:cNvPr name="Freeform 51" id="51"/>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512BD4"/>
            </a:solidFill>
          </p:spPr>
        </p:sp>
      </p:grpSp>
      <p:grpSp>
        <p:nvGrpSpPr>
          <p:cNvPr name="Group 52" id="52"/>
          <p:cNvGrpSpPr/>
          <p:nvPr/>
        </p:nvGrpSpPr>
        <p:grpSpPr>
          <a:xfrm rot="0">
            <a:off x="15073884" y="3813048"/>
            <a:ext cx="768096" cy="768096"/>
            <a:chOff x="0" y="0"/>
            <a:chExt cx="1024128" cy="1024128"/>
          </a:xfrm>
        </p:grpSpPr>
        <p:sp>
          <p:nvSpPr>
            <p:cNvPr name="Freeform 53" id="53"/>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FFFFF"/>
            </a:solidFill>
          </p:spPr>
        </p:sp>
      </p:grpSp>
      <p:grpSp>
        <p:nvGrpSpPr>
          <p:cNvPr name="Group 54" id="54"/>
          <p:cNvGrpSpPr/>
          <p:nvPr/>
        </p:nvGrpSpPr>
        <p:grpSpPr>
          <a:xfrm rot="0">
            <a:off x="15073884" y="3813048"/>
            <a:ext cx="768096" cy="768096"/>
            <a:chOff x="0" y="0"/>
            <a:chExt cx="1024128" cy="1024128"/>
          </a:xfrm>
        </p:grpSpPr>
        <p:sp>
          <p:nvSpPr>
            <p:cNvPr name="Freeform 55" id="5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56" id="56"/>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512BD4"/>
                  </a:solidFill>
                  <a:latin typeface="Arial Bold"/>
                  <a:ea typeface="Arial Bold"/>
                  <a:cs typeface="Arial Bold"/>
                  <a:sym typeface="Arial Bold"/>
                </a:rPr>
                <a:t>4</a:t>
              </a:r>
            </a:p>
          </p:txBody>
        </p:sp>
      </p:grpSp>
      <p:grpSp>
        <p:nvGrpSpPr>
          <p:cNvPr name="Group 57" id="57"/>
          <p:cNvGrpSpPr/>
          <p:nvPr/>
        </p:nvGrpSpPr>
        <p:grpSpPr>
          <a:xfrm rot="0">
            <a:off x="13839444" y="4800600"/>
            <a:ext cx="3236976" cy="685800"/>
            <a:chOff x="0" y="0"/>
            <a:chExt cx="4315968" cy="914400"/>
          </a:xfrm>
        </p:grpSpPr>
        <p:sp>
          <p:nvSpPr>
            <p:cNvPr name="Freeform 58" id="58"/>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59" id="59"/>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FFFFFF"/>
                  </a:solidFill>
                  <a:latin typeface="Arial Bold"/>
                  <a:ea typeface="Arial Bold"/>
                  <a:cs typeface="Arial Bold"/>
                  <a:sym typeface="Arial Bold"/>
                </a:rPr>
                <a:t>Runs Anywhere</a:t>
              </a:r>
            </a:p>
          </p:txBody>
        </p:sp>
      </p:grpSp>
      <p:sp>
        <p:nvSpPr>
          <p:cNvPr name="TextBox 60" id="60"/>
          <p:cNvSpPr txBox="true"/>
          <p:nvPr/>
        </p:nvSpPr>
        <p:spPr>
          <a:xfrm rot="0">
            <a:off x="13930884" y="5513070"/>
            <a:ext cx="3054096" cy="1299210"/>
          </a:xfrm>
          <a:prstGeom prst="rect">
            <a:avLst/>
          </a:prstGeom>
        </p:spPr>
        <p:txBody>
          <a:bodyPr anchor="t" rtlCol="false" tIns="0" lIns="0" bIns="0" rIns="0">
            <a:spAutoFit/>
          </a:bodyPr>
          <a:lstStyle/>
          <a:p>
            <a:pPr algn="ctr">
              <a:lnSpc>
                <a:spcPts val="1889"/>
              </a:lnSpc>
            </a:pPr>
            <a:r>
              <a:rPr lang="en-US" sz="1575">
                <a:solidFill>
                  <a:srgbClr val="C9BFEF"/>
                </a:solidFill>
                <a:latin typeface="Calibri (MS)"/>
                <a:ea typeface="Calibri (MS)"/>
                <a:cs typeface="Calibri (MS)"/>
                <a:sym typeface="Calibri (MS)"/>
              </a:rPr>
              <a:t>Same .dll runs on Windows / Linux / macOS, x64 / ARM</a:t>
            </a:r>
          </a:p>
        </p:txBody>
      </p:sp>
      <p:grpSp>
        <p:nvGrpSpPr>
          <p:cNvPr name="Group 61" id="61"/>
          <p:cNvGrpSpPr/>
          <p:nvPr/>
        </p:nvGrpSpPr>
        <p:grpSpPr>
          <a:xfrm rot="0">
            <a:off x="960120" y="7543800"/>
            <a:ext cx="16363188" cy="822960"/>
            <a:chOff x="0" y="0"/>
            <a:chExt cx="21817584" cy="1097280"/>
          </a:xfrm>
        </p:grpSpPr>
        <p:sp>
          <p:nvSpPr>
            <p:cNvPr name="Freeform 62" id="62"/>
            <p:cNvSpPr/>
            <p:nvPr/>
          </p:nvSpPr>
          <p:spPr>
            <a:xfrm flipH="false" flipV="false" rot="0">
              <a:off x="0" y="0"/>
              <a:ext cx="21817585" cy="1097280"/>
            </a:xfrm>
            <a:custGeom>
              <a:avLst/>
              <a:gdLst/>
              <a:ahLst/>
              <a:cxnLst/>
              <a:rect r="r" b="b" t="t" l="l"/>
              <a:pathLst>
                <a:path h="1097280" w="21817585">
                  <a:moveTo>
                    <a:pt x="0" y="0"/>
                  </a:moveTo>
                  <a:lnTo>
                    <a:pt x="21817585" y="0"/>
                  </a:lnTo>
                  <a:lnTo>
                    <a:pt x="21817585" y="1097280"/>
                  </a:lnTo>
                  <a:lnTo>
                    <a:pt x="0" y="1097280"/>
                  </a:lnTo>
                  <a:close/>
                </a:path>
              </a:pathLst>
            </a:custGeom>
            <a:blipFill>
              <a:blip r:embed="rId3">
                <a:alphaModFix amt="0"/>
              </a:blip>
              <a:stretch>
                <a:fillRect l="0" t="-337427" r="0" b="-337427"/>
              </a:stretch>
            </a:blipFill>
          </p:spPr>
        </p:sp>
        <p:sp>
          <p:nvSpPr>
            <p:cNvPr name="TextBox 63" id="63"/>
            <p:cNvSpPr txBox="true"/>
            <p:nvPr/>
          </p:nvSpPr>
          <p:spPr>
            <a:xfrm>
              <a:off x="0" y="-38100"/>
              <a:ext cx="21817584" cy="1135380"/>
            </a:xfrm>
            <a:prstGeom prst="rect">
              <a:avLst/>
            </a:prstGeom>
          </p:spPr>
          <p:txBody>
            <a:bodyPr anchor="ctr" rtlCol="false" tIns="0" lIns="0" bIns="0" rIns="0"/>
            <a:lstStyle/>
            <a:p>
              <a:pPr algn="ctr">
                <a:lnSpc>
                  <a:spcPts val="2160"/>
                </a:lnSpc>
              </a:pPr>
              <a:r>
                <a:rPr lang="en-US" sz="1800" i="true">
                  <a:solidFill>
                    <a:srgbClr val="6E668A"/>
                  </a:solidFill>
                  <a:latin typeface="Calibri (MS) Italics"/>
                  <a:ea typeface="Calibri (MS) Italics"/>
                  <a:cs typeface="Calibri (MS) Italics"/>
                  <a:sym typeface="Calibri (MS) Italics"/>
                </a:rPr>
                <a:t>The two-step compile is what makes .NET assemblies portable — the final translation to native code happens on the target machine, not at build time.</a:t>
              </a:r>
            </a:p>
          </p:txBody>
        </p:sp>
      </p:grpSp>
      <p:grpSp>
        <p:nvGrpSpPr>
          <p:cNvPr name="Group 64" id="64"/>
          <p:cNvGrpSpPr/>
          <p:nvPr/>
        </p:nvGrpSpPr>
        <p:grpSpPr>
          <a:xfrm rot="0">
            <a:off x="17053103" y="9820656"/>
            <a:ext cx="685800" cy="411480"/>
            <a:chOff x="0" y="0"/>
            <a:chExt cx="914400" cy="548640"/>
          </a:xfrm>
        </p:grpSpPr>
        <p:sp>
          <p:nvSpPr>
            <p:cNvPr name="Freeform 65" id="6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6" id="6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37</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4.2 THE MANIFEST</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What's Inside an Assembly — The Manifest</a:t>
              </a:r>
            </a:p>
          </p:txBody>
        </p:sp>
      </p:grpSp>
      <p:grpSp>
        <p:nvGrpSpPr>
          <p:cNvPr name="Group 8" id="8"/>
          <p:cNvGrpSpPr/>
          <p:nvPr/>
        </p:nvGrpSpPr>
        <p:grpSpPr>
          <a:xfrm rot="0">
            <a:off x="960120" y="2606040"/>
            <a:ext cx="9464040" cy="6858000"/>
            <a:chOff x="0" y="0"/>
            <a:chExt cx="12618720" cy="9144000"/>
          </a:xfrm>
        </p:grpSpPr>
        <p:sp>
          <p:nvSpPr>
            <p:cNvPr name="Freeform 9" id="9"/>
            <p:cNvSpPr/>
            <p:nvPr/>
          </p:nvSpPr>
          <p:spPr>
            <a:xfrm flipH="false" flipV="false" rot="0">
              <a:off x="0" y="0"/>
              <a:ext cx="12618720" cy="9144000"/>
            </a:xfrm>
            <a:custGeom>
              <a:avLst/>
              <a:gdLst/>
              <a:ahLst/>
              <a:cxnLst/>
              <a:rect r="r" b="b" t="t" l="l"/>
              <a:pathLst>
                <a:path h="9144000" w="12618720">
                  <a:moveTo>
                    <a:pt x="0" y="146304"/>
                  </a:moveTo>
                  <a:cubicBezTo>
                    <a:pt x="0" y="65532"/>
                    <a:pt x="65532" y="0"/>
                    <a:pt x="146304" y="0"/>
                  </a:cubicBezTo>
                  <a:lnTo>
                    <a:pt x="12472416" y="0"/>
                  </a:lnTo>
                  <a:cubicBezTo>
                    <a:pt x="12553188" y="0"/>
                    <a:pt x="12618720" y="65532"/>
                    <a:pt x="12618720" y="146304"/>
                  </a:cubicBezTo>
                  <a:lnTo>
                    <a:pt x="12618720" y="8997696"/>
                  </a:lnTo>
                  <a:cubicBezTo>
                    <a:pt x="12618720" y="9078468"/>
                    <a:pt x="12553188" y="9144000"/>
                    <a:pt x="1247241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513064" cy="5991225"/>
          </a:xfrm>
          <a:prstGeom prst="rect">
            <a:avLst/>
          </a:prstGeom>
        </p:spPr>
        <p:txBody>
          <a:bodyPr anchor="t" rtlCol="false" tIns="0" lIns="0" bIns="0" rIns="0">
            <a:spAutoFit/>
          </a:bodyPr>
          <a:lstStyle/>
          <a:p>
            <a:pPr algn="l">
              <a:lnSpc>
                <a:spcPts val="2654"/>
              </a:lnSpc>
            </a:pPr>
            <a:r>
              <a:rPr lang="en-US" sz="1875">
                <a:solidFill>
                  <a:srgbClr val="D9D4F0"/>
                </a:solidFill>
                <a:latin typeface="Courier New"/>
                <a:ea typeface="Courier New"/>
                <a:cs typeface="Courier New"/>
                <a:sym typeface="Courier New"/>
              </a:rPr>
              <a:t>using System.Reflection;</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Assembly current = Assembly.GetExecutingAssembly();</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Console.WriteLine(current.FullName);</a:t>
            </a:r>
          </a:p>
          <a:p>
            <a:pPr algn="l">
              <a:lnSpc>
                <a:spcPts val="2654"/>
              </a:lnSpc>
            </a:pPr>
            <a:r>
              <a:rPr lang="en-US" sz="1875">
                <a:solidFill>
                  <a:srgbClr val="8B84AE"/>
                </a:solidFill>
                <a:latin typeface="Courier New"/>
                <a:ea typeface="Courier New"/>
                <a:cs typeface="Courier New"/>
                <a:sym typeface="Courier New"/>
              </a:rPr>
              <a:t>// "MyApp, Version=1.2.0.0, Culture=neutral, PublicKeyToken=null"</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foreach (AssemblyName reference in current.GetReferencedAssemblies())</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r>
              <a:rPr lang="en-US" sz="1875">
                <a:solidFill>
                  <a:srgbClr val="D9D4F0"/>
                </a:solidFill>
                <a:latin typeface="Courier New"/>
                <a:ea typeface="Courier New"/>
                <a:cs typeface="Courier New"/>
                <a:sym typeface="Courier New"/>
              </a:rPr>
              <a:t>    Console.WriteLine($"Depends on: {reference.Name} v{reference.Version}");</a:t>
            </a:r>
          </a:p>
          <a:p>
            <a:pPr algn="l">
              <a:lnSpc>
                <a:spcPts val="2654"/>
              </a:lnSpc>
            </a:pPr>
            <a:r>
              <a:rPr lang="en-US" sz="1875">
                <a:solidFill>
                  <a:srgbClr val="D9D4F0"/>
                </a:solidFill>
                <a:latin typeface="Courier New"/>
                <a:ea typeface="Courier New"/>
                <a:cs typeface="Courier New"/>
                <a:sym typeface="Courier New"/>
              </a:rPr>
              <a:t>}</a:t>
            </a:r>
          </a:p>
        </p:txBody>
      </p:sp>
      <p:grpSp>
        <p:nvGrpSpPr>
          <p:cNvPr name="Group 17" id="17"/>
          <p:cNvGrpSpPr/>
          <p:nvPr/>
        </p:nvGrpSpPr>
        <p:grpSpPr>
          <a:xfrm rot="0">
            <a:off x="1090422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338560" y="2593467"/>
            <a:ext cx="603458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Every assembly carries a manifest: metadata describing its own identity (name, version, culture) and everything it depends on.</a:t>
            </a:r>
          </a:p>
        </p:txBody>
      </p:sp>
      <p:grpSp>
        <p:nvGrpSpPr>
          <p:cNvPr name="Group 20" id="20"/>
          <p:cNvGrpSpPr/>
          <p:nvPr/>
        </p:nvGrpSpPr>
        <p:grpSpPr>
          <a:xfrm rot="0">
            <a:off x="10904220" y="480060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338560" y="4650867"/>
            <a:ext cx="6034583" cy="21263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This is why a .dll is self-describing — you can hand someone a compiled assembly with no source code, and both humans and the CLR itself can inspect exactly what version it is and what it needs to run.</a:t>
            </a:r>
          </a:p>
        </p:txBody>
      </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38</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4.4 RUNTIME LOADING</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Loading Assemblies at Runtime — Plugin Architectures</a:t>
              </a:r>
            </a:p>
          </p:txBody>
        </p:sp>
      </p:grpSp>
      <p:grpSp>
        <p:nvGrpSpPr>
          <p:cNvPr name="Group 8" id="8"/>
          <p:cNvGrpSpPr/>
          <p:nvPr/>
        </p:nvGrpSpPr>
        <p:grpSpPr>
          <a:xfrm rot="0">
            <a:off x="960120" y="2606040"/>
            <a:ext cx="9464040" cy="6858000"/>
            <a:chOff x="0" y="0"/>
            <a:chExt cx="12618720" cy="9144000"/>
          </a:xfrm>
        </p:grpSpPr>
        <p:sp>
          <p:nvSpPr>
            <p:cNvPr name="Freeform 9" id="9"/>
            <p:cNvSpPr/>
            <p:nvPr/>
          </p:nvSpPr>
          <p:spPr>
            <a:xfrm flipH="false" flipV="false" rot="0">
              <a:off x="0" y="0"/>
              <a:ext cx="12618720" cy="9144000"/>
            </a:xfrm>
            <a:custGeom>
              <a:avLst/>
              <a:gdLst/>
              <a:ahLst/>
              <a:cxnLst/>
              <a:rect r="r" b="b" t="t" l="l"/>
              <a:pathLst>
                <a:path h="9144000" w="12618720">
                  <a:moveTo>
                    <a:pt x="0" y="146304"/>
                  </a:moveTo>
                  <a:cubicBezTo>
                    <a:pt x="0" y="65532"/>
                    <a:pt x="65532" y="0"/>
                    <a:pt x="146304" y="0"/>
                  </a:cubicBezTo>
                  <a:lnTo>
                    <a:pt x="12472416" y="0"/>
                  </a:lnTo>
                  <a:cubicBezTo>
                    <a:pt x="12553188" y="0"/>
                    <a:pt x="12618720" y="65532"/>
                    <a:pt x="12618720" y="146304"/>
                  </a:cubicBezTo>
                  <a:lnTo>
                    <a:pt x="12618720" y="8997696"/>
                  </a:lnTo>
                  <a:cubicBezTo>
                    <a:pt x="12618720" y="9078468"/>
                    <a:pt x="12553188" y="9144000"/>
                    <a:pt x="1247241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513064" cy="5991225"/>
          </a:xfrm>
          <a:prstGeom prst="rect">
            <a:avLst/>
          </a:prstGeom>
        </p:spPr>
        <p:txBody>
          <a:bodyPr anchor="t" rtlCol="false" tIns="0" lIns="0" bIns="0" rIns="0">
            <a:spAutoFit/>
          </a:bodyPr>
          <a:lstStyle/>
          <a:p>
            <a:pPr algn="l">
              <a:lnSpc>
                <a:spcPts val="2654"/>
              </a:lnSpc>
            </a:pPr>
            <a:r>
              <a:rPr lang="en-US" sz="1875">
                <a:solidFill>
                  <a:srgbClr val="D9D4F0"/>
                </a:solidFill>
                <a:latin typeface="Courier New"/>
                <a:ea typeface="Courier New"/>
                <a:cs typeface="Courier New"/>
                <a:sym typeface="Courier New"/>
              </a:rPr>
              <a:t>Assembly current = Assembly.GetExecutingAssembly();</a:t>
            </a:r>
          </a:p>
          <a:p>
            <a:pPr algn="l">
              <a:lnSpc>
                <a:spcPts val="2654"/>
              </a:lnSpc>
            </a:pPr>
          </a:p>
          <a:p>
            <a:pPr algn="l">
              <a:lnSpc>
                <a:spcPts val="2654"/>
              </a:lnSpc>
            </a:pPr>
            <a:r>
              <a:rPr lang="en-US" sz="1875">
                <a:solidFill>
                  <a:srgbClr val="8B84AE"/>
                </a:solidFill>
                <a:latin typeface="Courier New"/>
                <a:ea typeface="Courier New"/>
                <a:cs typeface="Courier New"/>
                <a:sym typeface="Courier New"/>
              </a:rPr>
              <a:t>// Get every Type defined in that assembly</a:t>
            </a:r>
          </a:p>
          <a:p>
            <a:pPr algn="l">
              <a:lnSpc>
                <a:spcPts val="2654"/>
              </a:lnSpc>
            </a:pPr>
            <a:r>
              <a:rPr lang="en-US" sz="1875">
                <a:solidFill>
                  <a:srgbClr val="D9D4F0"/>
                </a:solidFill>
                <a:latin typeface="Courier New"/>
                <a:ea typeface="Courier New"/>
                <a:cs typeface="Courier New"/>
                <a:sym typeface="Courier New"/>
              </a:rPr>
              <a:t>Type[] types = current.GetTypes();</a:t>
            </a:r>
          </a:p>
          <a:p>
            <a:pPr algn="l">
              <a:lnSpc>
                <a:spcPts val="2654"/>
              </a:lnSpc>
            </a:pPr>
          </a:p>
          <a:p>
            <a:pPr algn="l">
              <a:lnSpc>
                <a:spcPts val="2654"/>
              </a:lnSpc>
            </a:pPr>
            <a:r>
              <a:rPr lang="en-US" sz="1875">
                <a:solidFill>
                  <a:srgbClr val="8B84AE"/>
                </a:solidFill>
                <a:latin typeface="Courier New"/>
                <a:ea typeface="Courier New"/>
                <a:cs typeface="Courier New"/>
                <a:sym typeface="Courier New"/>
              </a:rPr>
              <a:t>// Load a completely different assembly by file path, at runtime</a:t>
            </a:r>
          </a:p>
          <a:p>
            <a:pPr algn="l">
              <a:lnSpc>
                <a:spcPts val="2654"/>
              </a:lnSpc>
            </a:pPr>
            <a:r>
              <a:rPr lang="en-US" sz="1875">
                <a:solidFill>
                  <a:srgbClr val="D9D4F0"/>
                </a:solidFill>
                <a:latin typeface="Courier New"/>
                <a:ea typeface="Courier New"/>
                <a:cs typeface="Courier New"/>
                <a:sym typeface="Courier New"/>
              </a:rPr>
              <a:t>Assembly pluginAssembly =</a:t>
            </a:r>
          </a:p>
          <a:p>
            <a:pPr algn="l">
              <a:lnSpc>
                <a:spcPts val="2654"/>
              </a:lnSpc>
            </a:pPr>
            <a:r>
              <a:rPr lang="en-US" sz="1875">
                <a:solidFill>
                  <a:srgbClr val="D9D4F0"/>
                </a:solidFill>
                <a:latin typeface="Courier New"/>
                <a:ea typeface="Courier New"/>
                <a:cs typeface="Courier New"/>
                <a:sym typeface="Courier New"/>
              </a:rPr>
              <a:t>    Assembly.LoadFrom(@"C:\Plugins\ReportPlugin.dll");</a:t>
            </a:r>
          </a:p>
          <a:p>
            <a:pPr algn="l">
              <a:lnSpc>
                <a:spcPts val="2654"/>
              </a:lnSpc>
            </a:pPr>
          </a:p>
          <a:p>
            <a:pPr algn="l">
              <a:lnSpc>
                <a:spcPts val="2654"/>
              </a:lnSpc>
            </a:pPr>
            <a:r>
              <a:rPr lang="en-US" sz="1875">
                <a:solidFill>
                  <a:srgbClr val="8B84AE"/>
                </a:solidFill>
                <a:latin typeface="Courier New"/>
                <a:ea typeface="Courier New"/>
                <a:cs typeface="Courier New"/>
                <a:sym typeface="Courier New"/>
              </a:rPr>
              <a:t>// Find a specific type by its fully-qualified name inside that assembly</a:t>
            </a:r>
          </a:p>
          <a:p>
            <a:pPr algn="l">
              <a:lnSpc>
                <a:spcPts val="2654"/>
              </a:lnSpc>
            </a:pPr>
            <a:r>
              <a:rPr lang="en-US" sz="1875">
                <a:solidFill>
                  <a:srgbClr val="D9D4F0"/>
                </a:solidFill>
                <a:latin typeface="Courier New"/>
                <a:ea typeface="Courier New"/>
                <a:cs typeface="Courier New"/>
                <a:sym typeface="Courier New"/>
              </a:rPr>
              <a:t>Type reportType =</a:t>
            </a:r>
          </a:p>
          <a:p>
            <a:pPr algn="l">
              <a:lnSpc>
                <a:spcPts val="2654"/>
              </a:lnSpc>
            </a:pPr>
            <a:r>
              <a:rPr lang="en-US" sz="1875">
                <a:solidFill>
                  <a:srgbClr val="D9D4F0"/>
                </a:solidFill>
                <a:latin typeface="Courier New"/>
                <a:ea typeface="Courier New"/>
                <a:cs typeface="Courier New"/>
                <a:sym typeface="Courier New"/>
              </a:rPr>
              <a:t>    pluginAssembly.GetType("ReportPlugin.MonthlyReport");</a:t>
            </a:r>
          </a:p>
        </p:txBody>
      </p:sp>
      <p:grpSp>
        <p:nvGrpSpPr>
          <p:cNvPr name="Group 17" id="17"/>
          <p:cNvGrpSpPr/>
          <p:nvPr/>
        </p:nvGrpSpPr>
        <p:grpSpPr>
          <a:xfrm rot="0">
            <a:off x="1090422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1338560" y="2593467"/>
            <a:ext cx="6034583" cy="17072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This is the foundation of plugin architectures: the app ships with a fixed core, scans a Plugins folder at startup, and loads whatever .dlls it finds.</a:t>
            </a:r>
          </a:p>
        </p:txBody>
      </p:sp>
      <p:grpSp>
        <p:nvGrpSpPr>
          <p:cNvPr name="Group 20" id="20"/>
          <p:cNvGrpSpPr/>
          <p:nvPr/>
        </p:nvGrpSpPr>
        <p:grpSpPr>
          <a:xfrm rot="0">
            <a:off x="10904220" y="493776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1338560" y="4788027"/>
            <a:ext cx="603458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It looks for types matching a known interface or attribute — all without ever compiling against those plugin assemblies directly.</a:t>
            </a:r>
          </a:p>
        </p:txBody>
      </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39</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4.5 ISOLATION &amp; UNLOADING</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AssemblyLoadContext — The Modern Isolation Mechanism</a:t>
              </a:r>
            </a:p>
          </p:txBody>
        </p:sp>
      </p:grpSp>
      <p:grpSp>
        <p:nvGrpSpPr>
          <p:cNvPr name="Group 8" id="8"/>
          <p:cNvGrpSpPr/>
          <p:nvPr/>
        </p:nvGrpSpPr>
        <p:grpSpPr>
          <a:xfrm rot="0">
            <a:off x="960120" y="2606040"/>
            <a:ext cx="9052560" cy="6858000"/>
            <a:chOff x="0" y="0"/>
            <a:chExt cx="12070080" cy="9144000"/>
          </a:xfrm>
        </p:grpSpPr>
        <p:sp>
          <p:nvSpPr>
            <p:cNvPr name="Freeform 9" id="9"/>
            <p:cNvSpPr/>
            <p:nvPr/>
          </p:nvSpPr>
          <p:spPr>
            <a:xfrm flipH="false" flipV="false" rot="0">
              <a:off x="0" y="0"/>
              <a:ext cx="12070080" cy="9144000"/>
            </a:xfrm>
            <a:custGeom>
              <a:avLst/>
              <a:gdLst/>
              <a:ahLst/>
              <a:cxnLst/>
              <a:rect r="r" b="b" t="t" l="l"/>
              <a:pathLst>
                <a:path h="9144000" w="12070080">
                  <a:moveTo>
                    <a:pt x="0" y="146304"/>
                  </a:moveTo>
                  <a:cubicBezTo>
                    <a:pt x="0" y="65532"/>
                    <a:pt x="65532" y="0"/>
                    <a:pt x="146304" y="0"/>
                  </a:cubicBezTo>
                  <a:lnTo>
                    <a:pt x="11923776" y="0"/>
                  </a:lnTo>
                  <a:cubicBezTo>
                    <a:pt x="12004548" y="0"/>
                    <a:pt x="12070080" y="65532"/>
                    <a:pt x="12070080" y="146304"/>
                  </a:cubicBezTo>
                  <a:lnTo>
                    <a:pt x="12070080" y="8997696"/>
                  </a:lnTo>
                  <a:cubicBezTo>
                    <a:pt x="12070080" y="9078468"/>
                    <a:pt x="12004548" y="9144000"/>
                    <a:pt x="11923776" y="9144000"/>
                  </a:cubicBezTo>
                  <a:lnTo>
                    <a:pt x="146304" y="9144000"/>
                  </a:lnTo>
                  <a:cubicBezTo>
                    <a:pt x="65532" y="9144000"/>
                    <a:pt x="0" y="9078468"/>
                    <a:pt x="0" y="8997696"/>
                  </a:cubicBezTo>
                  <a:close/>
                </a:path>
              </a:pathLst>
            </a:custGeom>
            <a:solidFill>
              <a:srgbClr val="1E1B33"/>
            </a:solidFill>
          </p:spPr>
        </p:sp>
      </p:grpSp>
      <p:grpSp>
        <p:nvGrpSpPr>
          <p:cNvPr name="Group 10" id="10"/>
          <p:cNvGrpSpPr/>
          <p:nvPr/>
        </p:nvGrpSpPr>
        <p:grpSpPr>
          <a:xfrm rot="0">
            <a:off x="1234440" y="282549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82549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82549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80207"/>
            <a:ext cx="8101584" cy="5991225"/>
          </a:xfrm>
          <a:prstGeom prst="rect">
            <a:avLst/>
          </a:prstGeom>
        </p:spPr>
        <p:txBody>
          <a:bodyPr anchor="t" rtlCol="false" tIns="0" lIns="0" bIns="0" rIns="0">
            <a:spAutoFit/>
          </a:bodyPr>
          <a:lstStyle/>
          <a:p>
            <a:pPr algn="l">
              <a:lnSpc>
                <a:spcPts val="2761"/>
              </a:lnSpc>
            </a:pPr>
            <a:r>
              <a:rPr lang="en-US" sz="1950">
                <a:solidFill>
                  <a:srgbClr val="D9D4F0"/>
                </a:solidFill>
                <a:latin typeface="Courier New"/>
                <a:ea typeface="Courier New"/>
                <a:cs typeface="Courier New"/>
                <a:sym typeface="Courier New"/>
              </a:rPr>
              <a:t>var loadContext = new AssemblyLoadContext(</a:t>
            </a:r>
          </a:p>
          <a:p>
            <a:pPr algn="l">
              <a:lnSpc>
                <a:spcPts val="2761"/>
              </a:lnSpc>
            </a:pPr>
            <a:r>
              <a:rPr lang="en-US" sz="1950">
                <a:solidFill>
                  <a:srgbClr val="D9D4F0"/>
                </a:solidFill>
                <a:latin typeface="Courier New"/>
                <a:ea typeface="Courier New"/>
                <a:cs typeface="Courier New"/>
                <a:sym typeface="Courier New"/>
              </a:rPr>
              <a:t>    "PluginContext", isCollectible: true);</a:t>
            </a:r>
          </a:p>
          <a:p>
            <a:pPr algn="l">
              <a:lnSpc>
                <a:spcPts val="2761"/>
              </a:lnSpc>
            </a:pPr>
          </a:p>
          <a:p>
            <a:pPr algn="l">
              <a:lnSpc>
                <a:spcPts val="2761"/>
              </a:lnSpc>
            </a:pPr>
            <a:r>
              <a:rPr lang="en-US" sz="1950">
                <a:solidFill>
                  <a:srgbClr val="D9D4F0"/>
                </a:solidFill>
                <a:latin typeface="Courier New"/>
                <a:ea typeface="Courier New"/>
                <a:cs typeface="Courier New"/>
                <a:sym typeface="Courier New"/>
              </a:rPr>
              <a:t>Assembly plugin =</a:t>
            </a:r>
          </a:p>
          <a:p>
            <a:pPr algn="l">
              <a:lnSpc>
                <a:spcPts val="2761"/>
              </a:lnSpc>
            </a:pPr>
            <a:r>
              <a:rPr lang="en-US" sz="1950">
                <a:solidFill>
                  <a:srgbClr val="D9D4F0"/>
                </a:solidFill>
                <a:latin typeface="Courier New"/>
                <a:ea typeface="Courier New"/>
                <a:cs typeface="Courier New"/>
                <a:sym typeface="Courier New"/>
              </a:rPr>
              <a:t>    loadContext.LoadFromAssemblyPath(@"C:\Plugins\ReportPlugin.dll");</a:t>
            </a:r>
          </a:p>
          <a:p>
            <a:pPr algn="l">
              <a:lnSpc>
                <a:spcPts val="2761"/>
              </a:lnSpc>
            </a:pPr>
          </a:p>
          <a:p>
            <a:pPr algn="l">
              <a:lnSpc>
                <a:spcPts val="2761"/>
              </a:lnSpc>
            </a:pPr>
            <a:r>
              <a:rPr lang="en-US" sz="1950">
                <a:solidFill>
                  <a:srgbClr val="8B84AE"/>
                </a:solidFill>
                <a:latin typeface="Courier New"/>
                <a:ea typeface="Courier New"/>
                <a:cs typeface="Courier New"/>
                <a:sym typeface="Courier New"/>
              </a:rPr>
              <a:t>// ... use the plugin ...</a:t>
            </a:r>
          </a:p>
          <a:p>
            <a:pPr algn="l">
              <a:lnSpc>
                <a:spcPts val="2761"/>
              </a:lnSpc>
            </a:pPr>
          </a:p>
          <a:p>
            <a:pPr algn="l">
              <a:lnSpc>
                <a:spcPts val="2761"/>
              </a:lnSpc>
            </a:pPr>
            <a:r>
              <a:rPr lang="en-US" sz="1950">
                <a:solidFill>
                  <a:srgbClr val="D9D4F0"/>
                </a:solidFill>
                <a:latin typeface="Courier New"/>
                <a:ea typeface="Courier New"/>
                <a:cs typeface="Courier New"/>
                <a:sym typeface="Courier New"/>
              </a:rPr>
              <a:t>loadContext.Unload();  // releases the plugin assembly for GC</a:t>
            </a:r>
          </a:p>
        </p:txBody>
      </p:sp>
      <p:grpSp>
        <p:nvGrpSpPr>
          <p:cNvPr name="Group 17" id="17"/>
          <p:cNvGrpSpPr/>
          <p:nvPr/>
        </p:nvGrpSpPr>
        <p:grpSpPr>
          <a:xfrm rot="0">
            <a:off x="10492740" y="2743200"/>
            <a:ext cx="137160" cy="137160"/>
            <a:chOff x="0" y="0"/>
            <a:chExt cx="182880" cy="182880"/>
          </a:xfrm>
        </p:grpSpPr>
        <p:sp>
          <p:nvSpPr>
            <p:cNvPr name="Freeform 18" id="1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19" id="19"/>
          <p:cNvSpPr txBox="true"/>
          <p:nvPr/>
        </p:nvSpPr>
        <p:spPr>
          <a:xfrm rot="0">
            <a:off x="10927080" y="2593467"/>
            <a:ext cx="6446063" cy="8690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Older .NET Framework code used AppDomains to isolate and unload groups of assemblies.</a:t>
            </a:r>
          </a:p>
        </p:txBody>
      </p:sp>
      <p:grpSp>
        <p:nvGrpSpPr>
          <p:cNvPr name="Group 20" id="20"/>
          <p:cNvGrpSpPr/>
          <p:nvPr/>
        </p:nvGrpSpPr>
        <p:grpSpPr>
          <a:xfrm rot="0">
            <a:off x="10492740" y="4320540"/>
            <a:ext cx="137160" cy="137160"/>
            <a:chOff x="0" y="0"/>
            <a:chExt cx="182880" cy="182880"/>
          </a:xfrm>
        </p:grpSpPr>
        <p:sp>
          <p:nvSpPr>
            <p:cNvPr name="Freeform 21" id="2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2" id="22"/>
          <p:cNvSpPr txBox="true"/>
          <p:nvPr/>
        </p:nvSpPr>
        <p:spPr>
          <a:xfrm rot="0">
            <a:off x="10927080" y="4170807"/>
            <a:ext cx="6446063" cy="12881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Modern .NET replaced that with AssemblyLoadContext, which loads assemblies into an isolated, unloadable context.</a:t>
            </a:r>
          </a:p>
        </p:txBody>
      </p:sp>
      <p:grpSp>
        <p:nvGrpSpPr>
          <p:cNvPr name="Group 23" id="23"/>
          <p:cNvGrpSpPr/>
          <p:nvPr/>
        </p:nvGrpSpPr>
        <p:grpSpPr>
          <a:xfrm rot="0">
            <a:off x="10492740" y="5897880"/>
            <a:ext cx="137160" cy="137160"/>
            <a:chOff x="0" y="0"/>
            <a:chExt cx="182880" cy="182880"/>
          </a:xfrm>
        </p:grpSpPr>
        <p:sp>
          <p:nvSpPr>
            <p:cNvPr name="Freeform 24" id="2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22D3EE"/>
            </a:solidFill>
          </p:spPr>
        </p:sp>
      </p:grpSp>
      <p:sp>
        <p:nvSpPr>
          <p:cNvPr name="TextBox 25" id="25"/>
          <p:cNvSpPr txBox="true"/>
          <p:nvPr/>
        </p:nvSpPr>
        <p:spPr>
          <a:xfrm rot="0">
            <a:off x="10927080" y="5748147"/>
            <a:ext cx="6446063" cy="1707261"/>
          </a:xfrm>
          <a:prstGeom prst="rect">
            <a:avLst/>
          </a:prstGeom>
        </p:spPr>
        <p:txBody>
          <a:bodyPr anchor="t" rtlCol="false" tIns="0" lIns="0" bIns="0" rIns="0">
            <a:spAutoFit/>
          </a:bodyPr>
          <a:lstStyle/>
          <a:p>
            <a:pPr algn="l">
              <a:lnSpc>
                <a:spcPts val="3311"/>
              </a:lnSpc>
            </a:pPr>
            <a:r>
              <a:rPr lang="en-US" sz="2400">
                <a:solidFill>
                  <a:srgbClr val="201A3A"/>
                </a:solidFill>
                <a:latin typeface="Calibri (MS)"/>
                <a:ea typeface="Calibri (MS)"/>
                <a:cs typeface="Calibri (MS)"/>
                <a:sym typeface="Calibri (MS)"/>
              </a:rPr>
              <a:t>Without isolation, every loaded assembly stays loaded for the life of the process. isCollectible: true is what makes hot-reloadable plugin systems (and dotnet watch) possible.</a:t>
            </a:r>
          </a:p>
        </p:txBody>
      </p:sp>
      <p:grpSp>
        <p:nvGrpSpPr>
          <p:cNvPr name="Group 26" id="26"/>
          <p:cNvGrpSpPr/>
          <p:nvPr/>
        </p:nvGrpSpPr>
        <p:grpSpPr>
          <a:xfrm rot="0">
            <a:off x="17053103" y="9820656"/>
            <a:ext cx="685800" cy="411480"/>
            <a:chOff x="0" y="0"/>
            <a:chExt cx="914400" cy="548640"/>
          </a:xfrm>
        </p:grpSpPr>
        <p:sp>
          <p:nvSpPr>
            <p:cNvPr name="Freeform 27" id="2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8" id="28"/>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40</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22D3EE"/>
                  </a:solidFill>
                  <a:latin typeface="Calibri (MS) Bold"/>
                  <a:ea typeface="Calibri (MS) Bold"/>
                  <a:cs typeface="Calibri (MS) Bold"/>
                  <a:sym typeface="Calibri (MS) Bold"/>
                </a:rPr>
                <a:t>4.6 BRIEF OVERVIEW</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Versioning and Strong Naming</a:t>
              </a:r>
            </a:p>
          </p:txBody>
        </p:sp>
      </p:grpSp>
      <p:grpSp>
        <p:nvGrpSpPr>
          <p:cNvPr name="Group 8" id="8"/>
          <p:cNvGrpSpPr/>
          <p:nvPr/>
        </p:nvGrpSpPr>
        <p:grpSpPr>
          <a:xfrm rot="0">
            <a:off x="1222534" y="2868454"/>
            <a:ext cx="15797212" cy="1601152"/>
            <a:chOff x="0" y="0"/>
            <a:chExt cx="21062950" cy="2134870"/>
          </a:xfrm>
        </p:grpSpPr>
        <p:sp>
          <p:nvSpPr>
            <p:cNvPr name="Freeform 9" id="9"/>
            <p:cNvSpPr/>
            <p:nvPr/>
          </p:nvSpPr>
          <p:spPr>
            <a:xfrm flipH="false" flipV="false" rot="0">
              <a:off x="0" y="0"/>
              <a:ext cx="21062950" cy="2134870"/>
            </a:xfrm>
            <a:custGeom>
              <a:avLst/>
              <a:gdLst/>
              <a:ahLst/>
              <a:cxnLst/>
              <a:rect r="r" b="b" t="t" l="l"/>
              <a:pathLst>
                <a:path h="2134870" w="21062950">
                  <a:moveTo>
                    <a:pt x="0" y="185674"/>
                  </a:moveTo>
                  <a:cubicBezTo>
                    <a:pt x="0" y="83058"/>
                    <a:pt x="83058" y="0"/>
                    <a:pt x="185674" y="0"/>
                  </a:cubicBezTo>
                  <a:lnTo>
                    <a:pt x="20877276" y="0"/>
                  </a:lnTo>
                  <a:cubicBezTo>
                    <a:pt x="20979764" y="0"/>
                    <a:pt x="21062950" y="83058"/>
                    <a:pt x="21062950" y="185674"/>
                  </a:cubicBezTo>
                  <a:lnTo>
                    <a:pt x="21062950" y="1949196"/>
                  </a:lnTo>
                  <a:cubicBezTo>
                    <a:pt x="21062950" y="2051685"/>
                    <a:pt x="20979892" y="2134870"/>
                    <a:pt x="20877276" y="2134870"/>
                  </a:cubicBezTo>
                  <a:lnTo>
                    <a:pt x="185674" y="2134870"/>
                  </a:lnTo>
                  <a:cubicBezTo>
                    <a:pt x="83058" y="2134870"/>
                    <a:pt x="0" y="2051812"/>
                    <a:pt x="0" y="1949196"/>
                  </a:cubicBezTo>
                  <a:close/>
                </a:path>
              </a:pathLst>
            </a:custGeom>
            <a:solidFill>
              <a:srgbClr val="241659"/>
            </a:solidFill>
            <a:ln w="23812" cap="sq">
              <a:solidFill>
                <a:srgbClr val="22D3EE"/>
              </a:solidFill>
              <a:prstDash val="solid"/>
              <a:miter/>
            </a:ln>
          </p:spPr>
        </p:sp>
      </p:grpSp>
      <p:grpSp>
        <p:nvGrpSpPr>
          <p:cNvPr name="Group 10" id="10"/>
          <p:cNvGrpSpPr/>
          <p:nvPr/>
        </p:nvGrpSpPr>
        <p:grpSpPr>
          <a:xfrm rot="0">
            <a:off x="1508760" y="2880360"/>
            <a:ext cx="1234440" cy="1577340"/>
            <a:chOff x="0" y="0"/>
            <a:chExt cx="1645920" cy="2103120"/>
          </a:xfrm>
        </p:grpSpPr>
        <p:sp>
          <p:nvSpPr>
            <p:cNvPr name="Freeform 11" id="11"/>
            <p:cNvSpPr/>
            <p:nvPr/>
          </p:nvSpPr>
          <p:spPr>
            <a:xfrm flipH="false" flipV="false" rot="0">
              <a:off x="0" y="0"/>
              <a:ext cx="1645920" cy="2103120"/>
            </a:xfrm>
            <a:custGeom>
              <a:avLst/>
              <a:gdLst/>
              <a:ahLst/>
              <a:cxnLst/>
              <a:rect r="r" b="b" t="t" l="l"/>
              <a:pathLst>
                <a:path h="2103120" w="1645920">
                  <a:moveTo>
                    <a:pt x="0" y="0"/>
                  </a:moveTo>
                  <a:lnTo>
                    <a:pt x="1645920" y="0"/>
                  </a:lnTo>
                  <a:lnTo>
                    <a:pt x="1645920" y="2103120"/>
                  </a:lnTo>
                  <a:lnTo>
                    <a:pt x="0" y="2103120"/>
                  </a:lnTo>
                  <a:close/>
                </a:path>
              </a:pathLst>
            </a:custGeom>
            <a:blipFill>
              <a:blip r:embed="rId3">
                <a:alphaModFix amt="0"/>
              </a:blip>
              <a:stretch>
                <a:fillRect l="-113943" t="0" r="-113943" b="0"/>
              </a:stretch>
            </a:blipFill>
          </p:spPr>
        </p:sp>
        <p:sp>
          <p:nvSpPr>
            <p:cNvPr name="TextBox 12" id="12"/>
            <p:cNvSpPr txBox="true"/>
            <p:nvPr/>
          </p:nvSpPr>
          <p:spPr>
            <a:xfrm>
              <a:off x="0" y="-28575"/>
              <a:ext cx="1645920" cy="2131695"/>
            </a:xfrm>
            <a:prstGeom prst="rect">
              <a:avLst/>
            </a:prstGeom>
          </p:spPr>
          <p:txBody>
            <a:bodyPr anchor="ctr" rtlCol="false" tIns="0" lIns="0" bIns="0" rIns="0"/>
            <a:lstStyle/>
            <a:p>
              <a:pPr algn="ctr">
                <a:lnSpc>
                  <a:spcPts val="6120"/>
                </a:lnSpc>
              </a:pPr>
              <a:r>
                <a:rPr lang="en-US" sz="5100" b="true">
                  <a:solidFill>
                    <a:srgbClr val="22D3EE"/>
                  </a:solidFill>
                  <a:latin typeface="Arial Bold"/>
                  <a:ea typeface="Arial Bold"/>
                  <a:cs typeface="Arial Bold"/>
                  <a:sym typeface="Arial Bold"/>
                </a:rPr>
                <a:t>Q</a:t>
              </a:r>
            </a:p>
          </p:txBody>
        </p:sp>
      </p:grpSp>
      <p:grpSp>
        <p:nvGrpSpPr>
          <p:cNvPr name="Group 13" id="13"/>
          <p:cNvGrpSpPr/>
          <p:nvPr/>
        </p:nvGrpSpPr>
        <p:grpSpPr>
          <a:xfrm rot="0">
            <a:off x="2811780" y="2880360"/>
            <a:ext cx="13921740" cy="1577340"/>
            <a:chOff x="0" y="0"/>
            <a:chExt cx="18562320" cy="2103120"/>
          </a:xfrm>
        </p:grpSpPr>
        <p:sp>
          <p:nvSpPr>
            <p:cNvPr name="Freeform 14" id="14"/>
            <p:cNvSpPr/>
            <p:nvPr/>
          </p:nvSpPr>
          <p:spPr>
            <a:xfrm flipH="false" flipV="false" rot="0">
              <a:off x="0" y="0"/>
              <a:ext cx="18562320" cy="2103120"/>
            </a:xfrm>
            <a:custGeom>
              <a:avLst/>
              <a:gdLst/>
              <a:ahLst/>
              <a:cxnLst/>
              <a:rect r="r" b="b" t="t" l="l"/>
              <a:pathLst>
                <a:path h="2103120" w="18562320">
                  <a:moveTo>
                    <a:pt x="0" y="0"/>
                  </a:moveTo>
                  <a:lnTo>
                    <a:pt x="18562320" y="0"/>
                  </a:lnTo>
                  <a:lnTo>
                    <a:pt x="18562320" y="2103120"/>
                  </a:lnTo>
                  <a:lnTo>
                    <a:pt x="0" y="2103120"/>
                  </a:lnTo>
                  <a:close/>
                </a:path>
              </a:pathLst>
            </a:custGeom>
            <a:blipFill>
              <a:blip r:embed="rId3">
                <a:alphaModFix amt="0"/>
              </a:blip>
              <a:stretch>
                <a:fillRect l="0" t="-121976" r="0" b="-121976"/>
              </a:stretch>
            </a:blipFill>
          </p:spPr>
        </p:sp>
        <p:sp>
          <p:nvSpPr>
            <p:cNvPr name="TextBox 15" id="15"/>
            <p:cNvSpPr txBox="true"/>
            <p:nvPr/>
          </p:nvSpPr>
          <p:spPr>
            <a:xfrm>
              <a:off x="0" y="-9525"/>
              <a:ext cx="18562320" cy="2112645"/>
            </a:xfrm>
            <a:prstGeom prst="rect">
              <a:avLst/>
            </a:prstGeom>
          </p:spPr>
          <p:txBody>
            <a:bodyPr anchor="ctr" rtlCol="false" tIns="0" lIns="0" bIns="0" rIns="0"/>
            <a:lstStyle/>
            <a:p>
              <a:pPr algn="l">
                <a:lnSpc>
                  <a:spcPts val="3060"/>
                </a:lnSpc>
              </a:pPr>
              <a:r>
                <a:rPr lang="en-US" b="true" sz="2550" i="true">
                  <a:solidFill>
                    <a:srgbClr val="FFFFFF"/>
                  </a:solidFill>
                  <a:latin typeface="Arial Bold Italics"/>
                  <a:ea typeface="Arial Bold Italics"/>
                  <a:cs typeface="Arial Bold Italics"/>
                  <a:sym typeface="Arial Bold Italics"/>
                </a:rPr>
                <a:t>What's the difference between an assembly's version and a NuGet package's version?</a:t>
              </a:r>
            </a:p>
          </p:txBody>
        </p:sp>
      </p:grpSp>
      <p:grpSp>
        <p:nvGrpSpPr>
          <p:cNvPr name="Group 16" id="16"/>
          <p:cNvGrpSpPr/>
          <p:nvPr/>
        </p:nvGrpSpPr>
        <p:grpSpPr>
          <a:xfrm rot="0">
            <a:off x="1234440" y="4869180"/>
            <a:ext cx="15773400" cy="4251960"/>
            <a:chOff x="0" y="0"/>
            <a:chExt cx="21031200" cy="5669280"/>
          </a:xfrm>
        </p:grpSpPr>
        <p:sp>
          <p:nvSpPr>
            <p:cNvPr name="Freeform 17" id="17"/>
            <p:cNvSpPr/>
            <p:nvPr/>
          </p:nvSpPr>
          <p:spPr>
            <a:xfrm flipH="false" flipV="false" rot="0">
              <a:off x="0" y="0"/>
              <a:ext cx="21031200" cy="5669280"/>
            </a:xfrm>
            <a:custGeom>
              <a:avLst/>
              <a:gdLst/>
              <a:ahLst/>
              <a:cxnLst/>
              <a:rect r="r" b="b" t="t" l="l"/>
              <a:pathLst>
                <a:path h="5669280" w="21031200">
                  <a:moveTo>
                    <a:pt x="0" y="182880"/>
                  </a:moveTo>
                  <a:cubicBezTo>
                    <a:pt x="0" y="81915"/>
                    <a:pt x="81915" y="0"/>
                    <a:pt x="182880" y="0"/>
                  </a:cubicBezTo>
                  <a:lnTo>
                    <a:pt x="20848320" y="0"/>
                  </a:lnTo>
                  <a:cubicBezTo>
                    <a:pt x="20949284" y="0"/>
                    <a:pt x="21031200" y="81915"/>
                    <a:pt x="21031200" y="182880"/>
                  </a:cubicBezTo>
                  <a:lnTo>
                    <a:pt x="21031200" y="5486400"/>
                  </a:lnTo>
                  <a:cubicBezTo>
                    <a:pt x="21031200" y="5587365"/>
                    <a:pt x="20949284" y="5669280"/>
                    <a:pt x="20848320" y="5669280"/>
                  </a:cubicBezTo>
                  <a:lnTo>
                    <a:pt x="182880" y="5669280"/>
                  </a:lnTo>
                  <a:cubicBezTo>
                    <a:pt x="81915" y="5669280"/>
                    <a:pt x="0" y="5587365"/>
                    <a:pt x="0" y="5486400"/>
                  </a:cubicBezTo>
                  <a:close/>
                </a:path>
              </a:pathLst>
            </a:custGeom>
            <a:solidFill>
              <a:srgbClr val="FFFFFF"/>
            </a:solidFill>
          </p:spPr>
        </p:sp>
      </p:grpSp>
      <p:sp>
        <p:nvSpPr>
          <p:cNvPr name="TextBox 18" id="18"/>
          <p:cNvSpPr txBox="true"/>
          <p:nvPr/>
        </p:nvSpPr>
        <p:spPr>
          <a:xfrm rot="0">
            <a:off x="1600200" y="4886325"/>
            <a:ext cx="1051560" cy="4189095"/>
          </a:xfrm>
          <a:prstGeom prst="rect">
            <a:avLst/>
          </a:prstGeom>
        </p:spPr>
        <p:txBody>
          <a:bodyPr anchor="t" rtlCol="false" tIns="0" lIns="0" bIns="0" rIns="0">
            <a:spAutoFit/>
          </a:bodyPr>
          <a:lstStyle/>
          <a:p>
            <a:pPr algn="ctr">
              <a:lnSpc>
                <a:spcPts val="6120"/>
              </a:lnSpc>
            </a:pPr>
            <a:r>
              <a:rPr lang="en-US" sz="5100" b="true">
                <a:solidFill>
                  <a:srgbClr val="512BD4"/>
                </a:solidFill>
                <a:latin typeface="Arial Bold"/>
                <a:ea typeface="Arial Bold"/>
                <a:cs typeface="Arial Bold"/>
                <a:sym typeface="Arial Bold"/>
              </a:rPr>
              <a:t>A</a:t>
            </a:r>
          </a:p>
        </p:txBody>
      </p:sp>
      <p:sp>
        <p:nvSpPr>
          <p:cNvPr name="TextBox 19" id="19"/>
          <p:cNvSpPr txBox="true"/>
          <p:nvPr/>
        </p:nvSpPr>
        <p:spPr>
          <a:xfrm rot="0">
            <a:off x="2903220" y="5074920"/>
            <a:ext cx="13738860" cy="3223260"/>
          </a:xfrm>
          <a:prstGeom prst="rect">
            <a:avLst/>
          </a:prstGeom>
        </p:spPr>
        <p:txBody>
          <a:bodyPr anchor="t" rtlCol="false" tIns="0" lIns="0" bIns="0" rIns="0">
            <a:spAutoFit/>
          </a:bodyPr>
          <a:lstStyle/>
          <a:p>
            <a:pPr algn="l">
              <a:lnSpc>
                <a:spcPts val="3600"/>
              </a:lnSpc>
            </a:pPr>
            <a:r>
              <a:rPr lang="en-US" sz="2400">
                <a:solidFill>
                  <a:srgbClr val="201A3A"/>
                </a:solidFill>
                <a:latin typeface="Calibri (MS)"/>
                <a:ea typeface="Calibri (MS)"/>
                <a:cs typeface="Calibri (MS)"/>
                <a:sym typeface="Calibri (MS)"/>
              </a:rPr>
              <a:t>Related but not identical. An assembly's identity includes a version number ([assembly: AssemblyVersion("1.2.0.0")]) and can optionally be strong-named — signed with a cryptographic key pair so consumers can verify origin and integrity.</a:t>
            </a:r>
          </a:p>
          <a:p>
            <a:pPr algn="l">
              <a:lnSpc>
                <a:spcPts val="3600"/>
              </a:lnSpc>
            </a:pPr>
          </a:p>
          <a:p>
            <a:pPr algn="l">
              <a:lnSpc>
                <a:spcPts val="3600"/>
              </a:lnSpc>
            </a:pPr>
            <a:r>
              <a:rPr lang="en-US" sz="2400">
                <a:solidFill>
                  <a:srgbClr val="201A3A"/>
                </a:solidFill>
                <a:latin typeface="Calibri (MS)"/>
                <a:ea typeface="Calibri (MS)"/>
                <a:cs typeface="Calibri (MS)"/>
                <a:sym typeface="Calibri (MS)"/>
              </a:rPr>
              <a:t>A single NuGet package can bundle multiple assemblies (different target frameworks); package versioning follows semantic versioning for consumer-facing promises, while AssemblyVersion is what the CLR itself uses for binding at load time.</a:t>
            </a:r>
          </a:p>
        </p:txBody>
      </p:sp>
      <p:grpSp>
        <p:nvGrpSpPr>
          <p:cNvPr name="Group 20" id="20"/>
          <p:cNvGrpSpPr/>
          <p:nvPr/>
        </p:nvGrpSpPr>
        <p:grpSpPr>
          <a:xfrm rot="0">
            <a:off x="17053103" y="9820656"/>
            <a:ext cx="685800" cy="411480"/>
            <a:chOff x="0" y="0"/>
            <a:chExt cx="914400" cy="548640"/>
          </a:xfrm>
        </p:grpSpPr>
        <p:sp>
          <p:nvSpPr>
            <p:cNvPr name="Freeform 21" id="2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2" id="22"/>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41</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1316736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512BD4">
                <a:alpha val="17255"/>
              </a:srgbClr>
            </a:solidFill>
          </p:spPr>
        </p:sp>
      </p:grpSp>
      <p:grpSp>
        <p:nvGrpSpPr>
          <p:cNvPr name="Group 4" id="4"/>
          <p:cNvGrpSpPr/>
          <p:nvPr/>
        </p:nvGrpSpPr>
        <p:grpSpPr>
          <a:xfrm rot="0">
            <a:off x="1234440" y="3497580"/>
            <a:ext cx="8229600" cy="548640"/>
            <a:chOff x="0" y="0"/>
            <a:chExt cx="10972800" cy="731520"/>
          </a:xfrm>
        </p:grpSpPr>
        <p:sp>
          <p:nvSpPr>
            <p:cNvPr name="Freeform 5" id="5"/>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6" id="6"/>
            <p:cNvSpPr txBox="true"/>
            <p:nvPr/>
          </p:nvSpPr>
          <p:spPr>
            <a:xfrm>
              <a:off x="0" y="-47625"/>
              <a:ext cx="10972800" cy="779145"/>
            </a:xfrm>
            <a:prstGeom prst="rect">
              <a:avLst/>
            </a:prstGeom>
          </p:spPr>
          <p:txBody>
            <a:bodyPr anchor="ctr" rtlCol="false" tIns="0" lIns="0" bIns="0" rIns="0"/>
            <a:lstStyle/>
            <a:p>
              <a:pPr algn="l">
                <a:lnSpc>
                  <a:spcPts val="2340"/>
                </a:lnSpc>
              </a:pPr>
              <a:r>
                <a:rPr lang="en-US" b="true" sz="1950" spc="450">
                  <a:solidFill>
                    <a:srgbClr val="22D3EE"/>
                  </a:solidFill>
                  <a:latin typeface="Calibri (MS) Bold"/>
                  <a:ea typeface="Calibri (MS) Bold"/>
                  <a:cs typeface="Calibri (MS) Bold"/>
                  <a:sym typeface="Calibri (MS) Bold"/>
                </a:rPr>
                <a:t>SECTION 06 / 05</a:t>
              </a:r>
            </a:p>
          </p:txBody>
        </p:sp>
      </p:grpSp>
      <p:grpSp>
        <p:nvGrpSpPr>
          <p:cNvPr name="Group 7" id="7"/>
          <p:cNvGrpSpPr/>
          <p:nvPr/>
        </p:nvGrpSpPr>
        <p:grpSpPr>
          <a:xfrm rot="0">
            <a:off x="1165860" y="4114800"/>
            <a:ext cx="13030200" cy="1920240"/>
            <a:chOff x="0" y="0"/>
            <a:chExt cx="17373600" cy="2560320"/>
          </a:xfrm>
        </p:grpSpPr>
        <p:sp>
          <p:nvSpPr>
            <p:cNvPr name="Freeform 8" id="8"/>
            <p:cNvSpPr/>
            <p:nvPr/>
          </p:nvSpPr>
          <p:spPr>
            <a:xfrm flipH="false" flipV="false" rot="0">
              <a:off x="0" y="0"/>
              <a:ext cx="17373600" cy="2560320"/>
            </a:xfrm>
            <a:custGeom>
              <a:avLst/>
              <a:gdLst/>
              <a:ahLst/>
              <a:cxnLst/>
              <a:rect r="r" b="b" t="t" l="l"/>
              <a:pathLst>
                <a:path h="2560320" w="17373600">
                  <a:moveTo>
                    <a:pt x="0" y="0"/>
                  </a:moveTo>
                  <a:lnTo>
                    <a:pt x="17373600" y="0"/>
                  </a:lnTo>
                  <a:lnTo>
                    <a:pt x="17373600" y="2560320"/>
                  </a:lnTo>
                  <a:lnTo>
                    <a:pt x="0" y="2560320"/>
                  </a:lnTo>
                  <a:close/>
                </a:path>
              </a:pathLst>
            </a:custGeom>
            <a:blipFill>
              <a:blip r:embed="rId3">
                <a:alphaModFix amt="0"/>
              </a:blip>
              <a:stretch>
                <a:fillRect l="0" t="-82219" r="0" b="-82219"/>
              </a:stretch>
            </a:blipFill>
          </p:spPr>
        </p:sp>
        <p:sp>
          <p:nvSpPr>
            <p:cNvPr name="TextBox 9" id="9"/>
            <p:cNvSpPr txBox="true"/>
            <p:nvPr/>
          </p:nvSpPr>
          <p:spPr>
            <a:xfrm>
              <a:off x="0" y="-19050"/>
              <a:ext cx="17373600" cy="2579370"/>
            </a:xfrm>
            <a:prstGeom prst="rect">
              <a:avLst/>
            </a:prstGeom>
          </p:spPr>
          <p:txBody>
            <a:bodyPr anchor="ctr" rtlCol="false" tIns="0" lIns="0" bIns="0" rIns="0"/>
            <a:lstStyle/>
            <a:p>
              <a:pPr algn="l">
                <a:lnSpc>
                  <a:spcPts val="7559"/>
                </a:lnSpc>
              </a:pPr>
              <a:r>
                <a:rPr lang="en-US" sz="6300" b="true">
                  <a:solidFill>
                    <a:srgbClr val="FFFFFF"/>
                  </a:solidFill>
                  <a:latin typeface="Arial Bold"/>
                  <a:ea typeface="Arial Bold"/>
                  <a:cs typeface="Arial Bold"/>
                  <a:sym typeface="Arial Bold"/>
                </a:rPr>
                <a:t>Putting It All Together</a:t>
              </a:r>
            </a:p>
          </p:txBody>
        </p:sp>
      </p:grpSp>
      <p:grpSp>
        <p:nvGrpSpPr>
          <p:cNvPr name="Group 10" id="10"/>
          <p:cNvGrpSpPr/>
          <p:nvPr/>
        </p:nvGrpSpPr>
        <p:grpSpPr>
          <a:xfrm rot="0">
            <a:off x="1234440" y="5966460"/>
            <a:ext cx="11795760" cy="1097280"/>
            <a:chOff x="0" y="0"/>
            <a:chExt cx="15727680" cy="1463040"/>
          </a:xfrm>
        </p:grpSpPr>
        <p:sp>
          <p:nvSpPr>
            <p:cNvPr name="Freeform 11" id="11"/>
            <p:cNvSpPr/>
            <p:nvPr/>
          </p:nvSpPr>
          <p:spPr>
            <a:xfrm flipH="false" flipV="false" rot="0">
              <a:off x="0" y="0"/>
              <a:ext cx="15727680" cy="1463040"/>
            </a:xfrm>
            <a:custGeom>
              <a:avLst/>
              <a:gdLst/>
              <a:ahLst/>
              <a:cxnLst/>
              <a:rect r="r" b="b" t="t" l="l"/>
              <a:pathLst>
                <a:path h="1463040" w="15727680">
                  <a:moveTo>
                    <a:pt x="0" y="0"/>
                  </a:moveTo>
                  <a:lnTo>
                    <a:pt x="15727680" y="0"/>
                  </a:lnTo>
                  <a:lnTo>
                    <a:pt x="15727680" y="1463040"/>
                  </a:lnTo>
                  <a:lnTo>
                    <a:pt x="0" y="1463040"/>
                  </a:lnTo>
                  <a:close/>
                </a:path>
              </a:pathLst>
            </a:custGeom>
            <a:blipFill>
              <a:blip r:embed="rId3">
                <a:alphaModFix amt="0"/>
              </a:blip>
              <a:stretch>
                <a:fillRect l="0" t="-159464" r="0" b="-159464"/>
              </a:stretch>
            </a:blipFill>
          </p:spPr>
        </p:sp>
        <p:sp>
          <p:nvSpPr>
            <p:cNvPr name="TextBox 12" id="12"/>
            <p:cNvSpPr txBox="true"/>
            <p:nvPr/>
          </p:nvSpPr>
          <p:spPr>
            <a:xfrm>
              <a:off x="0" y="-38100"/>
              <a:ext cx="15727680" cy="1501140"/>
            </a:xfrm>
            <a:prstGeom prst="rect">
              <a:avLst/>
            </a:prstGeom>
          </p:spPr>
          <p:txBody>
            <a:bodyPr anchor="ctr" rtlCol="false" tIns="0" lIns="0" bIns="0" rIns="0"/>
            <a:lstStyle/>
            <a:p>
              <a:pPr algn="l">
                <a:lnSpc>
                  <a:spcPts val="2879"/>
                </a:lnSpc>
              </a:pPr>
              <a:r>
                <a:rPr lang="en-US" sz="2400" i="true">
                  <a:solidFill>
                    <a:srgbClr val="C9BFEF"/>
                  </a:solidFill>
                  <a:latin typeface="Calibri (MS) Italics"/>
                  <a:ea typeface="Calibri (MS) Italics"/>
                  <a:cs typeface="Calibri (MS) Italics"/>
                  <a:sym typeface="Calibri (MS) Italics"/>
                </a:rPr>
                <a:t>A worked example — attributes, reflection, assemblies, and async in one flow.</a:t>
              </a:r>
            </a:p>
          </p:txBody>
        </p:sp>
      </p:grpSp>
      <p:grpSp>
        <p:nvGrpSpPr>
          <p:cNvPr name="Group 13" id="13"/>
          <p:cNvGrpSpPr/>
          <p:nvPr/>
        </p:nvGrpSpPr>
        <p:grpSpPr>
          <a:xfrm rot="0">
            <a:off x="1234440" y="7406640"/>
            <a:ext cx="192024" cy="192024"/>
            <a:chOff x="0" y="0"/>
            <a:chExt cx="256032" cy="256032"/>
          </a:xfrm>
        </p:grpSpPr>
        <p:sp>
          <p:nvSpPr>
            <p:cNvPr name="Freeform 14" id="14"/>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5" id="15"/>
          <p:cNvGrpSpPr/>
          <p:nvPr/>
        </p:nvGrpSpPr>
        <p:grpSpPr>
          <a:xfrm rot="0">
            <a:off x="1700784" y="7406640"/>
            <a:ext cx="192024" cy="192024"/>
            <a:chOff x="0" y="0"/>
            <a:chExt cx="256032" cy="256032"/>
          </a:xfrm>
        </p:grpSpPr>
        <p:sp>
          <p:nvSpPr>
            <p:cNvPr name="Freeform 16" id="16"/>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7" id="17"/>
          <p:cNvGrpSpPr/>
          <p:nvPr/>
        </p:nvGrpSpPr>
        <p:grpSpPr>
          <a:xfrm rot="0">
            <a:off x="2167128" y="7406640"/>
            <a:ext cx="192024" cy="192024"/>
            <a:chOff x="0" y="0"/>
            <a:chExt cx="256032" cy="256032"/>
          </a:xfrm>
        </p:grpSpPr>
        <p:sp>
          <p:nvSpPr>
            <p:cNvPr name="Freeform 18" id="18"/>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19" id="19"/>
          <p:cNvGrpSpPr/>
          <p:nvPr/>
        </p:nvGrpSpPr>
        <p:grpSpPr>
          <a:xfrm rot="0">
            <a:off x="2633472" y="7406640"/>
            <a:ext cx="192024" cy="192024"/>
            <a:chOff x="0" y="0"/>
            <a:chExt cx="256032" cy="256032"/>
          </a:xfrm>
        </p:grpSpPr>
        <p:sp>
          <p:nvSpPr>
            <p:cNvPr name="Freeform 20" id="20"/>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1" id="21"/>
          <p:cNvGrpSpPr/>
          <p:nvPr/>
        </p:nvGrpSpPr>
        <p:grpSpPr>
          <a:xfrm rot="0">
            <a:off x="3099816" y="7406640"/>
            <a:ext cx="192024" cy="192024"/>
            <a:chOff x="0" y="0"/>
            <a:chExt cx="256032" cy="256032"/>
          </a:xfrm>
        </p:grpSpPr>
        <p:sp>
          <p:nvSpPr>
            <p:cNvPr name="Freeform 22" id="22"/>
            <p:cNvSpPr/>
            <p:nvPr/>
          </p:nvSpPr>
          <p:spPr>
            <a:xfrm flipH="false" flipV="false" rot="0">
              <a:off x="0" y="0"/>
              <a:ext cx="256032" cy="256032"/>
            </a:xfrm>
            <a:custGeom>
              <a:avLst/>
              <a:gdLst/>
              <a:ahLst/>
              <a:cxnLst/>
              <a:rect r="r" b="b" t="t" l="l"/>
              <a:pathLst>
                <a:path h="256032" w="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3C2B85"/>
            </a:solidFill>
          </p:spPr>
        </p:sp>
      </p:grpSp>
      <p:grpSp>
        <p:nvGrpSpPr>
          <p:cNvPr name="Group 23" id="23"/>
          <p:cNvGrpSpPr/>
          <p:nvPr/>
        </p:nvGrpSpPr>
        <p:grpSpPr>
          <a:xfrm rot="0">
            <a:off x="17053103" y="9820656"/>
            <a:ext cx="685800" cy="411480"/>
            <a:chOff x="0" y="0"/>
            <a:chExt cx="914400" cy="548640"/>
          </a:xfrm>
        </p:grpSpPr>
        <p:sp>
          <p:nvSpPr>
            <p:cNvPr name="Freeform 24" id="2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5" id="25"/>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49</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6. WORKED EXAMPLE</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The Scenario — a Generic “Mini-Mapper”</a:t>
              </a:r>
            </a:p>
          </p:txBody>
        </p:sp>
      </p:grpSp>
      <p:grpSp>
        <p:nvGrpSpPr>
          <p:cNvPr name="Group 8" id="8"/>
          <p:cNvGrpSpPr/>
          <p:nvPr/>
        </p:nvGrpSpPr>
        <p:grpSpPr>
          <a:xfrm rot="0">
            <a:off x="960120" y="3429000"/>
            <a:ext cx="3730752" cy="3566160"/>
            <a:chOff x="0" y="0"/>
            <a:chExt cx="4974336" cy="4754880"/>
          </a:xfrm>
        </p:grpSpPr>
        <p:sp>
          <p:nvSpPr>
            <p:cNvPr name="Freeform 9" id="9"/>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F4F1FC"/>
            </a:solidFill>
          </p:spPr>
        </p:sp>
      </p:grpSp>
      <p:grpSp>
        <p:nvGrpSpPr>
          <p:cNvPr name="Group 10" id="10"/>
          <p:cNvGrpSpPr/>
          <p:nvPr/>
        </p:nvGrpSpPr>
        <p:grpSpPr>
          <a:xfrm rot="0">
            <a:off x="2441448" y="3813048"/>
            <a:ext cx="768096" cy="768096"/>
            <a:chOff x="0" y="0"/>
            <a:chExt cx="1024128" cy="1024128"/>
          </a:xfrm>
        </p:grpSpPr>
        <p:sp>
          <p:nvSpPr>
            <p:cNvPr name="Freeform 11" id="11"/>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512BD4"/>
            </a:solidFill>
          </p:spPr>
        </p:sp>
      </p:grpSp>
      <p:grpSp>
        <p:nvGrpSpPr>
          <p:cNvPr name="Group 12" id="12"/>
          <p:cNvGrpSpPr/>
          <p:nvPr/>
        </p:nvGrpSpPr>
        <p:grpSpPr>
          <a:xfrm rot="0">
            <a:off x="2441448" y="3813048"/>
            <a:ext cx="768096" cy="768096"/>
            <a:chOff x="0" y="0"/>
            <a:chExt cx="1024128" cy="1024128"/>
          </a:xfrm>
        </p:grpSpPr>
        <p:sp>
          <p:nvSpPr>
            <p:cNvPr name="Freeform 13" id="13"/>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14" id="14"/>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1</a:t>
              </a:r>
            </a:p>
          </p:txBody>
        </p:sp>
      </p:grpSp>
      <p:grpSp>
        <p:nvGrpSpPr>
          <p:cNvPr name="Group 15" id="15"/>
          <p:cNvGrpSpPr/>
          <p:nvPr/>
        </p:nvGrpSpPr>
        <p:grpSpPr>
          <a:xfrm rot="0">
            <a:off x="1207008" y="4800600"/>
            <a:ext cx="3236976" cy="685800"/>
            <a:chOff x="0" y="0"/>
            <a:chExt cx="4315968" cy="914400"/>
          </a:xfrm>
        </p:grpSpPr>
        <p:sp>
          <p:nvSpPr>
            <p:cNvPr name="Freeform 16" id="16"/>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17" id="17"/>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201A3A"/>
                  </a:solidFill>
                  <a:latin typeface="Arial Bold"/>
                  <a:ea typeface="Arial Bold"/>
                  <a:cs typeface="Arial Bold"/>
                  <a:sym typeface="Arial Bold"/>
                </a:rPr>
                <a:t>[ColumnName] Attribute</a:t>
              </a:r>
            </a:p>
          </p:txBody>
        </p:sp>
      </p:grpSp>
      <p:sp>
        <p:nvSpPr>
          <p:cNvPr name="TextBox 18" id="18"/>
          <p:cNvSpPr txBox="true"/>
          <p:nvPr/>
        </p:nvSpPr>
        <p:spPr>
          <a:xfrm rot="0">
            <a:off x="1298448" y="5513070"/>
            <a:ext cx="3054096" cy="1299210"/>
          </a:xfrm>
          <a:prstGeom prst="rect">
            <a:avLst/>
          </a:prstGeom>
        </p:spPr>
        <p:txBody>
          <a:bodyPr anchor="t" rtlCol="false" tIns="0" lIns="0" bIns="0" rIns="0">
            <a:spAutoFit/>
          </a:bodyPr>
          <a:lstStyle/>
          <a:p>
            <a:pPr algn="ctr">
              <a:lnSpc>
                <a:spcPts val="1889"/>
              </a:lnSpc>
            </a:pPr>
            <a:r>
              <a:rPr lang="en-US" sz="1575">
                <a:solidFill>
                  <a:srgbClr val="6E668A"/>
                </a:solidFill>
                <a:latin typeface="Calibri (MS)"/>
                <a:ea typeface="Calibri (MS)"/>
                <a:cs typeface="Calibri (MS)"/>
                <a:sym typeface="Calibri (MS)"/>
              </a:rPr>
              <a:t>Declarative metadata on Player's properties (Section 3)</a:t>
            </a:r>
          </a:p>
        </p:txBody>
      </p:sp>
      <p:grpSp>
        <p:nvGrpSpPr>
          <p:cNvPr name="Group 19" id="19"/>
          <p:cNvGrpSpPr/>
          <p:nvPr/>
        </p:nvGrpSpPr>
        <p:grpSpPr>
          <a:xfrm rot="0">
            <a:off x="4690872" y="4800600"/>
            <a:ext cx="480060" cy="822960"/>
            <a:chOff x="0" y="0"/>
            <a:chExt cx="640080" cy="1097280"/>
          </a:xfrm>
        </p:grpSpPr>
        <p:sp>
          <p:nvSpPr>
            <p:cNvPr name="Freeform 20" id="20"/>
            <p:cNvSpPr/>
            <p:nvPr/>
          </p:nvSpPr>
          <p:spPr>
            <a:xfrm flipH="false" flipV="false" rot="0">
              <a:off x="0" y="0"/>
              <a:ext cx="640080" cy="1097280"/>
            </a:xfrm>
            <a:custGeom>
              <a:avLst/>
              <a:gdLst/>
              <a:ahLst/>
              <a:cxnLst/>
              <a:rect r="r" b="b" t="t" l="l"/>
              <a:pathLst>
                <a:path h="1097280" w="640080">
                  <a:moveTo>
                    <a:pt x="0" y="0"/>
                  </a:moveTo>
                  <a:lnTo>
                    <a:pt x="640080" y="0"/>
                  </a:lnTo>
                  <a:lnTo>
                    <a:pt x="640080" y="1097280"/>
                  </a:lnTo>
                  <a:lnTo>
                    <a:pt x="0" y="1097280"/>
                  </a:lnTo>
                  <a:close/>
                </a:path>
              </a:pathLst>
            </a:custGeom>
            <a:blipFill>
              <a:blip r:embed="rId3">
                <a:alphaModFix amt="0"/>
              </a:blip>
              <a:stretch>
                <a:fillRect l="-169948" t="0" r="-169948" b="0"/>
              </a:stretch>
            </a:blipFill>
          </p:spPr>
        </p:sp>
        <p:sp>
          <p:nvSpPr>
            <p:cNvPr name="TextBox 21" id="21"/>
            <p:cNvSpPr txBox="true"/>
            <p:nvPr/>
          </p:nvSpPr>
          <p:spPr>
            <a:xfrm>
              <a:off x="0" y="-28575"/>
              <a:ext cx="640080" cy="1125855"/>
            </a:xfrm>
            <a:prstGeom prst="rect">
              <a:avLst/>
            </a:prstGeom>
          </p:spPr>
          <p:txBody>
            <a:bodyPr anchor="ctr" rtlCol="false" tIns="0" lIns="0" bIns="0" rIns="0"/>
            <a:lstStyle/>
            <a:p>
              <a:pPr algn="ctr">
                <a:lnSpc>
                  <a:spcPts val="3960"/>
                </a:lnSpc>
              </a:pPr>
              <a:r>
                <a:rPr lang="en-US" sz="3300" b="true">
                  <a:solidFill>
                    <a:srgbClr val="512BD4"/>
                  </a:solidFill>
                  <a:latin typeface="Arial Bold"/>
                  <a:ea typeface="Arial Bold"/>
                  <a:cs typeface="Arial Bold"/>
                  <a:sym typeface="Arial Bold"/>
                </a:rPr>
                <a:t>→</a:t>
              </a:r>
            </a:p>
          </p:txBody>
        </p:sp>
      </p:grpSp>
      <p:grpSp>
        <p:nvGrpSpPr>
          <p:cNvPr name="Group 22" id="22"/>
          <p:cNvGrpSpPr/>
          <p:nvPr/>
        </p:nvGrpSpPr>
        <p:grpSpPr>
          <a:xfrm rot="0">
            <a:off x="5170932" y="3429000"/>
            <a:ext cx="3730752" cy="3566160"/>
            <a:chOff x="0" y="0"/>
            <a:chExt cx="4974336" cy="4754880"/>
          </a:xfrm>
        </p:grpSpPr>
        <p:sp>
          <p:nvSpPr>
            <p:cNvPr name="Freeform 23" id="23"/>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F4F1FC"/>
            </a:solidFill>
          </p:spPr>
        </p:sp>
      </p:grpSp>
      <p:grpSp>
        <p:nvGrpSpPr>
          <p:cNvPr name="Group 24" id="24"/>
          <p:cNvGrpSpPr/>
          <p:nvPr/>
        </p:nvGrpSpPr>
        <p:grpSpPr>
          <a:xfrm rot="0">
            <a:off x="6652260" y="3813048"/>
            <a:ext cx="768096" cy="768096"/>
            <a:chOff x="0" y="0"/>
            <a:chExt cx="1024128" cy="1024128"/>
          </a:xfrm>
        </p:grpSpPr>
        <p:sp>
          <p:nvSpPr>
            <p:cNvPr name="Freeform 25" id="25"/>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512BD4"/>
            </a:solidFill>
          </p:spPr>
        </p:sp>
      </p:grpSp>
      <p:grpSp>
        <p:nvGrpSpPr>
          <p:cNvPr name="Group 26" id="26"/>
          <p:cNvGrpSpPr/>
          <p:nvPr/>
        </p:nvGrpSpPr>
        <p:grpSpPr>
          <a:xfrm rot="0">
            <a:off x="6652260" y="3813048"/>
            <a:ext cx="768096" cy="768096"/>
            <a:chOff x="0" y="0"/>
            <a:chExt cx="1024128" cy="1024128"/>
          </a:xfrm>
        </p:grpSpPr>
        <p:sp>
          <p:nvSpPr>
            <p:cNvPr name="Freeform 27" id="27"/>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28" id="28"/>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2</a:t>
              </a:r>
            </a:p>
          </p:txBody>
        </p:sp>
      </p:grpSp>
      <p:grpSp>
        <p:nvGrpSpPr>
          <p:cNvPr name="Group 29" id="29"/>
          <p:cNvGrpSpPr/>
          <p:nvPr/>
        </p:nvGrpSpPr>
        <p:grpSpPr>
          <a:xfrm rot="0">
            <a:off x="5417820" y="4800600"/>
            <a:ext cx="3236976" cy="685800"/>
            <a:chOff x="0" y="0"/>
            <a:chExt cx="4315968" cy="914400"/>
          </a:xfrm>
        </p:grpSpPr>
        <p:sp>
          <p:nvSpPr>
            <p:cNvPr name="Freeform 30" id="30"/>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31" id="31"/>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201A3A"/>
                  </a:solidFill>
                  <a:latin typeface="Arial Bold"/>
                  <a:ea typeface="Arial Bold"/>
                  <a:cs typeface="Arial Bold"/>
                  <a:sym typeface="Arial Bold"/>
                </a:rPr>
                <a:t>Reflection Maps It</a:t>
              </a:r>
            </a:p>
          </p:txBody>
        </p:sp>
      </p:grpSp>
      <p:sp>
        <p:nvSpPr>
          <p:cNvPr name="TextBox 32" id="32"/>
          <p:cNvSpPr txBox="true"/>
          <p:nvPr/>
        </p:nvSpPr>
        <p:spPr>
          <a:xfrm rot="0">
            <a:off x="5509260" y="5513070"/>
            <a:ext cx="3054096" cy="1299210"/>
          </a:xfrm>
          <a:prstGeom prst="rect">
            <a:avLst/>
          </a:prstGeom>
        </p:spPr>
        <p:txBody>
          <a:bodyPr anchor="t" rtlCol="false" tIns="0" lIns="0" bIns="0" rIns="0">
            <a:spAutoFit/>
          </a:bodyPr>
          <a:lstStyle/>
          <a:p>
            <a:pPr algn="ctr">
              <a:lnSpc>
                <a:spcPts val="1889"/>
              </a:lnSpc>
            </a:pPr>
            <a:r>
              <a:rPr lang="en-US" sz="1575">
                <a:solidFill>
                  <a:srgbClr val="6E668A"/>
                </a:solidFill>
                <a:latin typeface="Calibri (MS)"/>
                <a:ea typeface="Calibri (MS)"/>
                <a:cs typeface="Calibri (MS)"/>
                <a:sym typeface="Calibri (MS)"/>
              </a:rPr>
              <a:t>EntityMapper reads the attributes into a dictionary (Section 5)</a:t>
            </a:r>
          </a:p>
        </p:txBody>
      </p:sp>
      <p:grpSp>
        <p:nvGrpSpPr>
          <p:cNvPr name="Group 33" id="33"/>
          <p:cNvGrpSpPr/>
          <p:nvPr/>
        </p:nvGrpSpPr>
        <p:grpSpPr>
          <a:xfrm rot="0">
            <a:off x="8901684" y="4800600"/>
            <a:ext cx="480060" cy="822960"/>
            <a:chOff x="0" y="0"/>
            <a:chExt cx="640080" cy="1097280"/>
          </a:xfrm>
        </p:grpSpPr>
        <p:sp>
          <p:nvSpPr>
            <p:cNvPr name="Freeform 34" id="34"/>
            <p:cNvSpPr/>
            <p:nvPr/>
          </p:nvSpPr>
          <p:spPr>
            <a:xfrm flipH="false" flipV="false" rot="0">
              <a:off x="0" y="0"/>
              <a:ext cx="640080" cy="1097280"/>
            </a:xfrm>
            <a:custGeom>
              <a:avLst/>
              <a:gdLst/>
              <a:ahLst/>
              <a:cxnLst/>
              <a:rect r="r" b="b" t="t" l="l"/>
              <a:pathLst>
                <a:path h="1097280" w="640080">
                  <a:moveTo>
                    <a:pt x="0" y="0"/>
                  </a:moveTo>
                  <a:lnTo>
                    <a:pt x="640080" y="0"/>
                  </a:lnTo>
                  <a:lnTo>
                    <a:pt x="640080" y="1097280"/>
                  </a:lnTo>
                  <a:lnTo>
                    <a:pt x="0" y="1097280"/>
                  </a:lnTo>
                  <a:close/>
                </a:path>
              </a:pathLst>
            </a:custGeom>
            <a:blipFill>
              <a:blip r:embed="rId3">
                <a:alphaModFix amt="0"/>
              </a:blip>
              <a:stretch>
                <a:fillRect l="-169948" t="0" r="-169948" b="0"/>
              </a:stretch>
            </a:blipFill>
          </p:spPr>
        </p:sp>
        <p:sp>
          <p:nvSpPr>
            <p:cNvPr name="TextBox 35" id="35"/>
            <p:cNvSpPr txBox="true"/>
            <p:nvPr/>
          </p:nvSpPr>
          <p:spPr>
            <a:xfrm>
              <a:off x="0" y="-28575"/>
              <a:ext cx="640080" cy="1125855"/>
            </a:xfrm>
            <a:prstGeom prst="rect">
              <a:avLst/>
            </a:prstGeom>
          </p:spPr>
          <p:txBody>
            <a:bodyPr anchor="ctr" rtlCol="false" tIns="0" lIns="0" bIns="0" rIns="0"/>
            <a:lstStyle/>
            <a:p>
              <a:pPr algn="ctr">
                <a:lnSpc>
                  <a:spcPts val="3960"/>
                </a:lnSpc>
              </a:pPr>
              <a:r>
                <a:rPr lang="en-US" sz="3300" b="true">
                  <a:solidFill>
                    <a:srgbClr val="512BD4"/>
                  </a:solidFill>
                  <a:latin typeface="Arial Bold"/>
                  <a:ea typeface="Arial Bold"/>
                  <a:cs typeface="Arial Bold"/>
                  <a:sym typeface="Arial Bold"/>
                </a:rPr>
                <a:t>→</a:t>
              </a:r>
            </a:p>
          </p:txBody>
        </p:sp>
      </p:grpSp>
      <p:grpSp>
        <p:nvGrpSpPr>
          <p:cNvPr name="Group 36" id="36"/>
          <p:cNvGrpSpPr/>
          <p:nvPr/>
        </p:nvGrpSpPr>
        <p:grpSpPr>
          <a:xfrm rot="0">
            <a:off x="9381744" y="3429000"/>
            <a:ext cx="3730752" cy="3566160"/>
            <a:chOff x="0" y="0"/>
            <a:chExt cx="4974336" cy="4754880"/>
          </a:xfrm>
        </p:grpSpPr>
        <p:sp>
          <p:nvSpPr>
            <p:cNvPr name="Freeform 37" id="37"/>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F4F1FC"/>
            </a:solidFill>
          </p:spPr>
        </p:sp>
      </p:grpSp>
      <p:grpSp>
        <p:nvGrpSpPr>
          <p:cNvPr name="Group 38" id="38"/>
          <p:cNvGrpSpPr/>
          <p:nvPr/>
        </p:nvGrpSpPr>
        <p:grpSpPr>
          <a:xfrm rot="0">
            <a:off x="10863072" y="3813048"/>
            <a:ext cx="768096" cy="768096"/>
            <a:chOff x="0" y="0"/>
            <a:chExt cx="1024128" cy="1024128"/>
          </a:xfrm>
        </p:grpSpPr>
        <p:sp>
          <p:nvSpPr>
            <p:cNvPr name="Freeform 39" id="39"/>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512BD4"/>
            </a:solidFill>
          </p:spPr>
        </p:sp>
      </p:grpSp>
      <p:grpSp>
        <p:nvGrpSpPr>
          <p:cNvPr name="Group 40" id="40"/>
          <p:cNvGrpSpPr/>
          <p:nvPr/>
        </p:nvGrpSpPr>
        <p:grpSpPr>
          <a:xfrm rot="0">
            <a:off x="10863072" y="3813048"/>
            <a:ext cx="768096" cy="768096"/>
            <a:chOff x="0" y="0"/>
            <a:chExt cx="1024128" cy="1024128"/>
          </a:xfrm>
        </p:grpSpPr>
        <p:sp>
          <p:nvSpPr>
            <p:cNvPr name="Freeform 41" id="41"/>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42" id="42"/>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FFFFFF"/>
                  </a:solidFill>
                  <a:latin typeface="Arial Bold"/>
                  <a:ea typeface="Arial Bold"/>
                  <a:cs typeface="Arial Bold"/>
                  <a:sym typeface="Arial Bold"/>
                </a:rPr>
                <a:t>3</a:t>
              </a:r>
            </a:p>
          </p:txBody>
        </p:sp>
      </p:grpSp>
      <p:grpSp>
        <p:nvGrpSpPr>
          <p:cNvPr name="Group 43" id="43"/>
          <p:cNvGrpSpPr/>
          <p:nvPr/>
        </p:nvGrpSpPr>
        <p:grpSpPr>
          <a:xfrm rot="0">
            <a:off x="9628632" y="4800600"/>
            <a:ext cx="3236976" cy="685800"/>
            <a:chOff x="0" y="0"/>
            <a:chExt cx="4315968" cy="914400"/>
          </a:xfrm>
        </p:grpSpPr>
        <p:sp>
          <p:nvSpPr>
            <p:cNvPr name="Freeform 44" id="44"/>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45" id="45"/>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201A3A"/>
                  </a:solidFill>
                  <a:latin typeface="Arial Bold"/>
                  <a:ea typeface="Arial Bold"/>
                  <a:cs typeface="Arial Bold"/>
                  <a:sym typeface="Arial Bold"/>
                </a:rPr>
                <a:t>JSON Serializes It</a:t>
              </a:r>
            </a:p>
          </p:txBody>
        </p:sp>
      </p:grpSp>
      <p:sp>
        <p:nvSpPr>
          <p:cNvPr name="TextBox 46" id="46"/>
          <p:cNvSpPr txBox="true"/>
          <p:nvPr/>
        </p:nvSpPr>
        <p:spPr>
          <a:xfrm rot="0">
            <a:off x="9720072" y="5513070"/>
            <a:ext cx="3054096" cy="1299210"/>
          </a:xfrm>
          <a:prstGeom prst="rect">
            <a:avLst/>
          </a:prstGeom>
        </p:spPr>
        <p:txBody>
          <a:bodyPr anchor="t" rtlCol="false" tIns="0" lIns="0" bIns="0" rIns="0">
            <a:spAutoFit/>
          </a:bodyPr>
          <a:lstStyle/>
          <a:p>
            <a:pPr algn="ctr">
              <a:lnSpc>
                <a:spcPts val="1889"/>
              </a:lnSpc>
            </a:pPr>
            <a:r>
              <a:rPr lang="en-US" sz="1575">
                <a:solidFill>
                  <a:srgbClr val="6E668A"/>
                </a:solidFill>
                <a:latin typeface="Calibri (MS)"/>
                <a:ea typeface="Calibri (MS)"/>
                <a:cs typeface="Calibri (MS)"/>
                <a:sym typeface="Calibri (MS)"/>
              </a:rPr>
              <a:t>The dictionary becomes a JSON payload (Section 2)</a:t>
            </a:r>
          </a:p>
        </p:txBody>
      </p:sp>
      <p:grpSp>
        <p:nvGrpSpPr>
          <p:cNvPr name="Group 47" id="47"/>
          <p:cNvGrpSpPr/>
          <p:nvPr/>
        </p:nvGrpSpPr>
        <p:grpSpPr>
          <a:xfrm rot="0">
            <a:off x="13112496" y="4800600"/>
            <a:ext cx="480060" cy="822960"/>
            <a:chOff x="0" y="0"/>
            <a:chExt cx="640080" cy="1097280"/>
          </a:xfrm>
        </p:grpSpPr>
        <p:sp>
          <p:nvSpPr>
            <p:cNvPr name="Freeform 48" id="48"/>
            <p:cNvSpPr/>
            <p:nvPr/>
          </p:nvSpPr>
          <p:spPr>
            <a:xfrm flipH="false" flipV="false" rot="0">
              <a:off x="0" y="0"/>
              <a:ext cx="640080" cy="1097280"/>
            </a:xfrm>
            <a:custGeom>
              <a:avLst/>
              <a:gdLst/>
              <a:ahLst/>
              <a:cxnLst/>
              <a:rect r="r" b="b" t="t" l="l"/>
              <a:pathLst>
                <a:path h="1097280" w="640080">
                  <a:moveTo>
                    <a:pt x="0" y="0"/>
                  </a:moveTo>
                  <a:lnTo>
                    <a:pt x="640080" y="0"/>
                  </a:lnTo>
                  <a:lnTo>
                    <a:pt x="640080" y="1097280"/>
                  </a:lnTo>
                  <a:lnTo>
                    <a:pt x="0" y="1097280"/>
                  </a:lnTo>
                  <a:close/>
                </a:path>
              </a:pathLst>
            </a:custGeom>
            <a:blipFill>
              <a:blip r:embed="rId3">
                <a:alphaModFix amt="0"/>
              </a:blip>
              <a:stretch>
                <a:fillRect l="-169948" t="0" r="-169948" b="0"/>
              </a:stretch>
            </a:blipFill>
          </p:spPr>
        </p:sp>
        <p:sp>
          <p:nvSpPr>
            <p:cNvPr name="TextBox 49" id="49"/>
            <p:cNvSpPr txBox="true"/>
            <p:nvPr/>
          </p:nvSpPr>
          <p:spPr>
            <a:xfrm>
              <a:off x="0" y="-28575"/>
              <a:ext cx="640080" cy="1125855"/>
            </a:xfrm>
            <a:prstGeom prst="rect">
              <a:avLst/>
            </a:prstGeom>
          </p:spPr>
          <p:txBody>
            <a:bodyPr anchor="ctr" rtlCol="false" tIns="0" lIns="0" bIns="0" rIns="0"/>
            <a:lstStyle/>
            <a:p>
              <a:pPr algn="ctr">
                <a:lnSpc>
                  <a:spcPts val="3960"/>
                </a:lnSpc>
              </a:pPr>
              <a:r>
                <a:rPr lang="en-US" sz="3300" b="true">
                  <a:solidFill>
                    <a:srgbClr val="512BD4"/>
                  </a:solidFill>
                  <a:latin typeface="Arial Bold"/>
                  <a:ea typeface="Arial Bold"/>
                  <a:cs typeface="Arial Bold"/>
                  <a:sym typeface="Arial Bold"/>
                </a:rPr>
                <a:t>→</a:t>
              </a:r>
            </a:p>
          </p:txBody>
        </p:sp>
      </p:grpSp>
      <p:grpSp>
        <p:nvGrpSpPr>
          <p:cNvPr name="Group 50" id="50"/>
          <p:cNvGrpSpPr/>
          <p:nvPr/>
        </p:nvGrpSpPr>
        <p:grpSpPr>
          <a:xfrm rot="0">
            <a:off x="13592556" y="3429000"/>
            <a:ext cx="3730752" cy="3566160"/>
            <a:chOff x="0" y="0"/>
            <a:chExt cx="4974336" cy="4754880"/>
          </a:xfrm>
        </p:grpSpPr>
        <p:sp>
          <p:nvSpPr>
            <p:cNvPr name="Freeform 51" id="51"/>
            <p:cNvSpPr/>
            <p:nvPr/>
          </p:nvSpPr>
          <p:spPr>
            <a:xfrm flipH="false" flipV="false" rot="0">
              <a:off x="0" y="0"/>
              <a:ext cx="4974336" cy="4754880"/>
            </a:xfrm>
            <a:custGeom>
              <a:avLst/>
              <a:gdLst/>
              <a:ahLst/>
              <a:cxnLst/>
              <a:rect r="r" b="b" t="t" l="l"/>
              <a:pathLst>
                <a:path h="4754880" w="4974336">
                  <a:moveTo>
                    <a:pt x="0" y="182880"/>
                  </a:moveTo>
                  <a:cubicBezTo>
                    <a:pt x="0" y="81915"/>
                    <a:pt x="81915" y="0"/>
                    <a:pt x="182880" y="0"/>
                  </a:cubicBezTo>
                  <a:lnTo>
                    <a:pt x="4791456" y="0"/>
                  </a:lnTo>
                  <a:cubicBezTo>
                    <a:pt x="4892421" y="0"/>
                    <a:pt x="4974336" y="81915"/>
                    <a:pt x="4974336" y="182880"/>
                  </a:cubicBezTo>
                  <a:lnTo>
                    <a:pt x="4974336" y="4572000"/>
                  </a:lnTo>
                  <a:cubicBezTo>
                    <a:pt x="4974336" y="4672965"/>
                    <a:pt x="4892421" y="4754880"/>
                    <a:pt x="4791456" y="4754880"/>
                  </a:cubicBezTo>
                  <a:lnTo>
                    <a:pt x="182880" y="4754880"/>
                  </a:lnTo>
                  <a:cubicBezTo>
                    <a:pt x="81915" y="4754880"/>
                    <a:pt x="0" y="4672965"/>
                    <a:pt x="0" y="4572000"/>
                  </a:cubicBezTo>
                  <a:close/>
                </a:path>
              </a:pathLst>
            </a:custGeom>
            <a:solidFill>
              <a:srgbClr val="512BD4"/>
            </a:solidFill>
          </p:spPr>
        </p:sp>
      </p:grpSp>
      <p:grpSp>
        <p:nvGrpSpPr>
          <p:cNvPr name="Group 52" id="52"/>
          <p:cNvGrpSpPr/>
          <p:nvPr/>
        </p:nvGrpSpPr>
        <p:grpSpPr>
          <a:xfrm rot="0">
            <a:off x="15073884" y="3813048"/>
            <a:ext cx="768096" cy="768096"/>
            <a:chOff x="0" y="0"/>
            <a:chExt cx="1024128" cy="1024128"/>
          </a:xfrm>
        </p:grpSpPr>
        <p:sp>
          <p:nvSpPr>
            <p:cNvPr name="Freeform 53" id="53"/>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FFFFF"/>
            </a:solidFill>
          </p:spPr>
        </p:sp>
      </p:grpSp>
      <p:grpSp>
        <p:nvGrpSpPr>
          <p:cNvPr name="Group 54" id="54"/>
          <p:cNvGrpSpPr/>
          <p:nvPr/>
        </p:nvGrpSpPr>
        <p:grpSpPr>
          <a:xfrm rot="0">
            <a:off x="15073884" y="3813048"/>
            <a:ext cx="768096" cy="768096"/>
            <a:chOff x="0" y="0"/>
            <a:chExt cx="1024128" cy="1024128"/>
          </a:xfrm>
        </p:grpSpPr>
        <p:sp>
          <p:nvSpPr>
            <p:cNvPr name="Freeform 55" id="5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56" id="56"/>
            <p:cNvSpPr txBox="true"/>
            <p:nvPr/>
          </p:nvSpPr>
          <p:spPr>
            <a:xfrm>
              <a:off x="0" y="-19050"/>
              <a:ext cx="1024128" cy="1043178"/>
            </a:xfrm>
            <a:prstGeom prst="rect">
              <a:avLst/>
            </a:prstGeom>
          </p:spPr>
          <p:txBody>
            <a:bodyPr anchor="ctr" rtlCol="false" tIns="0" lIns="0" bIns="0" rIns="0"/>
            <a:lstStyle/>
            <a:p>
              <a:pPr algn="ctr">
                <a:lnSpc>
                  <a:spcPts val="3240"/>
                </a:lnSpc>
              </a:pPr>
              <a:r>
                <a:rPr lang="en-US" sz="2700" b="true">
                  <a:solidFill>
                    <a:srgbClr val="512BD4"/>
                  </a:solidFill>
                  <a:latin typeface="Arial Bold"/>
                  <a:ea typeface="Arial Bold"/>
                  <a:cs typeface="Arial Bold"/>
                  <a:sym typeface="Arial Bold"/>
                </a:rPr>
                <a:t>4</a:t>
              </a:r>
            </a:p>
          </p:txBody>
        </p:sp>
      </p:grpSp>
      <p:grpSp>
        <p:nvGrpSpPr>
          <p:cNvPr name="Group 57" id="57"/>
          <p:cNvGrpSpPr/>
          <p:nvPr/>
        </p:nvGrpSpPr>
        <p:grpSpPr>
          <a:xfrm rot="0">
            <a:off x="13839444" y="4800600"/>
            <a:ext cx="3236976" cy="685800"/>
            <a:chOff x="0" y="0"/>
            <a:chExt cx="4315968" cy="914400"/>
          </a:xfrm>
        </p:grpSpPr>
        <p:sp>
          <p:nvSpPr>
            <p:cNvPr name="Freeform 58" id="58"/>
            <p:cNvSpPr/>
            <p:nvPr/>
          </p:nvSpPr>
          <p:spPr>
            <a:xfrm flipH="false" flipV="false" rot="0">
              <a:off x="0" y="0"/>
              <a:ext cx="4315968" cy="914400"/>
            </a:xfrm>
            <a:custGeom>
              <a:avLst/>
              <a:gdLst/>
              <a:ahLst/>
              <a:cxnLst/>
              <a:rect r="r" b="b" t="t" l="l"/>
              <a:pathLst>
                <a:path h="914400" w="4315968">
                  <a:moveTo>
                    <a:pt x="0" y="0"/>
                  </a:moveTo>
                  <a:lnTo>
                    <a:pt x="4315968" y="0"/>
                  </a:lnTo>
                  <a:lnTo>
                    <a:pt x="4315968" y="914400"/>
                  </a:lnTo>
                  <a:lnTo>
                    <a:pt x="0" y="914400"/>
                  </a:lnTo>
                  <a:close/>
                </a:path>
              </a:pathLst>
            </a:custGeom>
            <a:blipFill>
              <a:blip r:embed="rId3">
                <a:alphaModFix amt="0"/>
              </a:blip>
              <a:stretch>
                <a:fillRect l="0" t="-41969" r="0" b="-41969"/>
              </a:stretch>
            </a:blipFill>
          </p:spPr>
        </p:sp>
        <p:sp>
          <p:nvSpPr>
            <p:cNvPr name="TextBox 59" id="59"/>
            <p:cNvSpPr txBox="true"/>
            <p:nvPr/>
          </p:nvSpPr>
          <p:spPr>
            <a:xfrm>
              <a:off x="0" y="-9525"/>
              <a:ext cx="4315968" cy="923925"/>
            </a:xfrm>
            <a:prstGeom prst="rect">
              <a:avLst/>
            </a:prstGeom>
          </p:spPr>
          <p:txBody>
            <a:bodyPr anchor="ctr" rtlCol="false" tIns="0" lIns="0" bIns="0" rIns="0"/>
            <a:lstStyle/>
            <a:p>
              <a:pPr algn="ctr">
                <a:lnSpc>
                  <a:spcPts val="2430"/>
                </a:lnSpc>
              </a:pPr>
              <a:r>
                <a:rPr lang="en-US" sz="2025" b="true">
                  <a:solidFill>
                    <a:srgbClr val="FFFFFF"/>
                  </a:solidFill>
                  <a:latin typeface="Arial Bold"/>
                  <a:ea typeface="Arial Bold"/>
                  <a:cs typeface="Arial Bold"/>
                  <a:sym typeface="Arial Bold"/>
                </a:rPr>
                <a:t>Async Sends It</a:t>
              </a:r>
            </a:p>
          </p:txBody>
        </p:sp>
      </p:grpSp>
      <p:sp>
        <p:nvSpPr>
          <p:cNvPr name="TextBox 60" id="60"/>
          <p:cNvSpPr txBox="true"/>
          <p:nvPr/>
        </p:nvSpPr>
        <p:spPr>
          <a:xfrm rot="0">
            <a:off x="13930884" y="5513070"/>
            <a:ext cx="3054096" cy="1299210"/>
          </a:xfrm>
          <a:prstGeom prst="rect">
            <a:avLst/>
          </a:prstGeom>
        </p:spPr>
        <p:txBody>
          <a:bodyPr anchor="t" rtlCol="false" tIns="0" lIns="0" bIns="0" rIns="0">
            <a:spAutoFit/>
          </a:bodyPr>
          <a:lstStyle/>
          <a:p>
            <a:pPr algn="ctr">
              <a:lnSpc>
                <a:spcPts val="1889"/>
              </a:lnSpc>
            </a:pPr>
            <a:r>
              <a:rPr lang="en-US" sz="1575">
                <a:solidFill>
                  <a:srgbClr val="C9BFEF"/>
                </a:solidFill>
                <a:latin typeface="Calibri (MS)"/>
                <a:ea typeface="Calibri (MS)"/>
                <a:cs typeface="Calibri (MS)"/>
                <a:sym typeface="Calibri (MS)"/>
              </a:rPr>
              <a:t>SaveAsync posts it without blocking the caller (Section 1)</a:t>
            </a:r>
          </a:p>
        </p:txBody>
      </p:sp>
      <p:grpSp>
        <p:nvGrpSpPr>
          <p:cNvPr name="Group 61" id="61"/>
          <p:cNvGrpSpPr/>
          <p:nvPr/>
        </p:nvGrpSpPr>
        <p:grpSpPr>
          <a:xfrm rot="0">
            <a:off x="960120" y="7543800"/>
            <a:ext cx="16363188" cy="822960"/>
            <a:chOff x="0" y="0"/>
            <a:chExt cx="21817584" cy="1097280"/>
          </a:xfrm>
        </p:grpSpPr>
        <p:sp>
          <p:nvSpPr>
            <p:cNvPr name="Freeform 62" id="62"/>
            <p:cNvSpPr/>
            <p:nvPr/>
          </p:nvSpPr>
          <p:spPr>
            <a:xfrm flipH="false" flipV="false" rot="0">
              <a:off x="0" y="0"/>
              <a:ext cx="21817585" cy="1097280"/>
            </a:xfrm>
            <a:custGeom>
              <a:avLst/>
              <a:gdLst/>
              <a:ahLst/>
              <a:cxnLst/>
              <a:rect r="r" b="b" t="t" l="l"/>
              <a:pathLst>
                <a:path h="1097280" w="21817585">
                  <a:moveTo>
                    <a:pt x="0" y="0"/>
                  </a:moveTo>
                  <a:lnTo>
                    <a:pt x="21817585" y="0"/>
                  </a:lnTo>
                  <a:lnTo>
                    <a:pt x="21817585" y="1097280"/>
                  </a:lnTo>
                  <a:lnTo>
                    <a:pt x="0" y="1097280"/>
                  </a:lnTo>
                  <a:close/>
                </a:path>
              </a:pathLst>
            </a:custGeom>
            <a:blipFill>
              <a:blip r:embed="rId3">
                <a:alphaModFix amt="0"/>
              </a:blip>
              <a:stretch>
                <a:fillRect l="0" t="-337427" r="0" b="-337427"/>
              </a:stretch>
            </a:blipFill>
          </p:spPr>
        </p:sp>
        <p:sp>
          <p:nvSpPr>
            <p:cNvPr name="TextBox 63" id="63"/>
            <p:cNvSpPr txBox="true"/>
            <p:nvPr/>
          </p:nvSpPr>
          <p:spPr>
            <a:xfrm>
              <a:off x="0" y="-38100"/>
              <a:ext cx="21817584" cy="1135380"/>
            </a:xfrm>
            <a:prstGeom prst="rect">
              <a:avLst/>
            </a:prstGeom>
          </p:spPr>
          <p:txBody>
            <a:bodyPr anchor="ctr" rtlCol="false" tIns="0" lIns="0" bIns="0" rIns="0"/>
            <a:lstStyle/>
            <a:p>
              <a:pPr algn="ctr">
                <a:lnSpc>
                  <a:spcPts val="2160"/>
                </a:lnSpc>
              </a:pPr>
              <a:r>
                <a:rPr lang="en-US" sz="1800" i="true">
                  <a:solidFill>
                    <a:srgbClr val="6E668A"/>
                  </a:solidFill>
                  <a:latin typeface="Calibri (MS) Italics"/>
                  <a:ea typeface="Calibri (MS) Italics"/>
                  <a:cs typeface="Calibri (MS) Italics"/>
                  <a:sym typeface="Calibri (MS) Italics"/>
                </a:rPr>
                <a:t>The mapping code never has compile-time knowledge of the Player class's shape — that's the entire point.</a:t>
              </a:r>
            </a:p>
          </p:txBody>
        </p:sp>
      </p:grpSp>
      <p:grpSp>
        <p:nvGrpSpPr>
          <p:cNvPr name="Group 64" id="64"/>
          <p:cNvGrpSpPr/>
          <p:nvPr/>
        </p:nvGrpSpPr>
        <p:grpSpPr>
          <a:xfrm rot="0">
            <a:off x="17053103" y="9820656"/>
            <a:ext cx="685800" cy="411480"/>
            <a:chOff x="0" y="0"/>
            <a:chExt cx="914400" cy="548640"/>
          </a:xfrm>
        </p:grpSpPr>
        <p:sp>
          <p:nvSpPr>
            <p:cNvPr name="Freeform 65" id="6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6" id="6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50</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6. WORKED EXAMPLE — PART 1</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The Attribute + Domain Type</a:t>
              </a:r>
            </a:p>
          </p:txBody>
        </p:sp>
      </p:grpSp>
      <p:grpSp>
        <p:nvGrpSpPr>
          <p:cNvPr name="Group 8" id="8"/>
          <p:cNvGrpSpPr/>
          <p:nvPr/>
        </p:nvGrpSpPr>
        <p:grpSpPr>
          <a:xfrm rot="0">
            <a:off x="960120" y="2537460"/>
            <a:ext cx="16363188" cy="6240780"/>
            <a:chOff x="0" y="0"/>
            <a:chExt cx="21817584" cy="8321040"/>
          </a:xfrm>
        </p:grpSpPr>
        <p:sp>
          <p:nvSpPr>
            <p:cNvPr name="Freeform 9" id="9"/>
            <p:cNvSpPr/>
            <p:nvPr/>
          </p:nvSpPr>
          <p:spPr>
            <a:xfrm flipH="false" flipV="false" rot="0">
              <a:off x="0" y="0"/>
              <a:ext cx="21817585" cy="8321040"/>
            </a:xfrm>
            <a:custGeom>
              <a:avLst/>
              <a:gdLst/>
              <a:ahLst/>
              <a:cxnLst/>
              <a:rect r="r" b="b" t="t" l="l"/>
              <a:pathLst>
                <a:path h="8321040" w="21817585">
                  <a:moveTo>
                    <a:pt x="0" y="146304"/>
                  </a:moveTo>
                  <a:cubicBezTo>
                    <a:pt x="0" y="65532"/>
                    <a:pt x="65532" y="0"/>
                    <a:pt x="146304" y="0"/>
                  </a:cubicBezTo>
                  <a:lnTo>
                    <a:pt x="21671280" y="0"/>
                  </a:lnTo>
                  <a:cubicBezTo>
                    <a:pt x="21752052" y="0"/>
                    <a:pt x="21817585" y="65532"/>
                    <a:pt x="21817585" y="146304"/>
                  </a:cubicBezTo>
                  <a:lnTo>
                    <a:pt x="21817585" y="8174736"/>
                  </a:lnTo>
                  <a:cubicBezTo>
                    <a:pt x="21817585" y="8255508"/>
                    <a:pt x="21752052" y="8321040"/>
                    <a:pt x="21671280" y="8321040"/>
                  </a:cubicBezTo>
                  <a:lnTo>
                    <a:pt x="146304" y="8321040"/>
                  </a:lnTo>
                  <a:cubicBezTo>
                    <a:pt x="65532" y="8321040"/>
                    <a:pt x="0" y="8255508"/>
                    <a:pt x="0" y="817473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11627"/>
            <a:ext cx="15412212" cy="5374005"/>
          </a:xfrm>
          <a:prstGeom prst="rect">
            <a:avLst/>
          </a:prstGeom>
        </p:spPr>
        <p:txBody>
          <a:bodyPr anchor="t" rtlCol="false" tIns="0" lIns="0" bIns="0" rIns="0">
            <a:spAutoFit/>
          </a:bodyPr>
          <a:lstStyle/>
          <a:p>
            <a:pPr algn="l">
              <a:lnSpc>
                <a:spcPts val="2654"/>
              </a:lnSpc>
            </a:pPr>
            <a:r>
              <a:rPr lang="en-US" sz="1875">
                <a:solidFill>
                  <a:srgbClr val="8B84AE"/>
                </a:solidFill>
                <a:latin typeface="Courier New"/>
                <a:ea typeface="Courier New"/>
                <a:cs typeface="Courier New"/>
                <a:sym typeface="Courier New"/>
              </a:rPr>
              <a:t>// ── The attribute (Section 3) ─────────────────────────────</a:t>
            </a:r>
          </a:p>
          <a:p>
            <a:pPr algn="l">
              <a:lnSpc>
                <a:spcPts val="2654"/>
              </a:lnSpc>
            </a:pPr>
            <a:r>
              <a:rPr lang="en-US" sz="1875">
                <a:solidFill>
                  <a:srgbClr val="D9D4F0"/>
                </a:solidFill>
                <a:latin typeface="Courier New"/>
                <a:ea typeface="Courier New"/>
                <a:cs typeface="Courier New"/>
                <a:sym typeface="Courier New"/>
              </a:rPr>
              <a:t>[AttributeUsage(AttributeTargets.Property)]</a:t>
            </a:r>
          </a:p>
          <a:p>
            <a:pPr algn="l">
              <a:lnSpc>
                <a:spcPts val="2654"/>
              </a:lnSpc>
            </a:pPr>
            <a:r>
              <a:rPr lang="en-US" sz="1875">
                <a:solidFill>
                  <a:srgbClr val="D9D4F0"/>
                </a:solidFill>
                <a:latin typeface="Courier New"/>
                <a:ea typeface="Courier New"/>
                <a:cs typeface="Courier New"/>
                <a:sym typeface="Courier New"/>
              </a:rPr>
              <a:t>public class ColumnNameAttribute : Attribute</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r>
              <a:rPr lang="en-US" sz="1875">
                <a:solidFill>
                  <a:srgbClr val="D9D4F0"/>
                </a:solidFill>
                <a:latin typeface="Courier New"/>
                <a:ea typeface="Courier New"/>
                <a:cs typeface="Courier New"/>
                <a:sym typeface="Courier New"/>
              </a:rPr>
              <a:t>    public string Name { get; }</a:t>
            </a:r>
          </a:p>
          <a:p>
            <a:pPr algn="l">
              <a:lnSpc>
                <a:spcPts val="2654"/>
              </a:lnSpc>
            </a:pPr>
            <a:r>
              <a:rPr lang="en-US" sz="1875">
                <a:solidFill>
                  <a:srgbClr val="D9D4F0"/>
                </a:solidFill>
                <a:latin typeface="Courier New"/>
                <a:ea typeface="Courier New"/>
                <a:cs typeface="Courier New"/>
                <a:sym typeface="Courier New"/>
              </a:rPr>
              <a:t>    public ColumnNameAttribute(string name) =&gt; Name = name;</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p>
          <a:p>
            <a:pPr algn="l">
              <a:lnSpc>
                <a:spcPts val="2654"/>
              </a:lnSpc>
            </a:pPr>
            <a:r>
              <a:rPr lang="en-US" sz="1875">
                <a:solidFill>
                  <a:srgbClr val="8B84AE"/>
                </a:solidFill>
                <a:latin typeface="Courier New"/>
                <a:ea typeface="Courier New"/>
                <a:cs typeface="Courier New"/>
                <a:sym typeface="Courier New"/>
              </a:rPr>
              <a:t>// ── The domain type, decorated with metadata ─────────────</a:t>
            </a:r>
          </a:p>
          <a:p>
            <a:pPr algn="l">
              <a:lnSpc>
                <a:spcPts val="2654"/>
              </a:lnSpc>
            </a:pPr>
            <a:r>
              <a:rPr lang="en-US" sz="1875">
                <a:solidFill>
                  <a:srgbClr val="D9D4F0"/>
                </a:solidFill>
                <a:latin typeface="Courier New"/>
                <a:ea typeface="Courier New"/>
                <a:cs typeface="Courier New"/>
                <a:sym typeface="Courier New"/>
              </a:rPr>
              <a:t>public class Player</a:t>
            </a:r>
          </a:p>
          <a:p>
            <a:pPr algn="l">
              <a:lnSpc>
                <a:spcPts val="2654"/>
              </a:lnSpc>
            </a:pPr>
            <a:r>
              <a:rPr lang="en-US" sz="1875">
                <a:solidFill>
                  <a:srgbClr val="D9D4F0"/>
                </a:solidFill>
                <a:latin typeface="Courier New"/>
                <a:ea typeface="Courier New"/>
                <a:cs typeface="Courier New"/>
                <a:sym typeface="Courier New"/>
              </a:rPr>
              <a:t>{</a:t>
            </a:r>
          </a:p>
          <a:p>
            <a:pPr algn="l">
              <a:lnSpc>
                <a:spcPts val="2654"/>
              </a:lnSpc>
            </a:pPr>
            <a:r>
              <a:rPr lang="en-US" sz="1875">
                <a:solidFill>
                  <a:srgbClr val="D9D4F0"/>
                </a:solidFill>
                <a:latin typeface="Courier New"/>
                <a:ea typeface="Courier New"/>
                <a:cs typeface="Courier New"/>
                <a:sym typeface="Courier New"/>
              </a:rPr>
              <a:t>    [ColumnName("player_name")]</a:t>
            </a:r>
          </a:p>
          <a:p>
            <a:pPr algn="l">
              <a:lnSpc>
                <a:spcPts val="2654"/>
              </a:lnSpc>
            </a:pPr>
            <a:r>
              <a:rPr lang="en-US" sz="1875">
                <a:solidFill>
                  <a:srgbClr val="D9D4F0"/>
                </a:solidFill>
                <a:latin typeface="Courier New"/>
                <a:ea typeface="Courier New"/>
                <a:cs typeface="Courier New"/>
                <a:sym typeface="Courier New"/>
              </a:rPr>
              <a:t>    public string Name { get; set; }</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    [ColumnName("jersey_no")]</a:t>
            </a:r>
          </a:p>
          <a:p>
            <a:pPr algn="l">
              <a:lnSpc>
                <a:spcPts val="2654"/>
              </a:lnSpc>
            </a:pPr>
            <a:r>
              <a:rPr lang="en-US" sz="1875">
                <a:solidFill>
                  <a:srgbClr val="D9D4F0"/>
                </a:solidFill>
                <a:latin typeface="Courier New"/>
                <a:ea typeface="Courier New"/>
                <a:cs typeface="Courier New"/>
                <a:sym typeface="Courier New"/>
              </a:rPr>
              <a:t>    public int JerseyNumber { get; set; }</a:t>
            </a:r>
          </a:p>
          <a:p>
            <a:pPr algn="l">
              <a:lnSpc>
                <a:spcPts val="2654"/>
              </a:lnSpc>
            </a:pPr>
          </a:p>
          <a:p>
            <a:pPr algn="l">
              <a:lnSpc>
                <a:spcPts val="2654"/>
              </a:lnSpc>
            </a:pPr>
            <a:r>
              <a:rPr lang="en-US" sz="1875">
                <a:solidFill>
                  <a:srgbClr val="D9D4F0"/>
                </a:solidFill>
                <a:latin typeface="Courier New"/>
                <a:ea typeface="Courier New"/>
                <a:cs typeface="Courier New"/>
                <a:sym typeface="Courier New"/>
              </a:rPr>
              <a:t>    public int Goals { get; set; }  // no attribute — falls back to the property name</a:t>
            </a:r>
          </a:p>
          <a:p>
            <a:pPr algn="l">
              <a:lnSpc>
                <a:spcPts val="2654"/>
              </a:lnSpc>
            </a:pPr>
            <a:r>
              <a:rPr lang="en-US" sz="1875">
                <a:solidFill>
                  <a:srgbClr val="D9D4F0"/>
                </a:solidFill>
                <a:latin typeface="Courier New"/>
                <a:ea typeface="Courier New"/>
                <a:cs typeface="Courier New"/>
                <a:sym typeface="Courier New"/>
              </a:rPr>
              <a:t>}</a:t>
            </a:r>
          </a:p>
        </p:txBody>
      </p:sp>
      <p:grpSp>
        <p:nvGrpSpPr>
          <p:cNvPr name="Group 17" id="17"/>
          <p:cNvGrpSpPr/>
          <p:nvPr/>
        </p:nvGrpSpPr>
        <p:grpSpPr>
          <a:xfrm rot="0">
            <a:off x="17053103" y="9820656"/>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51</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6. WORKED EXAMPLE — PART 2</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The Generic Mapper (Reflection) + Async Save</a:t>
              </a:r>
            </a:p>
          </p:txBody>
        </p:sp>
      </p:grpSp>
      <p:grpSp>
        <p:nvGrpSpPr>
          <p:cNvPr name="Group 8" id="8"/>
          <p:cNvGrpSpPr/>
          <p:nvPr/>
        </p:nvGrpSpPr>
        <p:grpSpPr>
          <a:xfrm rot="0">
            <a:off x="960120" y="2537460"/>
            <a:ext cx="16363188" cy="6652260"/>
            <a:chOff x="0" y="0"/>
            <a:chExt cx="21817584" cy="8869680"/>
          </a:xfrm>
        </p:grpSpPr>
        <p:sp>
          <p:nvSpPr>
            <p:cNvPr name="Freeform 9" id="9"/>
            <p:cNvSpPr/>
            <p:nvPr/>
          </p:nvSpPr>
          <p:spPr>
            <a:xfrm flipH="false" flipV="false" rot="0">
              <a:off x="0" y="0"/>
              <a:ext cx="21817585" cy="8869680"/>
            </a:xfrm>
            <a:custGeom>
              <a:avLst/>
              <a:gdLst/>
              <a:ahLst/>
              <a:cxnLst/>
              <a:rect r="r" b="b" t="t" l="l"/>
              <a:pathLst>
                <a:path h="8869680" w="21817585">
                  <a:moveTo>
                    <a:pt x="0" y="146304"/>
                  </a:moveTo>
                  <a:cubicBezTo>
                    <a:pt x="0" y="65532"/>
                    <a:pt x="65532" y="0"/>
                    <a:pt x="146304" y="0"/>
                  </a:cubicBezTo>
                  <a:lnTo>
                    <a:pt x="21671280" y="0"/>
                  </a:lnTo>
                  <a:cubicBezTo>
                    <a:pt x="21752052" y="0"/>
                    <a:pt x="21817585" y="65532"/>
                    <a:pt x="21817585" y="146304"/>
                  </a:cubicBezTo>
                  <a:lnTo>
                    <a:pt x="21817585" y="8723376"/>
                  </a:lnTo>
                  <a:cubicBezTo>
                    <a:pt x="21817585" y="8804148"/>
                    <a:pt x="21752052" y="8869680"/>
                    <a:pt x="21671280" y="8869680"/>
                  </a:cubicBezTo>
                  <a:lnTo>
                    <a:pt x="146304" y="8869680"/>
                  </a:lnTo>
                  <a:cubicBezTo>
                    <a:pt x="65532" y="8869680"/>
                    <a:pt x="0" y="8804148"/>
                    <a:pt x="0" y="872337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21152"/>
            <a:ext cx="15412212" cy="5775960"/>
          </a:xfrm>
          <a:prstGeom prst="rect">
            <a:avLst/>
          </a:prstGeom>
        </p:spPr>
        <p:txBody>
          <a:bodyPr anchor="t" rtlCol="false" tIns="0" lIns="0" bIns="0" rIns="0">
            <a:spAutoFit/>
          </a:bodyPr>
          <a:lstStyle/>
          <a:p>
            <a:pPr algn="l">
              <a:lnSpc>
                <a:spcPts val="2187"/>
              </a:lnSpc>
            </a:pPr>
            <a:r>
              <a:rPr lang="en-US" sz="1545">
                <a:solidFill>
                  <a:srgbClr val="D9D4F0"/>
                </a:solidFill>
                <a:latin typeface="Courier New"/>
                <a:ea typeface="Courier New"/>
                <a:cs typeface="Courier New"/>
                <a:sym typeface="Courier New"/>
              </a:rPr>
              <a:t>public static class EntityMapper</a:t>
            </a:r>
          </a:p>
          <a:p>
            <a:pPr algn="l">
              <a:lnSpc>
                <a:spcPts val="2187"/>
              </a:lnSpc>
            </a:pPr>
            <a:r>
              <a:rPr lang="en-US" sz="1545">
                <a:solidFill>
                  <a:srgbClr val="D9D4F0"/>
                </a:solidFill>
                <a:latin typeface="Courier New"/>
                <a:ea typeface="Courier New"/>
                <a:cs typeface="Courier New"/>
                <a:sym typeface="Courier New"/>
              </a:rPr>
              <a:t>{</a:t>
            </a:r>
          </a:p>
          <a:p>
            <a:pPr algn="l">
              <a:lnSpc>
                <a:spcPts val="2187"/>
              </a:lnSpc>
            </a:pPr>
            <a:r>
              <a:rPr lang="en-US" sz="1545">
                <a:solidFill>
                  <a:srgbClr val="8B84AE"/>
                </a:solidFill>
                <a:latin typeface="Courier New"/>
                <a:ea typeface="Courier New"/>
                <a:cs typeface="Courier New"/>
                <a:sym typeface="Courier New"/>
              </a:rPr>
              <a:t>    // MITIGATION from 5.7: cache per-type reflection results</a:t>
            </a:r>
          </a:p>
          <a:p>
            <a:pPr algn="l">
              <a:lnSpc>
                <a:spcPts val="2187"/>
              </a:lnSpc>
            </a:pPr>
            <a:r>
              <a:rPr lang="en-US" sz="1545">
                <a:solidFill>
                  <a:srgbClr val="D9D4F0"/>
                </a:solidFill>
                <a:latin typeface="Courier New"/>
                <a:ea typeface="Courier New"/>
                <a:cs typeface="Courier New"/>
                <a:sym typeface="Courier New"/>
              </a:rPr>
              <a:t>    private static readonly Dictionary&lt;Type, Dictionary&lt;string, PropertyInfo&gt;&gt; _cache = new();</a:t>
            </a:r>
          </a:p>
          <a:p>
            <a:pPr algn="l">
              <a:lnSpc>
                <a:spcPts val="2187"/>
              </a:lnSpc>
            </a:pPr>
          </a:p>
          <a:p>
            <a:pPr algn="l">
              <a:lnSpc>
                <a:spcPts val="2187"/>
              </a:lnSpc>
            </a:pPr>
            <a:r>
              <a:rPr lang="en-US" sz="1545">
                <a:solidFill>
                  <a:srgbClr val="D9D4F0"/>
                </a:solidFill>
                <a:latin typeface="Courier New"/>
                <a:ea typeface="Courier New"/>
                <a:cs typeface="Courier New"/>
                <a:sym typeface="Courier New"/>
              </a:rPr>
              <a:t>    public static Dictionary&lt;string, object&gt; ToColumnDictionary(object entity)</a:t>
            </a:r>
          </a:p>
          <a:p>
            <a:pPr algn="l">
              <a:lnSpc>
                <a:spcPts val="2187"/>
              </a:lnSpc>
            </a:pPr>
            <a:r>
              <a:rPr lang="en-US" sz="1545">
                <a:solidFill>
                  <a:srgbClr val="D9D4F0"/>
                </a:solidFill>
                <a:latin typeface="Courier New"/>
                <a:ea typeface="Courier New"/>
                <a:cs typeface="Courier New"/>
                <a:sym typeface="Courier New"/>
              </a:rPr>
              <a:t>    {</a:t>
            </a:r>
          </a:p>
          <a:p>
            <a:pPr algn="l">
              <a:lnSpc>
                <a:spcPts val="2187"/>
              </a:lnSpc>
            </a:pPr>
            <a:r>
              <a:rPr lang="en-US" sz="1545">
                <a:solidFill>
                  <a:srgbClr val="D9D4F0"/>
                </a:solidFill>
                <a:latin typeface="Courier New"/>
                <a:ea typeface="Courier New"/>
                <a:cs typeface="Courier New"/>
                <a:sym typeface="Courier New"/>
              </a:rPr>
              <a:t>        Type type = entity.GetType();</a:t>
            </a:r>
          </a:p>
          <a:p>
            <a:pPr algn="l">
              <a:lnSpc>
                <a:spcPts val="2187"/>
              </a:lnSpc>
            </a:pPr>
            <a:r>
              <a:rPr lang="en-US" sz="1545">
                <a:solidFill>
                  <a:srgbClr val="D9D4F0"/>
                </a:solidFill>
                <a:latin typeface="Courier New"/>
                <a:ea typeface="Courier New"/>
                <a:cs typeface="Courier New"/>
                <a:sym typeface="Courier New"/>
              </a:rPr>
              <a:t>        if (!_cache.TryGetValue(type, out var columnToProperty))</a:t>
            </a:r>
          </a:p>
          <a:p>
            <a:pPr algn="l">
              <a:lnSpc>
                <a:spcPts val="2187"/>
              </a:lnSpc>
            </a:pPr>
            <a:r>
              <a:rPr lang="en-US" sz="1545">
                <a:solidFill>
                  <a:srgbClr val="D9D4F0"/>
                </a:solidFill>
                <a:latin typeface="Courier New"/>
                <a:ea typeface="Courier New"/>
                <a:cs typeface="Courier New"/>
                <a:sym typeface="Courier New"/>
              </a:rPr>
              <a:t>        {</a:t>
            </a:r>
          </a:p>
          <a:p>
            <a:pPr algn="l">
              <a:lnSpc>
                <a:spcPts val="2187"/>
              </a:lnSpc>
            </a:pPr>
            <a:r>
              <a:rPr lang="en-US" sz="1545">
                <a:solidFill>
                  <a:srgbClr val="D9D4F0"/>
                </a:solidFill>
                <a:latin typeface="Courier New"/>
                <a:ea typeface="Courier New"/>
                <a:cs typeface="Courier New"/>
                <a:sym typeface="Courier New"/>
              </a:rPr>
              <a:t>            columnToProperty = new Dictionary&lt;string, PropertyInfo&gt;();</a:t>
            </a:r>
          </a:p>
          <a:p>
            <a:pPr algn="l">
              <a:lnSpc>
                <a:spcPts val="2187"/>
              </a:lnSpc>
            </a:pPr>
            <a:r>
              <a:rPr lang="en-US" sz="1545">
                <a:solidFill>
                  <a:srgbClr val="D9D4F0"/>
                </a:solidFill>
                <a:latin typeface="Courier New"/>
                <a:ea typeface="Courier New"/>
                <a:cs typeface="Courier New"/>
                <a:sym typeface="Courier New"/>
              </a:rPr>
              <a:t>            foreach (PropertyInfo prop in type.GetProperties())</a:t>
            </a:r>
          </a:p>
          <a:p>
            <a:pPr algn="l">
              <a:lnSpc>
                <a:spcPts val="2187"/>
              </a:lnSpc>
            </a:pPr>
            <a:r>
              <a:rPr lang="en-US" sz="1545">
                <a:solidFill>
                  <a:srgbClr val="D9D4F0"/>
                </a:solidFill>
                <a:latin typeface="Courier New"/>
                <a:ea typeface="Courier New"/>
                <a:cs typeface="Courier New"/>
                <a:sym typeface="Courier New"/>
              </a:rPr>
              <a:t>            {</a:t>
            </a:r>
          </a:p>
          <a:p>
            <a:pPr algn="l">
              <a:lnSpc>
                <a:spcPts val="2187"/>
              </a:lnSpc>
            </a:pPr>
            <a:r>
              <a:rPr lang="en-US" sz="1545">
                <a:solidFill>
                  <a:srgbClr val="D9D4F0"/>
                </a:solidFill>
                <a:latin typeface="Courier New"/>
                <a:ea typeface="Courier New"/>
                <a:cs typeface="Courier New"/>
                <a:sym typeface="Courier New"/>
              </a:rPr>
              <a:t>                var attr = prop.GetCustomAttribute&lt;ColumnNameAttribute&gt;();</a:t>
            </a:r>
          </a:p>
          <a:p>
            <a:pPr algn="l">
              <a:lnSpc>
                <a:spcPts val="2187"/>
              </a:lnSpc>
            </a:pPr>
            <a:r>
              <a:rPr lang="en-US" sz="1545">
                <a:solidFill>
                  <a:srgbClr val="D9D4F0"/>
                </a:solidFill>
                <a:latin typeface="Courier New"/>
                <a:ea typeface="Courier New"/>
                <a:cs typeface="Courier New"/>
                <a:sym typeface="Courier New"/>
              </a:rPr>
              <a:t>                columnToProperty[attr?.Name ?? prop.Name] = prop;</a:t>
            </a:r>
          </a:p>
          <a:p>
            <a:pPr algn="l">
              <a:lnSpc>
                <a:spcPts val="2187"/>
              </a:lnSpc>
            </a:pPr>
            <a:r>
              <a:rPr lang="en-US" sz="1545">
                <a:solidFill>
                  <a:srgbClr val="D9D4F0"/>
                </a:solidFill>
                <a:latin typeface="Courier New"/>
                <a:ea typeface="Courier New"/>
                <a:cs typeface="Courier New"/>
                <a:sym typeface="Courier New"/>
              </a:rPr>
              <a:t>            }</a:t>
            </a:r>
          </a:p>
          <a:p>
            <a:pPr algn="l">
              <a:lnSpc>
                <a:spcPts val="2187"/>
              </a:lnSpc>
            </a:pPr>
            <a:r>
              <a:rPr lang="en-US" sz="1545">
                <a:solidFill>
                  <a:srgbClr val="D9D4F0"/>
                </a:solidFill>
                <a:latin typeface="Courier New"/>
                <a:ea typeface="Courier New"/>
                <a:cs typeface="Courier New"/>
                <a:sym typeface="Courier New"/>
              </a:rPr>
              <a:t>            _cache[type] = columnToProperty;  // paid once per type</a:t>
            </a:r>
          </a:p>
          <a:p>
            <a:pPr algn="l">
              <a:lnSpc>
                <a:spcPts val="2187"/>
              </a:lnSpc>
            </a:pPr>
            <a:r>
              <a:rPr lang="en-US" sz="1545">
                <a:solidFill>
                  <a:srgbClr val="D9D4F0"/>
                </a:solidFill>
                <a:latin typeface="Courier New"/>
                <a:ea typeface="Courier New"/>
                <a:cs typeface="Courier New"/>
                <a:sym typeface="Courier New"/>
              </a:rPr>
              <a:t>        }</a:t>
            </a:r>
          </a:p>
          <a:p>
            <a:pPr algn="l">
              <a:lnSpc>
                <a:spcPts val="2187"/>
              </a:lnSpc>
            </a:pPr>
            <a:r>
              <a:rPr lang="en-US" sz="1545">
                <a:solidFill>
                  <a:srgbClr val="D9D4F0"/>
                </a:solidFill>
                <a:latin typeface="Courier New"/>
                <a:ea typeface="Courier New"/>
                <a:cs typeface="Courier New"/>
                <a:sym typeface="Courier New"/>
              </a:rPr>
              <a:t>        var result = new Dictionary&lt;string, object&gt;();</a:t>
            </a:r>
          </a:p>
          <a:p>
            <a:pPr algn="l">
              <a:lnSpc>
                <a:spcPts val="2187"/>
              </a:lnSpc>
            </a:pPr>
            <a:r>
              <a:rPr lang="en-US" sz="1545">
                <a:solidFill>
                  <a:srgbClr val="D9D4F0"/>
                </a:solidFill>
                <a:latin typeface="Courier New"/>
                <a:ea typeface="Courier New"/>
                <a:cs typeface="Courier New"/>
                <a:sym typeface="Courier New"/>
              </a:rPr>
              <a:t>        foreach (var (columnName, prop) in columnToProperty)</a:t>
            </a:r>
          </a:p>
          <a:p>
            <a:pPr algn="l">
              <a:lnSpc>
                <a:spcPts val="2187"/>
              </a:lnSpc>
            </a:pPr>
            <a:r>
              <a:rPr lang="en-US" sz="1545">
                <a:solidFill>
                  <a:srgbClr val="D9D4F0"/>
                </a:solidFill>
                <a:latin typeface="Courier New"/>
                <a:ea typeface="Courier New"/>
                <a:cs typeface="Courier New"/>
                <a:sym typeface="Courier New"/>
              </a:rPr>
              <a:t>            result[columnName] = prop.GetValue(entity);</a:t>
            </a:r>
          </a:p>
          <a:p>
            <a:pPr algn="l">
              <a:lnSpc>
                <a:spcPts val="2187"/>
              </a:lnSpc>
            </a:pPr>
            <a:r>
              <a:rPr lang="en-US" sz="1545">
                <a:solidFill>
                  <a:srgbClr val="D9D4F0"/>
                </a:solidFill>
                <a:latin typeface="Courier New"/>
                <a:ea typeface="Courier New"/>
                <a:cs typeface="Courier New"/>
                <a:sym typeface="Courier New"/>
              </a:rPr>
              <a:t>        return result;</a:t>
            </a:r>
          </a:p>
          <a:p>
            <a:pPr algn="l">
              <a:lnSpc>
                <a:spcPts val="2187"/>
              </a:lnSpc>
            </a:pPr>
            <a:r>
              <a:rPr lang="en-US" sz="1545">
                <a:solidFill>
                  <a:srgbClr val="D9D4F0"/>
                </a:solidFill>
                <a:latin typeface="Courier New"/>
                <a:ea typeface="Courier New"/>
                <a:cs typeface="Courier New"/>
                <a:sym typeface="Courier New"/>
              </a:rPr>
              <a:t>    }</a:t>
            </a:r>
          </a:p>
          <a:p>
            <a:pPr algn="l">
              <a:lnSpc>
                <a:spcPts val="2187"/>
              </a:lnSpc>
            </a:pPr>
            <a:r>
              <a:rPr lang="en-US" sz="1545">
                <a:solidFill>
                  <a:srgbClr val="D9D4F0"/>
                </a:solidFill>
                <a:latin typeface="Courier New"/>
                <a:ea typeface="Courier New"/>
                <a:cs typeface="Courier New"/>
                <a:sym typeface="Courier New"/>
              </a:rPr>
              <a:t>}</a:t>
            </a:r>
          </a:p>
        </p:txBody>
      </p:sp>
      <p:grpSp>
        <p:nvGrpSpPr>
          <p:cNvPr name="Group 17" id="17"/>
          <p:cNvGrpSpPr/>
          <p:nvPr/>
        </p:nvGrpSpPr>
        <p:grpSpPr>
          <a:xfrm rot="0">
            <a:off x="17053103" y="9820656"/>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52</a:t>
              </a: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6. WORKED EXAMPLE — PART 3</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The Async Save + Usage</a:t>
              </a:r>
            </a:p>
          </p:txBody>
        </p:sp>
      </p:grpSp>
      <p:grpSp>
        <p:nvGrpSpPr>
          <p:cNvPr name="Group 8" id="8"/>
          <p:cNvGrpSpPr/>
          <p:nvPr/>
        </p:nvGrpSpPr>
        <p:grpSpPr>
          <a:xfrm rot="0">
            <a:off x="960120" y="2537460"/>
            <a:ext cx="16363188" cy="6240780"/>
            <a:chOff x="0" y="0"/>
            <a:chExt cx="21817584" cy="8321040"/>
          </a:xfrm>
        </p:grpSpPr>
        <p:sp>
          <p:nvSpPr>
            <p:cNvPr name="Freeform 9" id="9"/>
            <p:cNvSpPr/>
            <p:nvPr/>
          </p:nvSpPr>
          <p:spPr>
            <a:xfrm flipH="false" flipV="false" rot="0">
              <a:off x="0" y="0"/>
              <a:ext cx="21817585" cy="8321040"/>
            </a:xfrm>
            <a:custGeom>
              <a:avLst/>
              <a:gdLst/>
              <a:ahLst/>
              <a:cxnLst/>
              <a:rect r="r" b="b" t="t" l="l"/>
              <a:pathLst>
                <a:path h="8321040" w="21817585">
                  <a:moveTo>
                    <a:pt x="0" y="146304"/>
                  </a:moveTo>
                  <a:cubicBezTo>
                    <a:pt x="0" y="65532"/>
                    <a:pt x="65532" y="0"/>
                    <a:pt x="146304" y="0"/>
                  </a:cubicBezTo>
                  <a:lnTo>
                    <a:pt x="21671280" y="0"/>
                  </a:lnTo>
                  <a:cubicBezTo>
                    <a:pt x="21752052" y="0"/>
                    <a:pt x="21817585" y="65532"/>
                    <a:pt x="21817585" y="146304"/>
                  </a:cubicBezTo>
                  <a:lnTo>
                    <a:pt x="21817585" y="8174736"/>
                  </a:lnTo>
                  <a:cubicBezTo>
                    <a:pt x="21817585" y="8255508"/>
                    <a:pt x="21752052" y="8321040"/>
                    <a:pt x="21671280" y="8321040"/>
                  </a:cubicBezTo>
                  <a:lnTo>
                    <a:pt x="146304" y="8321040"/>
                  </a:lnTo>
                  <a:cubicBezTo>
                    <a:pt x="65532" y="8321040"/>
                    <a:pt x="0" y="8255508"/>
                    <a:pt x="0" y="8174736"/>
                  </a:cubicBezTo>
                  <a:close/>
                </a:path>
              </a:pathLst>
            </a:custGeom>
            <a:solidFill>
              <a:srgbClr val="1E1B33"/>
            </a:solidFill>
          </p:spPr>
        </p:sp>
      </p:grpSp>
      <p:grpSp>
        <p:nvGrpSpPr>
          <p:cNvPr name="Group 10" id="10"/>
          <p:cNvGrpSpPr/>
          <p:nvPr/>
        </p:nvGrpSpPr>
        <p:grpSpPr>
          <a:xfrm rot="0">
            <a:off x="1234440" y="2756916"/>
            <a:ext cx="150876" cy="150876"/>
            <a:chOff x="0" y="0"/>
            <a:chExt cx="201168" cy="201168"/>
          </a:xfrm>
        </p:grpSpPr>
        <p:sp>
          <p:nvSpPr>
            <p:cNvPr name="Freeform 11" id="11"/>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5F56"/>
            </a:solidFill>
          </p:spPr>
        </p:sp>
      </p:grpSp>
      <p:grpSp>
        <p:nvGrpSpPr>
          <p:cNvPr name="Group 12" id="12"/>
          <p:cNvGrpSpPr/>
          <p:nvPr/>
        </p:nvGrpSpPr>
        <p:grpSpPr>
          <a:xfrm rot="0">
            <a:off x="1536192" y="2756916"/>
            <a:ext cx="150876" cy="150876"/>
            <a:chOff x="0" y="0"/>
            <a:chExt cx="201168" cy="201168"/>
          </a:xfrm>
        </p:grpSpPr>
        <p:sp>
          <p:nvSpPr>
            <p:cNvPr name="Freeform 13" id="13"/>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FFBD2E"/>
            </a:solidFill>
          </p:spPr>
        </p:sp>
      </p:grpSp>
      <p:grpSp>
        <p:nvGrpSpPr>
          <p:cNvPr name="Group 14" id="14"/>
          <p:cNvGrpSpPr/>
          <p:nvPr/>
        </p:nvGrpSpPr>
        <p:grpSpPr>
          <a:xfrm rot="0">
            <a:off x="1837944" y="2756916"/>
            <a:ext cx="150876" cy="150876"/>
            <a:chOff x="0" y="0"/>
            <a:chExt cx="201168" cy="201168"/>
          </a:xfrm>
        </p:grpSpPr>
        <p:sp>
          <p:nvSpPr>
            <p:cNvPr name="Freeform 15" id="15"/>
            <p:cNvSpPr/>
            <p:nvPr/>
          </p:nvSpPr>
          <p:spPr>
            <a:xfrm flipH="false" flipV="false" rot="0">
              <a:off x="0" y="0"/>
              <a:ext cx="201168" cy="201168"/>
            </a:xfrm>
            <a:custGeom>
              <a:avLst/>
              <a:gdLst/>
              <a:ahLst/>
              <a:cxnLst/>
              <a:rect r="r" b="b" t="t" l="l"/>
              <a:pathLst>
                <a:path h="201168" w="201168">
                  <a:moveTo>
                    <a:pt x="0" y="100584"/>
                  </a:moveTo>
                  <a:cubicBezTo>
                    <a:pt x="0" y="45085"/>
                    <a:pt x="45085" y="0"/>
                    <a:pt x="100584" y="0"/>
                  </a:cubicBezTo>
                  <a:cubicBezTo>
                    <a:pt x="156083" y="0"/>
                    <a:pt x="201168" y="45085"/>
                    <a:pt x="201168" y="100584"/>
                  </a:cubicBezTo>
                  <a:cubicBezTo>
                    <a:pt x="201168" y="156083"/>
                    <a:pt x="156083" y="201168"/>
                    <a:pt x="100584" y="201168"/>
                  </a:cubicBezTo>
                  <a:cubicBezTo>
                    <a:pt x="45085" y="201168"/>
                    <a:pt x="0" y="156083"/>
                    <a:pt x="0" y="100584"/>
                  </a:cubicBezTo>
                  <a:close/>
                </a:path>
              </a:pathLst>
            </a:custGeom>
            <a:solidFill>
              <a:srgbClr val="27C93F"/>
            </a:solidFill>
          </p:spPr>
        </p:sp>
      </p:grpSp>
      <p:sp>
        <p:nvSpPr>
          <p:cNvPr name="TextBox 16" id="16"/>
          <p:cNvSpPr txBox="true"/>
          <p:nvPr/>
        </p:nvSpPr>
        <p:spPr>
          <a:xfrm rot="0">
            <a:off x="1435608" y="3111627"/>
            <a:ext cx="15412212" cy="5374005"/>
          </a:xfrm>
          <a:prstGeom prst="rect">
            <a:avLst/>
          </a:prstGeom>
        </p:spPr>
        <p:txBody>
          <a:bodyPr anchor="t" rtlCol="false" tIns="0" lIns="0" bIns="0" rIns="0">
            <a:spAutoFit/>
          </a:bodyPr>
          <a:lstStyle/>
          <a:p>
            <a:pPr algn="l">
              <a:lnSpc>
                <a:spcPts val="2548"/>
              </a:lnSpc>
            </a:pPr>
            <a:r>
              <a:rPr lang="en-US" sz="1800">
                <a:solidFill>
                  <a:srgbClr val="D9D4F0"/>
                </a:solidFill>
                <a:latin typeface="Courier New"/>
                <a:ea typeface="Courier New"/>
                <a:cs typeface="Courier New"/>
                <a:sym typeface="Courier New"/>
              </a:rPr>
              <a:t>public class RemoteRepository</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r>
              <a:rPr lang="en-US" sz="1800">
                <a:solidFill>
                  <a:srgbClr val="D9D4F0"/>
                </a:solidFill>
                <a:latin typeface="Courier New"/>
                <a:ea typeface="Courier New"/>
                <a:cs typeface="Courier New"/>
                <a:sym typeface="Courier New"/>
              </a:rPr>
              <a:t>    private readonly HttpClient _httpClient = new();</a:t>
            </a:r>
          </a:p>
          <a:p>
            <a:pPr algn="l">
              <a:lnSpc>
                <a:spcPts val="2548"/>
              </a:lnSpc>
            </a:pPr>
          </a:p>
          <a:p>
            <a:pPr algn="l">
              <a:lnSpc>
                <a:spcPts val="2548"/>
              </a:lnSpc>
            </a:pPr>
            <a:r>
              <a:rPr lang="en-US" sz="1800">
                <a:solidFill>
                  <a:srgbClr val="D9D4F0"/>
                </a:solidFill>
                <a:latin typeface="Courier New"/>
                <a:ea typeface="Courier New"/>
                <a:cs typeface="Courier New"/>
                <a:sym typeface="Courier New"/>
              </a:rPr>
              <a:t>    public async Task SaveAsync(object entity, CancellationToken cancellationToken = default)</a:t>
            </a:r>
          </a:p>
          <a:p>
            <a:pPr algn="l">
              <a:lnSpc>
                <a:spcPts val="2548"/>
              </a:lnSpc>
            </a:pPr>
            <a:r>
              <a:rPr lang="en-US" sz="1800">
                <a:solidFill>
                  <a:srgbClr val="D9D4F0"/>
                </a:solidFill>
                <a:latin typeface="Courier New"/>
                <a:ea typeface="Courier New"/>
                <a:cs typeface="Courier New"/>
                <a:sym typeface="Courier New"/>
              </a:rPr>
              <a:t>    {</a:t>
            </a:r>
          </a:p>
          <a:p>
            <a:pPr algn="l">
              <a:lnSpc>
                <a:spcPts val="2548"/>
              </a:lnSpc>
            </a:pPr>
            <a:r>
              <a:rPr lang="en-US" sz="1800">
                <a:solidFill>
                  <a:srgbClr val="D9D4F0"/>
                </a:solidFill>
                <a:latin typeface="Courier New"/>
                <a:ea typeface="Courier New"/>
                <a:cs typeface="Courier New"/>
                <a:sym typeface="Courier New"/>
              </a:rPr>
              <a:t>        var columns = EntityMapper.ToColumnDictionary(entity);        // Reflection (Section 5)</a:t>
            </a:r>
          </a:p>
          <a:p>
            <a:pPr algn="l">
              <a:lnSpc>
                <a:spcPts val="2548"/>
              </a:lnSpc>
            </a:pPr>
            <a:r>
              <a:rPr lang="en-US" sz="1800">
                <a:solidFill>
                  <a:srgbClr val="D9D4F0"/>
                </a:solidFill>
                <a:latin typeface="Courier New"/>
                <a:ea typeface="Courier New"/>
                <a:cs typeface="Courier New"/>
                <a:sym typeface="Courier New"/>
              </a:rPr>
              <a:t>        string json = JsonSerializer.Serialize(columns);              // Serialization (Section 2)</a:t>
            </a:r>
          </a:p>
          <a:p>
            <a:pPr algn="l">
              <a:lnSpc>
                <a:spcPts val="2548"/>
              </a:lnSpc>
            </a:pPr>
            <a:r>
              <a:rPr lang="en-US" sz="1800">
                <a:solidFill>
                  <a:srgbClr val="D9D4F0"/>
                </a:solidFill>
                <a:latin typeface="Courier New"/>
                <a:ea typeface="Courier New"/>
                <a:cs typeface="Courier New"/>
                <a:sym typeface="Courier New"/>
              </a:rPr>
              <a:t>        await _httpClient.PostAsync("/save",                          // Async I/O (Section 1)</a:t>
            </a:r>
          </a:p>
          <a:p>
            <a:pPr algn="l">
              <a:lnSpc>
                <a:spcPts val="2548"/>
              </a:lnSpc>
            </a:pPr>
            <a:r>
              <a:rPr lang="en-US" sz="1800">
                <a:solidFill>
                  <a:srgbClr val="D9D4F0"/>
                </a:solidFill>
                <a:latin typeface="Courier New"/>
                <a:ea typeface="Courier New"/>
                <a:cs typeface="Courier New"/>
                <a:sym typeface="Courier New"/>
              </a:rPr>
              <a:t>            new StringContent(json, Encoding.UTF8, "application/json"), cancellationToken);</a:t>
            </a:r>
          </a:p>
          <a:p>
            <a:pPr algn="l">
              <a:lnSpc>
                <a:spcPts val="2548"/>
              </a:lnSpc>
            </a:pPr>
            <a:r>
              <a:rPr lang="en-US" sz="1800">
                <a:solidFill>
                  <a:srgbClr val="D9D4F0"/>
                </a:solidFill>
                <a:latin typeface="Courier New"/>
                <a:ea typeface="Courier New"/>
                <a:cs typeface="Courier New"/>
                <a:sym typeface="Courier New"/>
              </a:rPr>
              <a:t>    }</a:t>
            </a:r>
          </a:p>
          <a:p>
            <a:pPr algn="l">
              <a:lnSpc>
                <a:spcPts val="2548"/>
              </a:lnSpc>
            </a:pPr>
            <a:r>
              <a:rPr lang="en-US" sz="1800">
                <a:solidFill>
                  <a:srgbClr val="D9D4F0"/>
                </a:solidFill>
                <a:latin typeface="Courier New"/>
                <a:ea typeface="Courier New"/>
                <a:cs typeface="Courier New"/>
                <a:sym typeface="Courier New"/>
              </a:rPr>
              <a:t>}</a:t>
            </a:r>
          </a:p>
          <a:p>
            <a:pPr algn="l">
              <a:lnSpc>
                <a:spcPts val="2548"/>
              </a:lnSpc>
            </a:pPr>
          </a:p>
          <a:p>
            <a:pPr algn="l">
              <a:lnSpc>
                <a:spcPts val="2548"/>
              </a:lnSpc>
            </a:pPr>
            <a:r>
              <a:rPr lang="en-US" sz="1800">
                <a:solidFill>
                  <a:srgbClr val="8B84AE"/>
                </a:solidFill>
                <a:latin typeface="Courier New"/>
                <a:ea typeface="Courier New"/>
                <a:cs typeface="Courier New"/>
                <a:sym typeface="Courier New"/>
              </a:rPr>
              <a:t>// ── Usage ─────────────────────────────────────────────────</a:t>
            </a:r>
          </a:p>
          <a:p>
            <a:pPr algn="l">
              <a:lnSpc>
                <a:spcPts val="2548"/>
              </a:lnSpc>
            </a:pPr>
            <a:r>
              <a:rPr lang="en-US" sz="1800">
                <a:solidFill>
                  <a:srgbClr val="D9D4F0"/>
                </a:solidFill>
                <a:latin typeface="Courier New"/>
                <a:ea typeface="Courier New"/>
                <a:cs typeface="Courier New"/>
                <a:sym typeface="Courier New"/>
              </a:rPr>
              <a:t>var repository = new RemoteRepository();</a:t>
            </a:r>
          </a:p>
          <a:p>
            <a:pPr algn="l">
              <a:lnSpc>
                <a:spcPts val="2548"/>
              </a:lnSpc>
            </a:pPr>
            <a:r>
              <a:rPr lang="en-US" sz="1800">
                <a:solidFill>
                  <a:srgbClr val="D9D4F0"/>
                </a:solidFill>
                <a:latin typeface="Courier New"/>
                <a:ea typeface="Courier New"/>
                <a:cs typeface="Courier New"/>
                <a:sym typeface="Courier New"/>
              </a:rPr>
              <a:t>var salah = new Player { Name = "Salah", JerseyNumber = 10, Goals = 32 };</a:t>
            </a:r>
          </a:p>
          <a:p>
            <a:pPr algn="l">
              <a:lnSpc>
                <a:spcPts val="2548"/>
              </a:lnSpc>
            </a:pPr>
            <a:r>
              <a:rPr lang="en-US" sz="1800">
                <a:solidFill>
                  <a:srgbClr val="D9D4F0"/>
                </a:solidFill>
                <a:latin typeface="Courier New"/>
                <a:ea typeface="Courier New"/>
                <a:cs typeface="Courier New"/>
                <a:sym typeface="Courier New"/>
              </a:rPr>
              <a:t>await repository.SaveAsync(salah);</a:t>
            </a:r>
          </a:p>
          <a:p>
            <a:pPr algn="l">
              <a:lnSpc>
                <a:spcPts val="2548"/>
              </a:lnSpc>
            </a:pPr>
            <a:r>
              <a:rPr lang="en-US" sz="1800">
                <a:solidFill>
                  <a:srgbClr val="8B84AE"/>
                </a:solidFill>
                <a:latin typeface="Courier New"/>
                <a:ea typeface="Courier New"/>
                <a:cs typeface="Courier New"/>
                <a:sym typeface="Courier New"/>
              </a:rPr>
              <a:t>// Sends: {"player_name":"Salah","jersey_no":10,"Goals":32}</a:t>
            </a:r>
          </a:p>
          <a:p>
            <a:pPr algn="l">
              <a:lnSpc>
                <a:spcPts val="2548"/>
              </a:lnSpc>
            </a:pPr>
            <a:r>
              <a:rPr lang="en-US" sz="1800">
                <a:solidFill>
                  <a:srgbClr val="8B84AE"/>
                </a:solidFill>
                <a:latin typeface="Courier New"/>
                <a:ea typeface="Courier New"/>
                <a:cs typeface="Courier New"/>
                <a:sym typeface="Courier New"/>
              </a:rPr>
              <a:t>// — WITHOUT SaveAsync ever knowing Player's shape at compile time.</a:t>
            </a:r>
          </a:p>
        </p:txBody>
      </p:sp>
      <p:grpSp>
        <p:nvGrpSpPr>
          <p:cNvPr name="Group 17" id="17"/>
          <p:cNvGrpSpPr/>
          <p:nvPr/>
        </p:nvGrpSpPr>
        <p:grpSpPr>
          <a:xfrm rot="0">
            <a:off x="17053103" y="9820656"/>
            <a:ext cx="685800" cy="411480"/>
            <a:chOff x="0" y="0"/>
            <a:chExt cx="914400" cy="548640"/>
          </a:xfrm>
        </p:grpSpPr>
        <p:sp>
          <p:nvSpPr>
            <p:cNvPr name="Freeform 18" id="1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9" id="1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53</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7. GLOSSARY</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Quick Reference — Async &amp; Serialization</a:t>
              </a:r>
            </a:p>
          </p:txBody>
        </p:sp>
      </p:grpSp>
      <p:graphicFrame>
        <p:nvGraphicFramePr>
          <p:cNvPr name="Table 8" id="8"/>
          <p:cNvGraphicFramePr>
            <a:graphicFrameLocks noGrp="true"/>
          </p:cNvGraphicFramePr>
          <p:nvPr/>
        </p:nvGraphicFramePr>
        <p:xfrm>
          <a:off x="960120" y="2606040"/>
          <a:ext cx="16344900" cy="7296150"/>
        </p:xfrm>
        <a:graphic>
          <a:graphicData uri="http://schemas.openxmlformats.org/drawingml/2006/table">
            <a:tbl>
              <a:tblPr/>
              <a:tblGrid>
                <a:gridCol w="4932241"/>
                <a:gridCol w="11412659"/>
              </a:tblGrid>
              <a:tr h="81911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Keyword / Concept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Meaning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async / await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Marks a state-machine method; suspends without blocking the thread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Task / Task&lt;T&gt;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An operation that completes in the future, optionally with a result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async void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No returned Task — exceptions can't be caught by the caller; avoid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CancellationToken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A cooperative signal an async operation can check to stop early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ConfigureAwait(false)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Skip resuming on the original synchronization context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Task.WhenAll / WhenAny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Await many tasks concurrently — all of them / the first one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19110">
                <a:tc>
                  <a:txBody>
                    <a:bodyPr anchor="t" rtlCol="false"/>
                    <a:lstStyle/>
                    <a:p>
                      <a:pPr algn="l">
                        <a:lnSpc>
                          <a:spcPts val="2520"/>
                        </a:lnSpc>
                        <a:defRPr/>
                      </a:pPr>
                      <a:r>
                        <a:rPr lang="en-US" sz="2100">
                          <a:solidFill>
                            <a:srgbClr val="201A3A"/>
                          </a:solidFill>
                          <a:latin typeface="Calibri (MS)"/>
                          <a:ea typeface="Calibri (MS)"/>
                          <a:cs typeface="Calibri (MS)"/>
                          <a:sym typeface="Calibri (MS)"/>
                        </a:rPr>
                        <a:t>JsonSerializer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System.Text.Json's API for converting objects to/from JSON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743267">
                <a:tc>
                  <a:txBody>
                    <a:bodyPr anchor="t" rtlCol="false"/>
                    <a:lstStyle/>
                    <a:p>
                      <a:pPr algn="l">
                        <a:lnSpc>
                          <a:spcPts val="2520"/>
                        </a:lnSpc>
                        <a:defRPr/>
                      </a:pPr>
                      <a:r>
                        <a:rPr lang="en-US" sz="2100">
                          <a:solidFill>
                            <a:srgbClr val="201A3A"/>
                          </a:solidFill>
                          <a:latin typeface="Calibri (MS)"/>
                          <a:ea typeface="Calibri (MS)"/>
                          <a:cs typeface="Calibri (MS)"/>
                          <a:sym typeface="Calibri (MS)"/>
                        </a:rPr>
                        <a:t>[JsonPropertyName] / [JsonIgnore]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Rename a JSON key / exclude a property entirely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17053103" y="9820656"/>
            <a:ext cx="685800" cy="411480"/>
            <a:chOff x="0" y="0"/>
            <a:chExt cx="914400" cy="548640"/>
          </a:xfrm>
        </p:grpSpPr>
        <p:sp>
          <p:nvSpPr>
            <p:cNvPr name="Freeform 10" id="1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1" id="1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54</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480060"/>
            <a:chOff x="0" y="0"/>
            <a:chExt cx="18288000" cy="640080"/>
          </a:xfrm>
        </p:grpSpPr>
        <p:sp>
          <p:nvSpPr>
            <p:cNvPr name="Freeform 3" id="3"/>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 id="4"/>
            <p:cNvSpPr txBox="true"/>
            <p:nvPr/>
          </p:nvSpPr>
          <p:spPr>
            <a:xfrm>
              <a:off x="0" y="-47625"/>
              <a:ext cx="18288000" cy="687705"/>
            </a:xfrm>
            <a:prstGeom prst="rect">
              <a:avLst/>
            </a:prstGeom>
          </p:spPr>
          <p:txBody>
            <a:bodyPr anchor="ctr" rtlCol="false" tIns="0" lIns="0" bIns="0" rIns="0"/>
            <a:lstStyle/>
            <a:p>
              <a:pPr algn="l">
                <a:lnSpc>
                  <a:spcPts val="2340"/>
                </a:lnSpc>
              </a:pPr>
              <a:r>
                <a:rPr lang="en-US" b="true" sz="1950" spc="300">
                  <a:solidFill>
                    <a:srgbClr val="512BD4"/>
                  </a:solidFill>
                  <a:latin typeface="Calibri (MS) Bold"/>
                  <a:ea typeface="Calibri (MS) Bold"/>
                  <a:cs typeface="Calibri (MS) Bold"/>
                  <a:sym typeface="Calibri (MS) Bold"/>
                </a:rPr>
                <a:t>7. GLOSSARY</a:t>
              </a:r>
            </a:p>
          </p:txBody>
        </p:sp>
      </p:grpSp>
      <p:grpSp>
        <p:nvGrpSpPr>
          <p:cNvPr name="Group 5" id="5"/>
          <p:cNvGrpSpPr/>
          <p:nvPr/>
        </p:nvGrpSpPr>
        <p:grpSpPr>
          <a:xfrm rot="0">
            <a:off x="960120" y="1028700"/>
            <a:ext cx="16459200" cy="1234440"/>
            <a:chOff x="0" y="0"/>
            <a:chExt cx="21945600" cy="1645920"/>
          </a:xfrm>
        </p:grpSpPr>
        <p:sp>
          <p:nvSpPr>
            <p:cNvPr name="Freeform 6" id="6"/>
            <p:cNvSpPr/>
            <p:nvPr/>
          </p:nvSpPr>
          <p:spPr>
            <a:xfrm flipH="false" flipV="false" rot="0">
              <a:off x="0" y="0"/>
              <a:ext cx="21945600" cy="1645920"/>
            </a:xfrm>
            <a:custGeom>
              <a:avLst/>
              <a:gdLst/>
              <a:ahLst/>
              <a:cxnLst/>
              <a:rect r="r" b="b" t="t" l="l"/>
              <a:pathLst>
                <a:path h="1645920" w="21945600">
                  <a:moveTo>
                    <a:pt x="0" y="0"/>
                  </a:moveTo>
                  <a:lnTo>
                    <a:pt x="21945600" y="0"/>
                  </a:lnTo>
                  <a:lnTo>
                    <a:pt x="21945600" y="1645920"/>
                  </a:lnTo>
                  <a:lnTo>
                    <a:pt x="0" y="1645920"/>
                  </a:lnTo>
                  <a:close/>
                </a:path>
              </a:pathLst>
            </a:custGeom>
            <a:blipFill>
              <a:blip r:embed="rId3">
                <a:alphaModFix amt="0"/>
              </a:blip>
              <a:stretch>
                <a:fillRect l="0" t="-209800" r="0" b="-209800"/>
              </a:stretch>
            </a:blipFill>
          </p:spPr>
        </p:sp>
        <p:sp>
          <p:nvSpPr>
            <p:cNvPr name="TextBox 7" id="7"/>
            <p:cNvSpPr txBox="true"/>
            <p:nvPr/>
          </p:nvSpPr>
          <p:spPr>
            <a:xfrm>
              <a:off x="0" y="-28575"/>
              <a:ext cx="21945600" cy="1674495"/>
            </a:xfrm>
            <a:prstGeom prst="rect">
              <a:avLst/>
            </a:prstGeom>
          </p:spPr>
          <p:txBody>
            <a:bodyPr anchor="ctr" rtlCol="false" tIns="0" lIns="0" bIns="0" rIns="0"/>
            <a:lstStyle/>
            <a:p>
              <a:pPr algn="l">
                <a:lnSpc>
                  <a:spcPts val="5400"/>
                </a:lnSpc>
              </a:pPr>
              <a:r>
                <a:rPr lang="en-US" sz="4500" b="true">
                  <a:solidFill>
                    <a:srgbClr val="201A3A"/>
                  </a:solidFill>
                  <a:latin typeface="Arial Bold"/>
                  <a:ea typeface="Arial Bold"/>
                  <a:cs typeface="Arial Bold"/>
                  <a:sym typeface="Arial Bold"/>
                </a:rPr>
                <a:t>Quick Reference — Attributes, Assemblies &amp; Reflection</a:t>
              </a:r>
            </a:p>
          </p:txBody>
        </p:sp>
      </p:grpSp>
      <p:graphicFrame>
        <p:nvGraphicFramePr>
          <p:cNvPr name="Table 8" id="8"/>
          <p:cNvGraphicFramePr>
            <a:graphicFrameLocks noGrp="true"/>
          </p:cNvGraphicFramePr>
          <p:nvPr/>
        </p:nvGraphicFramePr>
        <p:xfrm>
          <a:off x="960120" y="2606040"/>
          <a:ext cx="16344900" cy="7353300"/>
        </p:xfrm>
        <a:graphic>
          <a:graphicData uri="http://schemas.openxmlformats.org/drawingml/2006/table">
            <a:tbl>
              <a:tblPr/>
              <a:tblGrid>
                <a:gridCol w="4932241"/>
                <a:gridCol w="11412659"/>
              </a:tblGrid>
              <a:tr h="742826">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Keyword / Concept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Meaning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12BD4"/>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Attribute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Declarative [Bracket] metadata — inert until reflection reads 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[AttributeUsage]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Controls where an attribute may apply and whether it can repeat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Assembly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The compiled, deployable unit (.dll/.exe) containing IL + manifest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Platform-neutral intermediate code; JIT-compiled to native at run time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AssemblyLoadContext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Modern mechanism to load / unload assemblies in isolation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Type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The runtime representation of a type; reflection's entry point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typeof(X) / x.GetType()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Compile-time known type / runtime actual type of an instance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r h="742826">
                <a:tc>
                  <a:txBody>
                    <a:bodyPr anchor="t" rtlCol="false"/>
                    <a:lstStyle/>
                    <a:p>
                      <a:pPr algn="l">
                        <a:lnSpc>
                          <a:spcPts val="2520"/>
                        </a:lnSpc>
                        <a:defRPr/>
                      </a:pPr>
                      <a:r>
                        <a:rPr lang="en-US" sz="2100">
                          <a:solidFill>
                            <a:srgbClr val="201A3A"/>
                          </a:solidFill>
                          <a:latin typeface="Calibri (MS)"/>
                          <a:ea typeface="Calibri (MS)"/>
                          <a:cs typeface="Calibri (MS)"/>
                          <a:sym typeface="Calibri (MS)"/>
                        </a:rPr>
                        <a:t>PropertyInfo / MethodInfo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Reflection objects describing a specific member of a Type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667862">
                <a:tc>
                  <a:txBody>
                    <a:bodyPr anchor="t" rtlCol="false"/>
                    <a:lstStyle/>
                    <a:p>
                      <a:pPr algn="l">
                        <a:lnSpc>
                          <a:spcPts val="2520"/>
                        </a:lnSpc>
                        <a:defRPr/>
                      </a:pPr>
                      <a:r>
                        <a:rPr lang="en-US" sz="2100">
                          <a:solidFill>
                            <a:srgbClr val="201A3A"/>
                          </a:solidFill>
                          <a:latin typeface="Calibri (MS)"/>
                          <a:ea typeface="Calibri (MS)"/>
                          <a:cs typeface="Calibri (MS)"/>
                          <a:sym typeface="Calibri (MS)"/>
                        </a:rPr>
                        <a:t>Activator.CreateInstance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c>
                  <a:txBody>
                    <a:bodyPr anchor="t" rtlCol="false"/>
                    <a:lstStyle/>
                    <a:p>
                      <a:pPr algn="l">
                        <a:lnSpc>
                          <a:spcPts val="2520"/>
                        </a:lnSpc>
                        <a:defRPr/>
                      </a:pPr>
                      <a:r>
                        <a:rPr lang="en-US" sz="2100">
                          <a:solidFill>
                            <a:srgbClr val="201A3A"/>
                          </a:solidFill>
                          <a:latin typeface="Calibri (MS)"/>
                          <a:ea typeface="Calibri (MS)"/>
                          <a:cs typeface="Calibri (MS)"/>
                          <a:sym typeface="Calibri (MS)"/>
                        </a:rPr>
                        <a:t>Creates an instance dynamically from a Type, no compile-time new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4F1FC"/>
                    </a:solidFill>
                  </a:tcPr>
                </a:tc>
              </a:tr>
            </a:tbl>
          </a:graphicData>
        </a:graphic>
      </p:graphicFrame>
      <p:grpSp>
        <p:nvGrpSpPr>
          <p:cNvPr name="Group 9" id="9"/>
          <p:cNvGrpSpPr/>
          <p:nvPr/>
        </p:nvGrpSpPr>
        <p:grpSpPr>
          <a:xfrm rot="0">
            <a:off x="17053103" y="9820656"/>
            <a:ext cx="685800" cy="411480"/>
            <a:chOff x="0" y="0"/>
            <a:chExt cx="914400" cy="548640"/>
          </a:xfrm>
        </p:grpSpPr>
        <p:sp>
          <p:nvSpPr>
            <p:cNvPr name="Freeform 10" id="1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1" id="1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E668A"/>
                  </a:solidFill>
                  <a:latin typeface="Calibri (MS)"/>
                  <a:ea typeface="Calibri (MS)"/>
                  <a:cs typeface="Calibri (MS)"/>
                  <a:sym typeface="Calibri (MS)"/>
                </a:rPr>
                <a:t>55</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1B1140"/>
        </a:solidFill>
      </p:bgPr>
    </p:bg>
    <p:spTree>
      <p:nvGrpSpPr>
        <p:cNvPr id="1" name=""/>
        <p:cNvGrpSpPr/>
        <p:nvPr/>
      </p:nvGrpSpPr>
      <p:grpSpPr>
        <a:xfrm>
          <a:off x="0" y="0"/>
          <a:ext cx="0" cy="0"/>
          <a:chOff x="0" y="0"/>
          <a:chExt cx="0" cy="0"/>
        </a:xfrm>
      </p:grpSpPr>
      <p:grpSp>
        <p:nvGrpSpPr>
          <p:cNvPr name="Group 2" id="2"/>
          <p:cNvGrpSpPr/>
          <p:nvPr/>
        </p:nvGrpSpPr>
        <p:grpSpPr>
          <a:xfrm rot="0">
            <a:off x="-2743200" y="-274320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512BD4">
                <a:alpha val="20000"/>
              </a:srgbClr>
            </a:solidFill>
          </p:spPr>
        </p:sp>
      </p:grpSp>
      <p:grpSp>
        <p:nvGrpSpPr>
          <p:cNvPr name="Group 4" id="4"/>
          <p:cNvGrpSpPr/>
          <p:nvPr/>
        </p:nvGrpSpPr>
        <p:grpSpPr>
          <a:xfrm rot="0">
            <a:off x="14401800" y="5486400"/>
            <a:ext cx="6858000" cy="6858000"/>
            <a:chOff x="0" y="0"/>
            <a:chExt cx="9144000" cy="9144000"/>
          </a:xfrm>
        </p:grpSpPr>
        <p:sp>
          <p:nvSpPr>
            <p:cNvPr name="Freeform 5" id="5"/>
            <p:cNvSpPr/>
            <p:nvPr/>
          </p:nvSpPr>
          <p:spPr>
            <a:xfrm flipH="false" flipV="false" rot="0">
              <a:off x="0" y="0"/>
              <a:ext cx="9144000" cy="9144000"/>
            </a:xfrm>
            <a:custGeom>
              <a:avLst/>
              <a:gdLst/>
              <a:ahLst/>
              <a:cxnLst/>
              <a:rect r="r" b="b" t="t" l="l"/>
              <a:pathLst>
                <a:path h="9144000" w="9144000">
                  <a:moveTo>
                    <a:pt x="0" y="4572000"/>
                  </a:moveTo>
                  <a:cubicBezTo>
                    <a:pt x="0" y="2046986"/>
                    <a:pt x="2046986" y="0"/>
                    <a:pt x="4572000" y="0"/>
                  </a:cubicBezTo>
                  <a:cubicBezTo>
                    <a:pt x="7097014" y="0"/>
                    <a:pt x="9144000" y="2046986"/>
                    <a:pt x="9144000" y="4572000"/>
                  </a:cubicBezTo>
                  <a:cubicBezTo>
                    <a:pt x="9144000" y="7097014"/>
                    <a:pt x="7097014" y="9144000"/>
                    <a:pt x="4572000" y="9144000"/>
                  </a:cubicBezTo>
                  <a:cubicBezTo>
                    <a:pt x="2046986" y="9144000"/>
                    <a:pt x="0" y="7097014"/>
                    <a:pt x="0" y="4572000"/>
                  </a:cubicBezTo>
                  <a:close/>
                </a:path>
              </a:pathLst>
            </a:custGeom>
            <a:solidFill>
              <a:srgbClr val="22D3EE">
                <a:alpha val="1961"/>
              </a:srgbClr>
            </a:solidFill>
          </p:spPr>
        </p:sp>
      </p:grpSp>
      <p:grpSp>
        <p:nvGrpSpPr>
          <p:cNvPr name="Group 6" id="6"/>
          <p:cNvGrpSpPr/>
          <p:nvPr/>
        </p:nvGrpSpPr>
        <p:grpSpPr>
          <a:xfrm rot="0">
            <a:off x="1234440" y="3703320"/>
            <a:ext cx="13716000" cy="1508760"/>
            <a:chOff x="0" y="0"/>
            <a:chExt cx="18288000" cy="2011680"/>
          </a:xfrm>
        </p:grpSpPr>
        <p:sp>
          <p:nvSpPr>
            <p:cNvPr name="Freeform 7" id="7"/>
            <p:cNvSpPr/>
            <p:nvPr/>
          </p:nvSpPr>
          <p:spPr>
            <a:xfrm flipH="false" flipV="false" rot="0">
              <a:off x="0" y="0"/>
              <a:ext cx="18288000" cy="2011680"/>
            </a:xfrm>
            <a:custGeom>
              <a:avLst/>
              <a:gdLst/>
              <a:ahLst/>
              <a:cxnLst/>
              <a:rect r="r" b="b" t="t" l="l"/>
              <a:pathLst>
                <a:path h="2011680" w="18288000">
                  <a:moveTo>
                    <a:pt x="0" y="0"/>
                  </a:moveTo>
                  <a:lnTo>
                    <a:pt x="18288000" y="0"/>
                  </a:lnTo>
                  <a:lnTo>
                    <a:pt x="18288000" y="2011680"/>
                  </a:lnTo>
                  <a:lnTo>
                    <a:pt x="0" y="2011680"/>
                  </a:lnTo>
                  <a:close/>
                </a:path>
              </a:pathLst>
            </a:custGeom>
            <a:blipFill>
              <a:blip r:embed="rId3">
                <a:alphaModFix amt="0"/>
              </a:blip>
              <a:stretch>
                <a:fillRect l="0" t="-127136" r="0" b="-127136"/>
              </a:stretch>
            </a:blipFill>
          </p:spPr>
        </p:sp>
        <p:sp>
          <p:nvSpPr>
            <p:cNvPr name="TextBox 8" id="8"/>
            <p:cNvSpPr txBox="true"/>
            <p:nvPr/>
          </p:nvSpPr>
          <p:spPr>
            <a:xfrm>
              <a:off x="0" y="-38100"/>
              <a:ext cx="18288000" cy="2049780"/>
            </a:xfrm>
            <a:prstGeom prst="rect">
              <a:avLst/>
            </a:prstGeom>
          </p:spPr>
          <p:txBody>
            <a:bodyPr anchor="ctr" rtlCol="false" tIns="0" lIns="0" bIns="0" rIns="0"/>
            <a:lstStyle/>
            <a:p>
              <a:pPr algn="l">
                <a:lnSpc>
                  <a:spcPts val="7920"/>
                </a:lnSpc>
              </a:pPr>
              <a:r>
                <a:rPr lang="en-US" sz="6600" b="true">
                  <a:solidFill>
                    <a:srgbClr val="FFFFFF"/>
                  </a:solidFill>
                  <a:latin typeface="Arial Bold"/>
                  <a:ea typeface="Arial Bold"/>
                  <a:cs typeface="Arial Bold"/>
                  <a:sym typeface="Arial Bold"/>
                </a:rPr>
                <a:t>Questions?</a:t>
              </a:r>
            </a:p>
          </p:txBody>
        </p:sp>
      </p:grpSp>
      <p:grpSp>
        <p:nvGrpSpPr>
          <p:cNvPr name="Group 9" id="9"/>
          <p:cNvGrpSpPr/>
          <p:nvPr/>
        </p:nvGrpSpPr>
        <p:grpSpPr>
          <a:xfrm rot="0">
            <a:off x="1234440" y="5143500"/>
            <a:ext cx="14401800" cy="685800"/>
            <a:chOff x="0" y="0"/>
            <a:chExt cx="19202400" cy="914400"/>
          </a:xfrm>
        </p:grpSpPr>
        <p:sp>
          <p:nvSpPr>
            <p:cNvPr name="Freeform 10" id="10"/>
            <p:cNvSpPr/>
            <p:nvPr/>
          </p:nvSpPr>
          <p:spPr>
            <a:xfrm flipH="false" flipV="false" rot="0">
              <a:off x="0" y="0"/>
              <a:ext cx="19202400" cy="914400"/>
            </a:xfrm>
            <a:custGeom>
              <a:avLst/>
              <a:gdLst/>
              <a:ahLst/>
              <a:cxnLst/>
              <a:rect r="r" b="b" t="t" l="l"/>
              <a:pathLst>
                <a:path h="914400" w="19202400">
                  <a:moveTo>
                    <a:pt x="0" y="0"/>
                  </a:moveTo>
                  <a:lnTo>
                    <a:pt x="19202400" y="0"/>
                  </a:lnTo>
                  <a:lnTo>
                    <a:pt x="19202400" y="914400"/>
                  </a:lnTo>
                  <a:lnTo>
                    <a:pt x="0" y="914400"/>
                  </a:lnTo>
                  <a:close/>
                </a:path>
              </a:pathLst>
            </a:custGeom>
            <a:blipFill>
              <a:blip r:embed="rId3">
                <a:alphaModFix amt="0"/>
              </a:blip>
              <a:stretch>
                <a:fillRect l="0" t="-359185" r="0" b="-359185"/>
              </a:stretch>
            </a:blipFill>
          </p:spPr>
        </p:sp>
        <p:sp>
          <p:nvSpPr>
            <p:cNvPr name="TextBox 11" id="11"/>
            <p:cNvSpPr txBox="true"/>
            <p:nvPr/>
          </p:nvSpPr>
          <p:spPr>
            <a:xfrm>
              <a:off x="0" y="-57150"/>
              <a:ext cx="19202400" cy="971550"/>
            </a:xfrm>
            <a:prstGeom prst="rect">
              <a:avLst/>
            </a:prstGeom>
          </p:spPr>
          <p:txBody>
            <a:bodyPr anchor="ctr" rtlCol="false" tIns="0" lIns="0" bIns="0" rIns="0"/>
            <a:lstStyle/>
            <a:p>
              <a:pPr algn="l">
                <a:lnSpc>
                  <a:spcPts val="2700"/>
                </a:lnSpc>
              </a:pPr>
              <a:r>
                <a:rPr lang="en-US" sz="2250">
                  <a:solidFill>
                    <a:srgbClr val="C9BFEF"/>
                  </a:solidFill>
                  <a:latin typeface="Calibri (MS)"/>
                  <a:ea typeface="Calibri (MS)"/>
                  <a:cs typeface="Calibri (MS)"/>
                  <a:sym typeface="Calibri (MS)"/>
                </a:rPr>
                <a:t>Async · Serialization · Attributes · Assemblies · Reflection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DAHPpXg5e1E</dc:identifier>
  <dcterms:modified xsi:type="dcterms:W3CDTF">2011-08-01T06:04:30Z</dcterms:modified>
  <cp:revision>1</cp:revision>
  <dc:title>Advanced C# - Async, Serialization, Attributes, Assemblies &amp; Reflection.pptx</dc:title>
</cp:coreProperties>
</file>