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1" r:id="rId2"/>
    <p:sldId id="292" r:id="rId3"/>
    <p:sldId id="293" r:id="rId4"/>
    <p:sldId id="294" r:id="rId5"/>
    <p:sldId id="256" r:id="rId6"/>
    <p:sldId id="302" r:id="rId7"/>
    <p:sldId id="257" r:id="rId8"/>
    <p:sldId id="258" r:id="rId9"/>
    <p:sldId id="303" r:id="rId10"/>
    <p:sldId id="259" r:id="rId11"/>
    <p:sldId id="297" r:id="rId12"/>
    <p:sldId id="260" r:id="rId13"/>
    <p:sldId id="295" r:id="rId14"/>
    <p:sldId id="298" r:id="rId15"/>
    <p:sldId id="300" r:id="rId16"/>
    <p:sldId id="299" r:id="rId17"/>
    <p:sldId id="304" r:id="rId18"/>
    <p:sldId id="301" r:id="rId19"/>
    <p:sldId id="305" r:id="rId20"/>
    <p:sldId id="308" r:id="rId21"/>
    <p:sldId id="306" r:id="rId22"/>
    <p:sldId id="307" r:id="rId23"/>
    <p:sldId id="314" r:id="rId24"/>
    <p:sldId id="313" r:id="rId25"/>
    <p:sldId id="309" r:id="rId26"/>
    <p:sldId id="310" r:id="rId27"/>
    <p:sldId id="315" r:id="rId28"/>
    <p:sldId id="316" r:id="rId29"/>
    <p:sldId id="311" r:id="rId30"/>
    <p:sldId id="312" r:id="rId31"/>
    <p:sldId id="320" r:id="rId32"/>
    <p:sldId id="319" r:id="rId33"/>
    <p:sldId id="317" r:id="rId34"/>
    <p:sldId id="318" r:id="rId35"/>
    <p:sldId id="321" r:id="rId36"/>
    <p:sldId id="324" r:id="rId37"/>
    <p:sldId id="322" r:id="rId38"/>
    <p:sldId id="323" r:id="rId39"/>
    <p:sldId id="325" r:id="rId40"/>
    <p:sldId id="329" r:id="rId41"/>
    <p:sldId id="328" r:id="rId42"/>
    <p:sldId id="326" r:id="rId43"/>
    <p:sldId id="327" r:id="rId44"/>
    <p:sldId id="330" r:id="rId4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7"/>
            <a:ext cx="7772400" cy="1470025"/>
          </a:xfrm>
        </p:spPr>
        <p:txBody>
          <a:bodyPr/>
          <a:lstStyle/>
          <a:p>
            <a:r>
              <a:rPr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Structural Design Patterns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9466A-81D1-D135-FB94-3A58CABE4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1ACA0-35C0-10AD-BF97-D9D7FF6DE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Structural Patterns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42349-27EE-478E-1DF6-522F6DAE6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82763"/>
            <a:ext cx="8229600" cy="3136489"/>
          </a:xfrm>
        </p:spPr>
        <p:txBody>
          <a:bodyPr>
            <a:normAutofit/>
          </a:bodyPr>
          <a:lstStyle/>
          <a:p>
            <a:r>
              <a:rPr lang="en-US" dirty="0"/>
              <a:t>Explain How to build larger structure by combining  classes and objects.</a:t>
            </a:r>
          </a:p>
          <a:p>
            <a:r>
              <a:rPr lang="en-US" dirty="0"/>
              <a:t>Focus on the relationships between components, not the behavior inside him</a:t>
            </a:r>
          </a:p>
          <a:p>
            <a:r>
              <a:rPr lang="en-US" dirty="0"/>
              <a:t>Encourage </a:t>
            </a:r>
            <a:r>
              <a:rPr lang="en-US" sz="2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Composition over Inheritance</a:t>
            </a:r>
            <a:endParaRPr lang="en-US" sz="2400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036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E32D2-9BF7-E859-B89D-571789B20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C55CD-5BB1-1212-0BCC-0601FDB41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Patterns Pros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FC0F5-FEFE-A2A3-608B-5A248B5D4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Help simplify complex class and object structures.</a:t>
            </a:r>
          </a:p>
          <a:p>
            <a:r>
              <a:rPr lang="en-US" dirty="0"/>
              <a:t>Make code more reusable, flexible, and easier to maintain.</a:t>
            </a:r>
          </a:p>
          <a:p>
            <a:r>
              <a:rPr lang="en-US" dirty="0"/>
              <a:t>Support composition over inheritance to reduce tight coupling.</a:t>
            </a:r>
          </a:p>
          <a:p>
            <a:r>
              <a:rPr lang="en-US" dirty="0"/>
              <a:t>Decouple implementation from interface for better modularity.</a:t>
            </a:r>
          </a:p>
          <a:p>
            <a:r>
              <a:rPr lang="en-US" dirty="0"/>
              <a:t>Make large systems easier to understand and extend.</a:t>
            </a:r>
          </a:p>
        </p:txBody>
      </p:sp>
    </p:spTree>
    <p:extLst>
      <p:ext uri="{BB962C8B-B14F-4D97-AF65-F5344CB8AC3E}">
        <p14:creationId xmlns:p14="http://schemas.microsoft.com/office/powerpoint/2010/main" val="274166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1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charRg st="51" end="1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10" end="1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charRg st="110" end="1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73" end="2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charRg st="173" end="2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35" end="2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charRg st="235" end="28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3BF8A-720E-5162-EA64-34F3888A6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E82B2-A024-E74A-DED4-8D37886E2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Patterns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6E602-45FF-88B4-ED71-4464706C4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Adapter</a:t>
            </a:r>
          </a:p>
          <a:p>
            <a:r>
              <a:rPr lang="en-US" b="1" dirty="0"/>
              <a:t>Decorator</a:t>
            </a:r>
          </a:p>
          <a:p>
            <a:r>
              <a:rPr lang="en-US" b="1" dirty="0"/>
              <a:t>Composite</a:t>
            </a:r>
          </a:p>
          <a:p>
            <a:r>
              <a:rPr lang="en-US" b="1" dirty="0"/>
              <a:t>Façade</a:t>
            </a:r>
          </a:p>
          <a:p>
            <a:r>
              <a:rPr lang="en-US" b="1" dirty="0"/>
              <a:t>Proxy</a:t>
            </a:r>
          </a:p>
          <a:p>
            <a:r>
              <a:rPr lang="en-US" b="1" dirty="0"/>
              <a:t>Bridge</a:t>
            </a:r>
          </a:p>
          <a:p>
            <a:r>
              <a:rPr lang="en-US" b="1" dirty="0"/>
              <a:t>Flyweight</a:t>
            </a:r>
          </a:p>
        </p:txBody>
      </p:sp>
    </p:spTree>
    <p:extLst>
      <p:ext uri="{BB962C8B-B14F-4D97-AF65-F5344CB8AC3E}">
        <p14:creationId xmlns:p14="http://schemas.microsoft.com/office/powerpoint/2010/main" val="812241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7"/>
            <a:ext cx="7772400" cy="1470025"/>
          </a:xfrm>
        </p:spPr>
        <p:txBody>
          <a:bodyPr/>
          <a:lstStyle/>
          <a:p>
            <a:r>
              <a:rPr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Adapter Pattern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60469-547B-793A-C1E5-A901C3A19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4ABAE86-2F57-31EF-3896-AD54B1209509}"/>
              </a:ext>
            </a:extLst>
          </p:cNvPr>
          <p:cNvSpPr/>
          <p:nvPr/>
        </p:nvSpPr>
        <p:spPr>
          <a:xfrm>
            <a:off x="304800" y="2239297"/>
            <a:ext cx="1986116" cy="118970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Charger With 2 pins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A2A680F-1849-1A8A-6234-A84604D1871D}"/>
              </a:ext>
            </a:extLst>
          </p:cNvPr>
          <p:cNvSpPr/>
          <p:nvPr/>
        </p:nvSpPr>
        <p:spPr>
          <a:xfrm>
            <a:off x="6272981" y="2472812"/>
            <a:ext cx="1897626" cy="403122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Socket with 3 holes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2BF90FE-00CD-2F88-E59A-42C5B95152DB}"/>
              </a:ext>
            </a:extLst>
          </p:cNvPr>
          <p:cNvCxnSpPr>
            <a:stCxn id="6" idx="3"/>
            <a:endCxn id="9" idx="1"/>
          </p:cNvCxnSpPr>
          <p:nvPr/>
        </p:nvCxnSpPr>
        <p:spPr>
          <a:xfrm>
            <a:off x="2290916" y="2834149"/>
            <a:ext cx="3982065" cy="16542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91A467B-8081-747D-7309-ECD260BC8B18}"/>
              </a:ext>
            </a:extLst>
          </p:cNvPr>
          <p:cNvSpPr txBox="1"/>
          <p:nvPr/>
        </p:nvSpPr>
        <p:spPr>
          <a:xfrm>
            <a:off x="2290916" y="2472812"/>
            <a:ext cx="1084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love you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CE5A62-E5C1-5434-098D-2623DF5FA029}"/>
              </a:ext>
            </a:extLst>
          </p:cNvPr>
          <p:cNvSpPr txBox="1"/>
          <p:nvPr/>
        </p:nvSpPr>
        <p:spPr>
          <a:xfrm>
            <a:off x="4281948" y="4603644"/>
            <a:ext cx="20612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 are not my type</a:t>
            </a:r>
          </a:p>
        </p:txBody>
      </p:sp>
      <p:pic>
        <p:nvPicPr>
          <p:cNvPr id="18" name="Graphic 17" descr="Broken Heart with solid fill">
            <a:extLst>
              <a:ext uri="{FF2B5EF4-FFF2-40B4-BE49-F238E27FC236}">
                <a16:creationId xmlns:a16="http://schemas.microsoft.com/office/drawing/2014/main" id="{C8127639-1A8B-6022-5EB1-90A265EBD4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72660" y="3512263"/>
            <a:ext cx="1767659" cy="176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841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Adapter: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Two classes </a:t>
            </a:r>
            <a:r>
              <a:rPr lang="en-US" b="1" dirty="0"/>
              <a:t>cannot work together</a:t>
            </a:r>
            <a:r>
              <a:rPr lang="en-US" dirty="0"/>
              <a:t> because their interfaces are incompatible.</a:t>
            </a:r>
          </a:p>
          <a:p>
            <a:r>
              <a:rPr lang="en-US" dirty="0"/>
              <a:t>You need to use an </a:t>
            </a:r>
            <a:r>
              <a:rPr lang="en-US" b="1" dirty="0"/>
              <a:t>existing class</a:t>
            </a:r>
            <a:r>
              <a:rPr lang="en-US" dirty="0"/>
              <a:t> (legacy code, library, API) but </a:t>
            </a:r>
            <a:r>
              <a:rPr lang="en-US" b="1" dirty="0"/>
              <a:t>cannot change its interface</a:t>
            </a:r>
            <a:r>
              <a:rPr lang="en-US" dirty="0"/>
              <a:t>.</a:t>
            </a:r>
          </a:p>
          <a:p>
            <a:r>
              <a:rPr lang="en-US" dirty="0"/>
              <a:t>The client expects a </a:t>
            </a:r>
            <a:r>
              <a:rPr lang="en-US" b="1" dirty="0"/>
              <a:t>different method format</a:t>
            </a:r>
            <a:r>
              <a:rPr lang="en-US" dirty="0"/>
              <a:t>, naming, or structure.</a:t>
            </a:r>
          </a:p>
          <a:p>
            <a:r>
              <a:rPr lang="en-US" dirty="0"/>
              <a:t>Changing either side would cause </a:t>
            </a:r>
            <a:r>
              <a:rPr lang="en-US" b="1" dirty="0"/>
              <a:t>code breakage</a:t>
            </a:r>
            <a:r>
              <a:rPr lang="en-US" dirty="0"/>
              <a:t>, duplication, or violate the </a:t>
            </a:r>
            <a:r>
              <a:rPr lang="en-US" b="1" dirty="0"/>
              <a:t>Open–Closed Principle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Adapter: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Creates a </a:t>
            </a:r>
            <a:r>
              <a:rPr lang="en-US" b="1" dirty="0"/>
              <a:t>middle class</a:t>
            </a:r>
            <a:r>
              <a:rPr lang="en-US" dirty="0"/>
              <a:t> (the Adapter) that sits between the client and the existing class.</a:t>
            </a:r>
          </a:p>
          <a:p>
            <a:r>
              <a:rPr lang="en-US" dirty="0"/>
              <a:t>The Adapter </a:t>
            </a:r>
            <a:r>
              <a:rPr lang="en-US" b="1" dirty="0"/>
              <a:t>implements the interface the client expects</a:t>
            </a:r>
            <a:r>
              <a:rPr lang="en-US" dirty="0"/>
              <a:t>.</a:t>
            </a:r>
          </a:p>
          <a:p>
            <a:r>
              <a:rPr lang="en-US" dirty="0"/>
              <a:t>Inside, the Adapter </a:t>
            </a:r>
            <a:r>
              <a:rPr lang="en-US" b="1" dirty="0"/>
              <a:t>translates</a:t>
            </a:r>
            <a:r>
              <a:rPr lang="en-US" dirty="0"/>
              <a:t> the client’s calls into the format the existing class understands.</a:t>
            </a:r>
          </a:p>
          <a:p>
            <a:r>
              <a:rPr lang="en-US" dirty="0"/>
              <a:t>The client interacts </a:t>
            </a:r>
            <a:r>
              <a:rPr lang="en-US" b="1" dirty="0"/>
              <a:t>only with the Adapter</a:t>
            </a:r>
          </a:p>
          <a:p>
            <a:r>
              <a:rPr lang="en-US" dirty="0"/>
              <a:t>No changes are required in either the client or the existing class → </a:t>
            </a:r>
            <a:r>
              <a:rPr lang="en-US" b="1" dirty="0"/>
              <a:t>loose coupling</a:t>
            </a:r>
            <a:r>
              <a:rPr lang="en-US" dirty="0"/>
              <a:t>.</a:t>
            </a:r>
          </a:p>
          <a:p>
            <a:r>
              <a:rPr lang="en-US" dirty="0"/>
              <a:t>Allows integration of </a:t>
            </a:r>
            <a:r>
              <a:rPr lang="en-US" b="1" dirty="0"/>
              <a:t>legacy code, third-party libraries, or incompatible modules</a:t>
            </a:r>
            <a:r>
              <a:rPr lang="en-US" dirty="0"/>
              <a:t> smoothly.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9893-1EDA-C828-0307-84C86CAD5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888B6E4-E893-C994-FCB4-6129CDEB08CD}"/>
              </a:ext>
            </a:extLst>
          </p:cNvPr>
          <p:cNvSpPr/>
          <p:nvPr/>
        </p:nvSpPr>
        <p:spPr>
          <a:xfrm>
            <a:off x="304800" y="2239297"/>
            <a:ext cx="1986116" cy="118970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Charger With 2 pins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FC4D3D8-E156-72D8-33C1-C872D77CC2AD}"/>
              </a:ext>
            </a:extLst>
          </p:cNvPr>
          <p:cNvSpPr/>
          <p:nvPr/>
        </p:nvSpPr>
        <p:spPr>
          <a:xfrm>
            <a:off x="6853086" y="2089354"/>
            <a:ext cx="1897626" cy="403122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Socket with 3 holes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7D3E2D-BD2A-8554-BBB5-2FE32EA81010}"/>
              </a:ext>
            </a:extLst>
          </p:cNvPr>
          <p:cNvSpPr txBox="1"/>
          <p:nvPr/>
        </p:nvSpPr>
        <p:spPr>
          <a:xfrm>
            <a:off x="2290916" y="2758245"/>
            <a:ext cx="1084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love you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3B5C18A-677A-FB00-9CE2-5EC8048A87E8}"/>
              </a:ext>
            </a:extLst>
          </p:cNvPr>
          <p:cNvSpPr txBox="1"/>
          <p:nvPr/>
        </p:nvSpPr>
        <p:spPr>
          <a:xfrm>
            <a:off x="4572000" y="4187919"/>
            <a:ext cx="2336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You are my type, </a:t>
            </a:r>
            <a:r>
              <a:rPr lang="en-US" dirty="0" err="1"/>
              <a:t>moah</a:t>
            </a:r>
            <a:endParaRPr lang="en-US" dirty="0"/>
          </a:p>
        </p:txBody>
      </p:sp>
      <p:pic>
        <p:nvPicPr>
          <p:cNvPr id="18" name="Graphic 17" descr="In Love Face with Solid Fill">
            <a:extLst>
              <a:ext uri="{FF2B5EF4-FFF2-40B4-BE49-F238E27FC236}">
                <a16:creationId xmlns:a16="http://schemas.microsoft.com/office/drawing/2014/main" id="{87B7C496-9036-83D4-5A19-65CF9DE0E0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49285" y="4015857"/>
            <a:ext cx="1767659" cy="1767659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52A8FEC-E9A7-5C52-E74F-3F2767ECEED5}"/>
              </a:ext>
            </a:extLst>
          </p:cNvPr>
          <p:cNvSpPr/>
          <p:nvPr/>
        </p:nvSpPr>
        <p:spPr>
          <a:xfrm>
            <a:off x="3871061" y="464885"/>
            <a:ext cx="1986116" cy="118970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/>
              <a:t>Adapter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2A0EA20-A340-8284-54A7-42C7966C9512}"/>
              </a:ext>
            </a:extLst>
          </p:cNvPr>
          <p:cNvCxnSpPr>
            <a:stCxn id="6" idx="3"/>
            <a:endCxn id="3" idx="2"/>
          </p:cNvCxnSpPr>
          <p:nvPr/>
        </p:nvCxnSpPr>
        <p:spPr>
          <a:xfrm flipV="1">
            <a:off x="2290916" y="1654588"/>
            <a:ext cx="2573203" cy="11795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4721C6C-A268-693D-0BBB-E186E1013AB3}"/>
              </a:ext>
            </a:extLst>
          </p:cNvPr>
          <p:cNvSpPr txBox="1"/>
          <p:nvPr/>
        </p:nvSpPr>
        <p:spPr>
          <a:xfrm>
            <a:off x="1758508" y="1568542"/>
            <a:ext cx="2401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 me handle it, Stupid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ABC9736-78CF-CC97-B016-27A5AAE15E5A}"/>
              </a:ext>
            </a:extLst>
          </p:cNvPr>
          <p:cNvCxnSpPr>
            <a:stCxn id="3" idx="2"/>
            <a:endCxn id="9" idx="1"/>
          </p:cNvCxnSpPr>
          <p:nvPr/>
        </p:nvCxnSpPr>
        <p:spPr>
          <a:xfrm>
            <a:off x="4864119" y="1654588"/>
            <a:ext cx="1988967" cy="2450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5E3C797-BB66-9C93-15BA-2C8A929D1ABF}"/>
              </a:ext>
            </a:extLst>
          </p:cNvPr>
          <p:cNvSpPr txBox="1"/>
          <p:nvPr/>
        </p:nvSpPr>
        <p:spPr>
          <a:xfrm>
            <a:off x="5186516" y="1700050"/>
            <a:ext cx="1011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like you</a:t>
            </a:r>
          </a:p>
        </p:txBody>
      </p:sp>
    </p:spTree>
    <p:extLst>
      <p:ext uri="{BB962C8B-B14F-4D97-AF65-F5344CB8AC3E}">
        <p14:creationId xmlns:p14="http://schemas.microsoft.com/office/powerpoint/2010/main" val="4088755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3" grpId="0" animBg="1"/>
      <p:bldP spid="10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Adapter:</a:t>
            </a:r>
            <a:r>
              <a:rPr lang="en-US" dirty="0"/>
              <a:t> Class Diagram</a:t>
            </a:r>
            <a:endParaRPr dirty="0"/>
          </a:p>
        </p:txBody>
      </p:sp>
      <p:sp>
        <p:nvSpPr>
          <p:cNvPr id="5" name="AutoShape 4" descr="A Complete Guide To Design Patterns: The Adapter Design Pattern – Baraa ...">
            <a:extLst>
              <a:ext uri="{FF2B5EF4-FFF2-40B4-BE49-F238E27FC236}">
                <a16:creationId xmlns:a16="http://schemas.microsoft.com/office/drawing/2014/main" id="{B422BD6A-6BAB-05B0-C260-D9E21C9488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3276599"/>
            <a:ext cx="3180735" cy="3180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F03AB27D-B7B6-7CA3-E53D-D957F16F4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482" y="1830016"/>
            <a:ext cx="6835334" cy="42107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AF8BC-631A-4C6F-DFDB-E3B2F0B90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0D33C-CB23-9FBE-185A-52DD0A1C7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693987"/>
            <a:ext cx="7772400" cy="1470025"/>
          </a:xfrm>
        </p:spPr>
        <p:txBody>
          <a:bodyPr/>
          <a:lstStyle/>
          <a:p>
            <a:r>
              <a:rPr lang="en-US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Hands On</a:t>
            </a:r>
            <a:endParaRPr b="1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4378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Adapter: </a:t>
            </a:r>
            <a:r>
              <a:rPr lang="en-US" dirty="0"/>
              <a:t>Pros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Reuses existing code</a:t>
            </a:r>
            <a:r>
              <a:rPr lang="en-US" dirty="0"/>
              <a:t> without modifying it.</a:t>
            </a:r>
          </a:p>
          <a:p>
            <a:r>
              <a:rPr lang="en-US" dirty="0"/>
              <a:t>Makes incompatible classes </a:t>
            </a:r>
            <a:r>
              <a:rPr lang="en-US" b="1" dirty="0"/>
              <a:t>work together seamlessly</a:t>
            </a:r>
            <a:r>
              <a:rPr lang="en-US" dirty="0"/>
              <a:t>.</a:t>
            </a:r>
          </a:p>
          <a:p>
            <a:r>
              <a:rPr lang="en-US" dirty="0"/>
              <a:t>Supports the </a:t>
            </a:r>
            <a:r>
              <a:rPr lang="en-US" b="1" dirty="0"/>
              <a:t>Open–Closed Principle</a:t>
            </a:r>
            <a:r>
              <a:rPr lang="en-US" dirty="0"/>
              <a:t> (add new adapters without changing existing classes).</a:t>
            </a:r>
          </a:p>
          <a:p>
            <a:r>
              <a:rPr lang="en-US" b="1" dirty="0"/>
              <a:t>Improves flexibility</a:t>
            </a:r>
            <a:r>
              <a:rPr lang="en-US" dirty="0"/>
              <a:t> by allowing multiple adapters for different interfaces.</a:t>
            </a:r>
          </a:p>
          <a:p>
            <a:r>
              <a:rPr lang="en-US" dirty="0"/>
              <a:t>Simplifies integration of </a:t>
            </a:r>
            <a:r>
              <a:rPr lang="en-US" b="1" dirty="0"/>
              <a:t>legacy systems</a:t>
            </a:r>
            <a:r>
              <a:rPr lang="en-US" dirty="0"/>
              <a:t> and </a:t>
            </a:r>
            <a:r>
              <a:rPr lang="en-US" b="1" dirty="0"/>
              <a:t>third-party libraries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487DC-1BA5-AC5A-BA1E-368CCAECB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5FC9B-0CCC-F458-FA95-53E609E84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Adapter: </a:t>
            </a:r>
            <a:r>
              <a:rPr lang="en-US" dirty="0"/>
              <a:t>Cons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45EA5-BADD-8058-1C29-BCBCA8DEB2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 add an </a:t>
            </a:r>
            <a:r>
              <a:rPr lang="en-US" b="1" dirty="0"/>
              <a:t>extra layer of complexity</a:t>
            </a:r>
            <a:r>
              <a:rPr lang="en-US" dirty="0"/>
              <a:t> or indirection.</a:t>
            </a:r>
          </a:p>
          <a:p>
            <a:r>
              <a:rPr lang="en-US" dirty="0"/>
              <a:t>Too many adapters may lead to </a:t>
            </a:r>
            <a:r>
              <a:rPr lang="en-US" b="1" dirty="0"/>
              <a:t>messy architecture</a:t>
            </a:r>
            <a:r>
              <a:rPr lang="en-US" dirty="0"/>
              <a:t> if not managed well.</a:t>
            </a:r>
          </a:p>
        </p:txBody>
      </p:sp>
    </p:spTree>
    <p:extLst>
      <p:ext uri="{BB962C8B-B14F-4D97-AF65-F5344CB8AC3E}">
        <p14:creationId xmlns:p14="http://schemas.microsoft.com/office/powerpoint/2010/main" val="2824187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47B49-C972-3EF8-2C54-5392ED9E6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49CA37-B9E0-5797-6D62-6A2FD969C9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693987"/>
            <a:ext cx="7772400" cy="1470025"/>
          </a:xfrm>
        </p:spPr>
        <p:txBody>
          <a:bodyPr/>
          <a:lstStyle/>
          <a:p>
            <a:r>
              <a:rPr lang="en-US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Decorator</a:t>
            </a:r>
            <a:r>
              <a:rPr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 Pattern</a:t>
            </a:r>
          </a:p>
        </p:txBody>
      </p:sp>
    </p:spTree>
    <p:extLst>
      <p:ext uri="{BB962C8B-B14F-4D97-AF65-F5344CB8AC3E}">
        <p14:creationId xmlns:p14="http://schemas.microsoft.com/office/powerpoint/2010/main" val="41376988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7618C-FBA7-8A17-1081-16D7620BD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441C002-0073-5E2E-DA00-F92A8CF47E09}"/>
              </a:ext>
            </a:extLst>
          </p:cNvPr>
          <p:cNvSpPr/>
          <p:nvPr/>
        </p:nvSpPr>
        <p:spPr>
          <a:xfrm>
            <a:off x="3542074" y="2212257"/>
            <a:ext cx="1573162" cy="9242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Coffee</a:t>
            </a:r>
          </a:p>
          <a:p>
            <a:pPr algn="ctr"/>
            <a:r>
              <a:rPr lang="en-US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Cost = 5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26C1D37-6C10-2660-047B-1E179C90D476}"/>
              </a:ext>
            </a:extLst>
          </p:cNvPr>
          <p:cNvSpPr/>
          <p:nvPr/>
        </p:nvSpPr>
        <p:spPr>
          <a:xfrm>
            <a:off x="732502" y="4156587"/>
            <a:ext cx="2020529" cy="9242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Milk</a:t>
            </a:r>
          </a:p>
          <a:p>
            <a:pPr algn="ctr"/>
            <a:r>
              <a:rPr lang="en-US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Cost = cost + 2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407BDBD-182A-39DD-E4A1-A9A131E8A710}"/>
              </a:ext>
            </a:extLst>
          </p:cNvPr>
          <p:cNvSpPr/>
          <p:nvPr/>
        </p:nvSpPr>
        <p:spPr>
          <a:xfrm>
            <a:off x="3318390" y="5078361"/>
            <a:ext cx="2020529" cy="9242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Sugar</a:t>
            </a:r>
          </a:p>
          <a:p>
            <a:pPr algn="ctr"/>
            <a:r>
              <a:rPr lang="en-US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Cost = cost + 1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8ACB4E7-CF31-9ACF-363D-6DC0326A8E0A}"/>
              </a:ext>
            </a:extLst>
          </p:cNvPr>
          <p:cNvSpPr/>
          <p:nvPr/>
        </p:nvSpPr>
        <p:spPr>
          <a:xfrm>
            <a:off x="6339353" y="4508295"/>
            <a:ext cx="2347449" cy="115283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Sugar with Milk</a:t>
            </a:r>
          </a:p>
          <a:p>
            <a:pPr algn="ctr"/>
            <a:r>
              <a:rPr lang="en-US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Cost = cost + 3</a:t>
            </a:r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C11A7113-0B2B-0066-463A-A6931F30E944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rot="5400000">
            <a:off x="2525662" y="2353594"/>
            <a:ext cx="1020098" cy="2585888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56ACB4CD-0E73-9082-A4CE-F463B16B115F}"/>
              </a:ext>
            </a:extLst>
          </p:cNvPr>
          <p:cNvCxnSpPr>
            <a:stCxn id="6" idx="2"/>
            <a:endCxn id="8" idx="0"/>
          </p:cNvCxnSpPr>
          <p:nvPr/>
        </p:nvCxnSpPr>
        <p:spPr>
          <a:xfrm rot="5400000">
            <a:off x="3357719" y="4107425"/>
            <a:ext cx="1941872" cy="127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A4DB3B79-3570-CBE5-5D95-5FB051CC8A79}"/>
              </a:ext>
            </a:extLst>
          </p:cNvPr>
          <p:cNvCxnSpPr>
            <a:stCxn id="6" idx="2"/>
            <a:endCxn id="9" idx="0"/>
          </p:cNvCxnSpPr>
          <p:nvPr/>
        </p:nvCxnSpPr>
        <p:spPr>
          <a:xfrm rot="16200000" flipH="1">
            <a:off x="5234963" y="2230180"/>
            <a:ext cx="1371806" cy="3184423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A3FACA3-4E23-7480-FE3A-5F6430364D1A}"/>
              </a:ext>
            </a:extLst>
          </p:cNvPr>
          <p:cNvSpPr txBox="1"/>
          <p:nvPr/>
        </p:nvSpPr>
        <p:spPr>
          <a:xfrm>
            <a:off x="1874595" y="767037"/>
            <a:ext cx="53948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Inheritance Approach Problem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47128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192EA-F088-E54A-2E9B-84DBD2D85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BDD41-B266-F7EA-E1F9-BD29D06B8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Decorator</a:t>
            </a:r>
            <a:r>
              <a:rPr dirty="0"/>
              <a:t>: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C8AB15-EC81-3BE7-3CE5-0CDE8356A4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You want to add new </a:t>
            </a:r>
            <a:r>
              <a:rPr lang="en-US" b="1" dirty="0"/>
              <a:t>behavior</a:t>
            </a:r>
            <a:r>
              <a:rPr lang="en-US" dirty="0"/>
              <a:t> to objects </a:t>
            </a:r>
            <a:r>
              <a:rPr lang="en-US" b="1" dirty="0"/>
              <a:t>dynamically, </a:t>
            </a:r>
            <a:r>
              <a:rPr lang="en-US" dirty="0"/>
              <a:t>without changing their original code.</a:t>
            </a:r>
          </a:p>
          <a:p>
            <a:r>
              <a:rPr lang="en-US" dirty="0"/>
              <a:t>Using </a:t>
            </a:r>
            <a:r>
              <a:rPr lang="en-US" b="1" dirty="0"/>
              <a:t>inheritance for every combination</a:t>
            </a:r>
            <a:r>
              <a:rPr lang="en-US" dirty="0"/>
              <a:t> of features leads to a </a:t>
            </a:r>
            <a:r>
              <a:rPr lang="en-US" b="1" dirty="0"/>
              <a:t>class explosion</a:t>
            </a:r>
            <a:r>
              <a:rPr lang="en-US" dirty="0"/>
              <a:t>.</a:t>
            </a:r>
          </a:p>
          <a:p>
            <a:r>
              <a:rPr lang="en-US" dirty="0"/>
              <a:t>You need a </a:t>
            </a:r>
            <a:r>
              <a:rPr lang="en-US" b="1" dirty="0"/>
              <a:t>flexible way</a:t>
            </a:r>
            <a:r>
              <a:rPr lang="en-US" dirty="0"/>
              <a:t> to mix and match responsibilities at runtime.</a:t>
            </a:r>
          </a:p>
          <a:p>
            <a:r>
              <a:rPr lang="en-US" dirty="0"/>
              <a:t>The goal is to </a:t>
            </a:r>
            <a:r>
              <a:rPr lang="en-US" b="1" dirty="0"/>
              <a:t>extend functionality without modifying existing classes</a:t>
            </a:r>
            <a:r>
              <a:rPr lang="en-US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4010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04188-291F-8893-82C5-CB1AB6B91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43493-9A24-32CE-D9B9-499FF522A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Decorator</a:t>
            </a:r>
            <a:r>
              <a:rPr dirty="0"/>
              <a:t>: </a:t>
            </a:r>
            <a:r>
              <a:rPr lang="en-US" dirty="0"/>
              <a:t>Solution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D1A18-4ED8-E1C9-8561-546011498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Wrap the original object inside another object (a </a:t>
            </a:r>
            <a:r>
              <a:rPr lang="en-US" b="1" dirty="0"/>
              <a:t>decorator</a:t>
            </a:r>
            <a:r>
              <a:rPr lang="en-US" dirty="0"/>
              <a:t>) to add new behavior.</a:t>
            </a:r>
          </a:p>
          <a:p>
            <a:r>
              <a:rPr lang="en-US" dirty="0"/>
              <a:t>Each decorator adds </a:t>
            </a:r>
            <a:r>
              <a:rPr lang="en-US" b="1" dirty="0"/>
              <a:t>one feature</a:t>
            </a:r>
            <a:r>
              <a:rPr lang="en-US" dirty="0"/>
              <a:t>, and decorators can be </a:t>
            </a:r>
            <a:r>
              <a:rPr lang="en-US" b="1" dirty="0"/>
              <a:t>stacked</a:t>
            </a:r>
            <a:r>
              <a:rPr lang="en-US" dirty="0"/>
              <a:t> on top of each other.</a:t>
            </a:r>
          </a:p>
          <a:p>
            <a:r>
              <a:rPr lang="en-US" dirty="0"/>
              <a:t>No need to modify existing classes → </a:t>
            </a:r>
            <a:r>
              <a:rPr lang="en-US" b="1" dirty="0"/>
              <a:t>Open/Closed Principle</a:t>
            </a:r>
            <a:r>
              <a:rPr lang="en-US" dirty="0"/>
              <a:t>.</a:t>
            </a:r>
          </a:p>
          <a:p>
            <a:r>
              <a:rPr lang="en-US" dirty="0"/>
              <a:t>No need for many subclasses → avoid </a:t>
            </a:r>
            <a:r>
              <a:rPr lang="en-US" b="1" dirty="0"/>
              <a:t>inheritance explosion</a:t>
            </a:r>
            <a:r>
              <a:rPr lang="en-US" dirty="0"/>
              <a:t>.</a:t>
            </a:r>
          </a:p>
          <a:p>
            <a:r>
              <a:rPr lang="en-US" dirty="0"/>
              <a:t>Features can be added </a:t>
            </a:r>
            <a:r>
              <a:rPr lang="en-US" b="1" dirty="0"/>
              <a:t>dynamically at runtime</a:t>
            </a:r>
            <a:r>
              <a:rPr lang="en-US" dirty="0"/>
              <a:t>, not fixed in class design.</a:t>
            </a:r>
          </a:p>
          <a:p>
            <a:r>
              <a:rPr lang="en-US" dirty="0"/>
              <a:t>Flexible: any combination of features can be created by simply </a:t>
            </a:r>
            <a:r>
              <a:rPr lang="en-US" b="1" dirty="0"/>
              <a:t>wrapping</a:t>
            </a:r>
            <a:r>
              <a:rPr lang="en-US" dirty="0"/>
              <a:t> objects.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978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8BF8D-2A2C-3108-5D1D-121F0BFAA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54FB2BB8-60D3-E3A6-2512-EF7F9E856202}"/>
              </a:ext>
            </a:extLst>
          </p:cNvPr>
          <p:cNvSpPr txBox="1"/>
          <p:nvPr/>
        </p:nvSpPr>
        <p:spPr>
          <a:xfrm>
            <a:off x="2877848" y="333455"/>
            <a:ext cx="37956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Decoration Approach</a:t>
            </a:r>
            <a:endParaRPr lang="en-US" sz="32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DF9931E-2316-9004-F359-23C6D2A4F9D3}"/>
              </a:ext>
            </a:extLst>
          </p:cNvPr>
          <p:cNvSpPr/>
          <p:nvPr/>
        </p:nvSpPr>
        <p:spPr>
          <a:xfrm>
            <a:off x="39508" y="1858296"/>
            <a:ext cx="4444182" cy="452284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117300-4084-4541-69DA-D86E8DDDBEEC}"/>
              </a:ext>
            </a:extLst>
          </p:cNvPr>
          <p:cNvSpPr txBox="1"/>
          <p:nvPr/>
        </p:nvSpPr>
        <p:spPr>
          <a:xfrm>
            <a:off x="1319905" y="2085668"/>
            <a:ext cx="18977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Sugar</a:t>
            </a:r>
          </a:p>
          <a:p>
            <a:pPr algn="ctr"/>
            <a:r>
              <a:rPr lang="en-US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Cost = cost + 1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A96657E-B973-B6CF-1825-63ACDA464696}"/>
              </a:ext>
            </a:extLst>
          </p:cNvPr>
          <p:cNvSpPr/>
          <p:nvPr/>
        </p:nvSpPr>
        <p:spPr>
          <a:xfrm>
            <a:off x="889565" y="3020960"/>
            <a:ext cx="2758382" cy="265225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DB1DB3-646D-2A3B-92ED-7AC808FC547A}"/>
              </a:ext>
            </a:extLst>
          </p:cNvPr>
          <p:cNvSpPr txBox="1"/>
          <p:nvPr/>
        </p:nvSpPr>
        <p:spPr>
          <a:xfrm>
            <a:off x="1381177" y="3248332"/>
            <a:ext cx="18977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Milk</a:t>
            </a:r>
          </a:p>
          <a:p>
            <a:pPr algn="ctr"/>
            <a:r>
              <a:rPr lang="en-US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Cost = cost + 2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E78433-2CAD-A5BD-95A9-7BC415C97717}"/>
              </a:ext>
            </a:extLst>
          </p:cNvPr>
          <p:cNvSpPr/>
          <p:nvPr/>
        </p:nvSpPr>
        <p:spPr>
          <a:xfrm>
            <a:off x="1523565" y="4025710"/>
            <a:ext cx="1475453" cy="134825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73FC74-6D4C-AACA-78DD-2654DE3B5E5A}"/>
              </a:ext>
            </a:extLst>
          </p:cNvPr>
          <p:cNvSpPr txBox="1"/>
          <p:nvPr/>
        </p:nvSpPr>
        <p:spPr>
          <a:xfrm>
            <a:off x="1602402" y="4318773"/>
            <a:ext cx="133270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Coffee</a:t>
            </a:r>
          </a:p>
          <a:p>
            <a:pPr algn="ctr"/>
            <a:r>
              <a:rPr lang="en-US" sz="1100" dirty="0">
                <a:latin typeface="JetBrains Mono" panose="02000009000000000000" pitchFamily="49" charset="0"/>
                <a:cs typeface="JetBrains Mono" panose="02000009000000000000" pitchFamily="49" charset="0"/>
              </a:rPr>
              <a:t>Cost = 5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787E114-9527-D8DA-3216-13D64FC8BBAF}"/>
              </a:ext>
            </a:extLst>
          </p:cNvPr>
          <p:cNvSpPr/>
          <p:nvPr/>
        </p:nvSpPr>
        <p:spPr>
          <a:xfrm>
            <a:off x="6181890" y="1229974"/>
            <a:ext cx="2758382" cy="265225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1E9333-D5BE-335A-9305-C3C937B36C5B}"/>
              </a:ext>
            </a:extLst>
          </p:cNvPr>
          <p:cNvSpPr txBox="1"/>
          <p:nvPr/>
        </p:nvSpPr>
        <p:spPr>
          <a:xfrm>
            <a:off x="6673502" y="1457346"/>
            <a:ext cx="18977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Milk</a:t>
            </a:r>
          </a:p>
          <a:p>
            <a:pPr algn="ctr"/>
            <a:r>
              <a:rPr lang="en-US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Cost = cost + 2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E4FF8BD-AC1F-DAE3-2102-EAB94CED7866}"/>
              </a:ext>
            </a:extLst>
          </p:cNvPr>
          <p:cNvSpPr/>
          <p:nvPr/>
        </p:nvSpPr>
        <p:spPr>
          <a:xfrm>
            <a:off x="6815890" y="2234724"/>
            <a:ext cx="1475453" cy="134825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832F84-D1B2-9D3E-11C5-C4D529DB4AEF}"/>
              </a:ext>
            </a:extLst>
          </p:cNvPr>
          <p:cNvSpPr txBox="1"/>
          <p:nvPr/>
        </p:nvSpPr>
        <p:spPr>
          <a:xfrm>
            <a:off x="6894727" y="2527787"/>
            <a:ext cx="133270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Coffee</a:t>
            </a:r>
          </a:p>
          <a:p>
            <a:pPr algn="ctr"/>
            <a:r>
              <a:rPr lang="en-US" sz="1100" dirty="0">
                <a:latin typeface="JetBrains Mono" panose="02000009000000000000" pitchFamily="49" charset="0"/>
                <a:cs typeface="JetBrains Mono" panose="02000009000000000000" pitchFamily="49" charset="0"/>
              </a:rPr>
              <a:t>Cost = 5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ACD3875-1D9A-37E6-1012-95098B1AC8BA}"/>
              </a:ext>
            </a:extLst>
          </p:cNvPr>
          <p:cNvSpPr/>
          <p:nvPr/>
        </p:nvSpPr>
        <p:spPr>
          <a:xfrm>
            <a:off x="4862053" y="4047833"/>
            <a:ext cx="2758382" cy="265225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D99EDA-7FF0-B82C-A730-8313AF1BF6CB}"/>
              </a:ext>
            </a:extLst>
          </p:cNvPr>
          <p:cNvSpPr txBox="1"/>
          <p:nvPr/>
        </p:nvSpPr>
        <p:spPr>
          <a:xfrm>
            <a:off x="5353665" y="4275205"/>
            <a:ext cx="18977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Sugar</a:t>
            </a:r>
          </a:p>
          <a:p>
            <a:pPr algn="ctr"/>
            <a:r>
              <a:rPr lang="en-US" sz="1400" dirty="0">
                <a:latin typeface="JetBrains Mono" panose="02000009000000000000" pitchFamily="49" charset="0"/>
                <a:cs typeface="JetBrains Mono" panose="02000009000000000000" pitchFamily="49" charset="0"/>
              </a:rPr>
              <a:t>Cost = cost + 1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0907764-DE93-64E7-202F-ABDDECCB307E}"/>
              </a:ext>
            </a:extLst>
          </p:cNvPr>
          <p:cNvSpPr/>
          <p:nvPr/>
        </p:nvSpPr>
        <p:spPr>
          <a:xfrm>
            <a:off x="5496053" y="5052583"/>
            <a:ext cx="1475453" cy="134825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6397D44-9928-E89F-574C-E5A8EEB2E926}"/>
              </a:ext>
            </a:extLst>
          </p:cNvPr>
          <p:cNvSpPr txBox="1"/>
          <p:nvPr/>
        </p:nvSpPr>
        <p:spPr>
          <a:xfrm>
            <a:off x="5574890" y="5345646"/>
            <a:ext cx="1332706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Coffee</a:t>
            </a:r>
          </a:p>
          <a:p>
            <a:pPr algn="ctr"/>
            <a:r>
              <a:rPr lang="en-US" sz="1100" dirty="0">
                <a:latin typeface="JetBrains Mono" panose="02000009000000000000" pitchFamily="49" charset="0"/>
                <a:cs typeface="JetBrains Mono" panose="02000009000000000000" pitchFamily="49" charset="0"/>
              </a:rPr>
              <a:t>Cost = 5</a:t>
            </a:r>
          </a:p>
        </p:txBody>
      </p:sp>
    </p:spTree>
    <p:extLst>
      <p:ext uri="{BB962C8B-B14F-4D97-AF65-F5344CB8AC3E}">
        <p14:creationId xmlns:p14="http://schemas.microsoft.com/office/powerpoint/2010/main" val="1692140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" grpId="0" animBg="1"/>
      <p:bldP spid="10" grpId="0"/>
      <p:bldP spid="11" grpId="0" animBg="1"/>
      <p:bldP spid="12" grpId="0"/>
      <p:bldP spid="23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6A792-DDC8-9EA4-1033-85E2CF432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CDB22-682D-F719-801D-A329C12EE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Decorator</a:t>
            </a:r>
            <a:r>
              <a:rPr dirty="0"/>
              <a:t>:</a:t>
            </a:r>
            <a:r>
              <a:rPr lang="en-US" dirty="0"/>
              <a:t> Class Diagram</a:t>
            </a:r>
            <a:endParaRPr dirty="0"/>
          </a:p>
        </p:txBody>
      </p:sp>
      <p:sp>
        <p:nvSpPr>
          <p:cNvPr id="5" name="AutoShape 4" descr="A Complete Guide To Design Patterns: The Adapter Design Pattern – Baraa ...">
            <a:extLst>
              <a:ext uri="{FF2B5EF4-FFF2-40B4-BE49-F238E27FC236}">
                <a16:creationId xmlns:a16="http://schemas.microsoft.com/office/drawing/2014/main" id="{C0B611D8-4F60-9B9A-131C-1908D32160B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3276599"/>
            <a:ext cx="3180735" cy="3180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 descr="A diagram of a component&#10;&#10;AI-generated content may be incorrect.">
            <a:extLst>
              <a:ext uri="{FF2B5EF4-FFF2-40B4-BE49-F238E27FC236}">
                <a16:creationId xmlns:a16="http://schemas.microsoft.com/office/drawing/2014/main" id="{AC80E915-3285-E8D3-3E67-B703D3C9B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244" y="1106487"/>
            <a:ext cx="6241090" cy="547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749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0235B-153D-B2DA-E76C-B549C5747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E82EC-E1A8-6D91-D8BB-B1B1B44B47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693987"/>
            <a:ext cx="7772400" cy="1470025"/>
          </a:xfrm>
        </p:spPr>
        <p:txBody>
          <a:bodyPr/>
          <a:lstStyle/>
          <a:p>
            <a:r>
              <a:rPr lang="en-US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Hands On</a:t>
            </a:r>
            <a:endParaRPr b="1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64830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88A4D-A18A-6901-F2B6-86157D702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E4257-C6BE-BA5A-DF39-E2BC78CD4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Decorator</a:t>
            </a:r>
            <a:r>
              <a:rPr dirty="0"/>
              <a:t>: </a:t>
            </a:r>
            <a:r>
              <a:rPr lang="en-US" dirty="0"/>
              <a:t>Pros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EBB24-B2B7-8D46-F08B-59BBA883E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Adds new behavior </a:t>
            </a:r>
            <a:r>
              <a:rPr lang="en-US" b="1" dirty="0"/>
              <a:t>dynamically</a:t>
            </a:r>
            <a:r>
              <a:rPr lang="en-US" dirty="0"/>
              <a:t> without modifying existing code.</a:t>
            </a:r>
          </a:p>
          <a:p>
            <a:r>
              <a:rPr lang="en-US" dirty="0"/>
              <a:t>Avoids </a:t>
            </a:r>
            <a:r>
              <a:rPr lang="en-US" b="1" dirty="0"/>
              <a:t>class explosion</a:t>
            </a:r>
            <a:r>
              <a:rPr lang="en-US" dirty="0"/>
              <a:t> caused by too many subclasses.</a:t>
            </a:r>
          </a:p>
          <a:p>
            <a:r>
              <a:rPr lang="en-US" dirty="0"/>
              <a:t>Follows the </a:t>
            </a:r>
            <a:r>
              <a:rPr lang="en-US" b="1" dirty="0"/>
              <a:t>Open/Closed Principle</a:t>
            </a:r>
            <a:r>
              <a:rPr lang="en-US" dirty="0"/>
              <a:t> (open for extension, closed for modification).</a:t>
            </a:r>
          </a:p>
          <a:p>
            <a:r>
              <a:rPr lang="en-US" dirty="0"/>
              <a:t>Allows </a:t>
            </a:r>
            <a:r>
              <a:rPr lang="en-US" b="1" dirty="0"/>
              <a:t>flexible combinations</a:t>
            </a:r>
            <a:r>
              <a:rPr lang="en-US" dirty="0"/>
              <a:t> of features at runtime.</a:t>
            </a:r>
          </a:p>
          <a:p>
            <a:r>
              <a:rPr lang="en-US" dirty="0"/>
              <a:t>Decorators are </a:t>
            </a:r>
            <a:r>
              <a:rPr lang="en-US" b="1" dirty="0"/>
              <a:t>independent</a:t>
            </a:r>
            <a:r>
              <a:rPr lang="en-US" dirty="0"/>
              <a:t> and can be reused across different objects.</a:t>
            </a:r>
          </a:p>
          <a:p>
            <a:r>
              <a:rPr lang="en-US" dirty="0"/>
              <a:t>Keeps classes </a:t>
            </a:r>
            <a:r>
              <a:rPr lang="en-US" b="1" dirty="0"/>
              <a:t>small and focused</a:t>
            </a:r>
            <a:r>
              <a:rPr lang="en-US" dirty="0"/>
              <a:t> by separating features into individual decorators.</a:t>
            </a:r>
          </a:p>
          <a:p>
            <a:r>
              <a:rPr lang="en-US" dirty="0"/>
              <a:t>Easy to </a:t>
            </a:r>
            <a:r>
              <a:rPr lang="en-US" b="1" dirty="0"/>
              <a:t>add new features</a:t>
            </a:r>
            <a:r>
              <a:rPr lang="en-US" dirty="0"/>
              <a:t> by creating new decorators.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2283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9967A-3B97-72A7-DF3D-943CF51F1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B06E6-08A4-7762-F95F-C224CA6C7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Decorator</a:t>
            </a:r>
            <a:r>
              <a:rPr dirty="0"/>
              <a:t>: </a:t>
            </a:r>
            <a:r>
              <a:rPr lang="en-US" dirty="0"/>
              <a:t>Cons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9E74E-8840-B280-6965-4AE965C65C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Can introduce </a:t>
            </a:r>
            <a:r>
              <a:rPr lang="en-US" b="1" dirty="0"/>
              <a:t>too many small classes</a:t>
            </a:r>
            <a:r>
              <a:rPr lang="en-US" dirty="0"/>
              <a:t> (one for each feature).</a:t>
            </a:r>
          </a:p>
          <a:p>
            <a:r>
              <a:rPr lang="en-US" dirty="0"/>
              <a:t>Debugging can be harder because behavior is split across many wrappers.</a:t>
            </a:r>
          </a:p>
          <a:p>
            <a:r>
              <a:rPr lang="en-US" dirty="0"/>
              <a:t>The final behavior may be </a:t>
            </a:r>
            <a:r>
              <a:rPr lang="en-US" b="1" dirty="0"/>
              <a:t>hard to trace</a:t>
            </a:r>
            <a:r>
              <a:rPr lang="en-US" dirty="0"/>
              <a:t>, especially with multiple decorators stacked.</a:t>
            </a:r>
          </a:p>
          <a:p>
            <a:r>
              <a:rPr lang="en-US" dirty="0"/>
              <a:t>Order of decorators matters, which can </a:t>
            </a:r>
            <a:r>
              <a:rPr lang="en-US" b="1" dirty="0"/>
              <a:t>introduce subtle bugs</a:t>
            </a:r>
            <a:r>
              <a:rPr lang="en-US" dirty="0"/>
              <a:t>.</a:t>
            </a:r>
          </a:p>
          <a:p>
            <a:r>
              <a:rPr lang="en-US" dirty="0"/>
              <a:t>Increased complexity compared to simple inheritance.</a:t>
            </a:r>
          </a:p>
        </p:txBody>
      </p:sp>
    </p:spTree>
    <p:extLst>
      <p:ext uri="{BB962C8B-B14F-4D97-AF65-F5344CB8AC3E}">
        <p14:creationId xmlns:p14="http://schemas.microsoft.com/office/powerpoint/2010/main" val="1418124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40778-200C-65A3-FB4C-FEB817DFF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F3250-CB39-2770-64DA-A8826E346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693987"/>
            <a:ext cx="7772400" cy="1470025"/>
          </a:xfrm>
        </p:spPr>
        <p:txBody>
          <a:bodyPr/>
          <a:lstStyle/>
          <a:p>
            <a:r>
              <a:rPr lang="en-US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Break</a:t>
            </a:r>
            <a:endParaRPr b="1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49862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B2151-3776-C839-1008-06BB53F8A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6CFEE-C9FE-A8A2-0D2F-57C388C9D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693987"/>
            <a:ext cx="7772400" cy="1470025"/>
          </a:xfrm>
        </p:spPr>
        <p:txBody>
          <a:bodyPr/>
          <a:lstStyle/>
          <a:p>
            <a:r>
              <a:rPr lang="en-US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Façade</a:t>
            </a:r>
            <a:r>
              <a:rPr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 Pattern</a:t>
            </a:r>
          </a:p>
        </p:txBody>
      </p:sp>
    </p:spTree>
    <p:extLst>
      <p:ext uri="{BB962C8B-B14F-4D97-AF65-F5344CB8AC3E}">
        <p14:creationId xmlns:p14="http://schemas.microsoft.com/office/powerpoint/2010/main" val="2485349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D6417-D296-9259-DB37-92DF00549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6330312-585E-A03E-2C7A-D56B8715EC40}"/>
              </a:ext>
            </a:extLst>
          </p:cNvPr>
          <p:cNvSpPr/>
          <p:nvPr/>
        </p:nvSpPr>
        <p:spPr>
          <a:xfrm>
            <a:off x="397460" y="2810952"/>
            <a:ext cx="1818968" cy="180667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User Program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4245880-E831-05A7-9BEF-4F9117A33E01}"/>
              </a:ext>
            </a:extLst>
          </p:cNvPr>
          <p:cNvSpPr/>
          <p:nvPr/>
        </p:nvSpPr>
        <p:spPr>
          <a:xfrm>
            <a:off x="6629103" y="4223770"/>
            <a:ext cx="1651819" cy="9242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Disk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FC49B5F-FDBC-5EB6-BC9A-BBB7CEFD5A42}"/>
              </a:ext>
            </a:extLst>
          </p:cNvPr>
          <p:cNvSpPr/>
          <p:nvPr/>
        </p:nvSpPr>
        <p:spPr>
          <a:xfrm>
            <a:off x="6629103" y="2877170"/>
            <a:ext cx="1651819" cy="9242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Memory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50F490B-AC20-2F79-9DA6-D6B69DE0805D}"/>
              </a:ext>
            </a:extLst>
          </p:cNvPr>
          <p:cNvSpPr/>
          <p:nvPr/>
        </p:nvSpPr>
        <p:spPr>
          <a:xfrm>
            <a:off x="6623106" y="1490820"/>
            <a:ext cx="1651819" cy="9242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GPU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6A96B18-9CAF-3F70-F37E-3D78DF1F6399}"/>
              </a:ext>
            </a:extLst>
          </p:cNvPr>
          <p:cNvSpPr/>
          <p:nvPr/>
        </p:nvSpPr>
        <p:spPr>
          <a:xfrm>
            <a:off x="6623105" y="5500167"/>
            <a:ext cx="1651819" cy="9242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CPU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F7B378A-2A34-D88A-4A86-4CCF7AB3123B}"/>
              </a:ext>
            </a:extLst>
          </p:cNvPr>
          <p:cNvCxnSpPr>
            <a:cxnSpLocks/>
            <a:stCxn id="4" idx="6"/>
            <a:endCxn id="13" idx="1"/>
          </p:cNvCxnSpPr>
          <p:nvPr/>
        </p:nvCxnSpPr>
        <p:spPr>
          <a:xfrm>
            <a:off x="2216428" y="3714291"/>
            <a:ext cx="4406677" cy="22479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19EFA4A-8E8B-7CE0-6FA4-12EF284C7F4E}"/>
              </a:ext>
            </a:extLst>
          </p:cNvPr>
          <p:cNvCxnSpPr>
            <a:cxnSpLocks/>
            <a:stCxn id="4" idx="6"/>
            <a:endCxn id="7" idx="1"/>
          </p:cNvCxnSpPr>
          <p:nvPr/>
        </p:nvCxnSpPr>
        <p:spPr>
          <a:xfrm>
            <a:off x="2216428" y="3714291"/>
            <a:ext cx="4412675" cy="9715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DBD132C-5BEB-DAE6-4854-DC204A213C2E}"/>
              </a:ext>
            </a:extLst>
          </p:cNvPr>
          <p:cNvCxnSpPr>
            <a:cxnSpLocks/>
            <a:stCxn id="4" idx="6"/>
            <a:endCxn id="8" idx="1"/>
          </p:cNvCxnSpPr>
          <p:nvPr/>
        </p:nvCxnSpPr>
        <p:spPr>
          <a:xfrm flipV="1">
            <a:off x="2216428" y="3339287"/>
            <a:ext cx="4412675" cy="3750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1ECFFDF-5CA2-49C4-200B-E1082ABD4AE9}"/>
              </a:ext>
            </a:extLst>
          </p:cNvPr>
          <p:cNvCxnSpPr>
            <a:cxnSpLocks/>
            <a:stCxn id="4" idx="6"/>
            <a:endCxn id="9" idx="1"/>
          </p:cNvCxnSpPr>
          <p:nvPr/>
        </p:nvCxnSpPr>
        <p:spPr>
          <a:xfrm flipV="1">
            <a:off x="2216428" y="1952937"/>
            <a:ext cx="4406678" cy="17613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Graphic 30" descr="Close with solid fill">
            <a:extLst>
              <a:ext uri="{FF2B5EF4-FFF2-40B4-BE49-F238E27FC236}">
                <a16:creationId xmlns:a16="http://schemas.microsoft.com/office/drawing/2014/main" id="{8A0CC598-C031-6269-E8B3-31369EACE9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15918" y="738493"/>
            <a:ext cx="1767659" cy="176765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F04C3704-4575-CE9F-5FB2-76D774E86CC7}"/>
              </a:ext>
            </a:extLst>
          </p:cNvPr>
          <p:cNvSpPr txBox="1"/>
          <p:nvPr/>
        </p:nvSpPr>
        <p:spPr>
          <a:xfrm>
            <a:off x="3293061" y="386115"/>
            <a:ext cx="24398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Problem: Ex..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006631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12814-5DEA-4637-9F0B-BE68CE0A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ED37437-31AF-0ADF-CCC8-AD4A53701AC1}"/>
              </a:ext>
            </a:extLst>
          </p:cNvPr>
          <p:cNvSpPr/>
          <p:nvPr/>
        </p:nvSpPr>
        <p:spPr>
          <a:xfrm>
            <a:off x="299892" y="2838449"/>
            <a:ext cx="1597734" cy="155472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User Program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A90D141-487D-58CF-D565-A3D805864293}"/>
              </a:ext>
            </a:extLst>
          </p:cNvPr>
          <p:cNvSpPr/>
          <p:nvPr/>
        </p:nvSpPr>
        <p:spPr>
          <a:xfrm>
            <a:off x="5732960" y="1903770"/>
            <a:ext cx="2123765" cy="342408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Memory</a:t>
            </a:r>
          </a:p>
          <a:p>
            <a:pPr algn="ctr"/>
            <a:endParaRPr lang="en-US" sz="2000" b="1" dirty="0"/>
          </a:p>
          <a:p>
            <a:pPr algn="ctr"/>
            <a:r>
              <a:rPr lang="en-US" sz="12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readFromPA</a:t>
            </a:r>
            <a:r>
              <a:rPr lang="en-US" sz="12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pPr algn="ctr"/>
            <a:r>
              <a:rPr lang="en-US" sz="12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writeTo</a:t>
            </a:r>
            <a:r>
              <a:rPr lang="en-US" sz="12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pPr algn="ctr"/>
            <a:r>
              <a:rPr lang="en-US" sz="12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enableIntr</a:t>
            </a:r>
            <a:r>
              <a:rPr lang="en-US" sz="12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pPr algn="ctr"/>
            <a:r>
              <a:rPr lang="en-US" sz="12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disableIntr</a:t>
            </a:r>
            <a:r>
              <a:rPr lang="en-US" sz="12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pPr algn="ctr"/>
            <a:r>
              <a:rPr lang="en-US" sz="12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managePipelines</a:t>
            </a:r>
            <a:r>
              <a:rPr lang="en-US" sz="12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pPr algn="ctr"/>
            <a:r>
              <a:rPr lang="en-US" sz="12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allocatePF</a:t>
            </a:r>
            <a:r>
              <a:rPr lang="en-US" sz="12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pPr algn="ctr"/>
            <a:r>
              <a:rPr lang="en-US" sz="12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manageTLB</a:t>
            </a:r>
            <a:r>
              <a:rPr lang="en-US" sz="12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pPr algn="ctr"/>
            <a:r>
              <a:rPr lang="en-US" sz="12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mapPage</a:t>
            </a:r>
            <a:r>
              <a:rPr lang="en-US" sz="12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pPr algn="ctr"/>
            <a:r>
              <a:rPr lang="en-US" sz="12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unmapPage</a:t>
            </a:r>
            <a:r>
              <a:rPr lang="en-US" sz="12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pPr algn="ctr"/>
            <a:endParaRPr lang="en-US" sz="1200" b="1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AA3047-0593-DF41-9478-106DB9D3039B}"/>
              </a:ext>
            </a:extLst>
          </p:cNvPr>
          <p:cNvSpPr txBox="1"/>
          <p:nvPr/>
        </p:nvSpPr>
        <p:spPr>
          <a:xfrm>
            <a:off x="3293061" y="386115"/>
            <a:ext cx="24398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Problem: Ex..</a:t>
            </a:r>
            <a:endParaRPr lang="en-US" sz="32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5CA3BF0-F420-B7B2-24D6-0B9945A3BCE2}"/>
              </a:ext>
            </a:extLst>
          </p:cNvPr>
          <p:cNvCxnSpPr>
            <a:cxnSpLocks/>
            <a:stCxn id="4" idx="6"/>
            <a:endCxn id="13" idx="1"/>
          </p:cNvCxnSpPr>
          <p:nvPr/>
        </p:nvCxnSpPr>
        <p:spPr>
          <a:xfrm>
            <a:off x="1897626" y="3615813"/>
            <a:ext cx="383533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61FDE55-262D-F118-39E5-2545A61B9A63}"/>
              </a:ext>
            </a:extLst>
          </p:cNvPr>
          <p:cNvSpPr txBox="1"/>
          <p:nvPr/>
        </p:nvSpPr>
        <p:spPr>
          <a:xfrm>
            <a:off x="1897626" y="3230207"/>
            <a:ext cx="1910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just want a space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C0F305A-566A-38D4-34E5-8606A04D0ACF}"/>
              </a:ext>
            </a:extLst>
          </p:cNvPr>
          <p:cNvCxnSpPr/>
          <p:nvPr/>
        </p:nvCxnSpPr>
        <p:spPr>
          <a:xfrm flipH="1">
            <a:off x="1779639" y="4168877"/>
            <a:ext cx="395332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43E21C4-C792-6BDA-DE4B-671ABAD8E71C}"/>
              </a:ext>
            </a:extLst>
          </p:cNvPr>
          <p:cNvSpPr txBox="1"/>
          <p:nvPr/>
        </p:nvSpPr>
        <p:spPr>
          <a:xfrm>
            <a:off x="2686505" y="4185152"/>
            <a:ext cx="34299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Take them all, don’t be a headache</a:t>
            </a:r>
          </a:p>
        </p:txBody>
      </p:sp>
      <p:pic>
        <p:nvPicPr>
          <p:cNvPr id="26" name="Graphic 25" descr="Close with solid fill">
            <a:extLst>
              <a:ext uri="{FF2B5EF4-FFF2-40B4-BE49-F238E27FC236}">
                <a16:creationId xmlns:a16="http://schemas.microsoft.com/office/drawing/2014/main" id="{302C3AA6-FA1C-7D89-79F9-0E52306A04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326604" y="1054516"/>
            <a:ext cx="1767659" cy="176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465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build="allAtOnce" animBg="1"/>
      <p:bldP spid="20" grpId="0"/>
      <p:bldP spid="2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09C17-7928-8F08-E705-71E5942D6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D36E5-2A7A-5B9A-EE9F-BD1B5BF0B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Façade</a:t>
            </a:r>
            <a:r>
              <a:rPr dirty="0"/>
              <a:t>: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74286-D804-FAAC-01DD-B6226359C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Large systems contain </a:t>
            </a:r>
            <a:r>
              <a:rPr lang="en-US" b="1" dirty="0"/>
              <a:t>many complex subsystems</a:t>
            </a:r>
          </a:p>
          <a:p>
            <a:r>
              <a:rPr lang="en-US" dirty="0"/>
              <a:t>Client code must interact with </a:t>
            </a:r>
            <a:r>
              <a:rPr lang="en-US" b="1" dirty="0"/>
              <a:t>many different APIs</a:t>
            </a:r>
            <a:r>
              <a:rPr lang="en-US" dirty="0"/>
              <a:t>, each with its own rules.</a:t>
            </a:r>
          </a:p>
          <a:p>
            <a:r>
              <a:rPr lang="en-US" dirty="0"/>
              <a:t>Leads to </a:t>
            </a:r>
            <a:r>
              <a:rPr lang="en-US" b="1" dirty="0"/>
              <a:t>high coupling</a:t>
            </a:r>
            <a:r>
              <a:rPr lang="en-US" dirty="0"/>
              <a:t> between the user program and internal components.</a:t>
            </a:r>
          </a:p>
          <a:p>
            <a:r>
              <a:rPr lang="en-US" dirty="0"/>
              <a:t>Small change in any subsystem can </a:t>
            </a:r>
            <a:r>
              <a:rPr lang="en-US" b="1" dirty="0"/>
              <a:t>break the entire program</a:t>
            </a:r>
            <a:r>
              <a:rPr lang="en-US" dirty="0"/>
              <a:t>.</a:t>
            </a:r>
          </a:p>
          <a:p>
            <a:r>
              <a:rPr lang="en-US" dirty="0"/>
              <a:t>The client must understand </a:t>
            </a:r>
            <a:r>
              <a:rPr lang="en-US" b="1" dirty="0"/>
              <a:t>low-level details</a:t>
            </a:r>
            <a:r>
              <a:rPr lang="en-US" dirty="0"/>
              <a:t> to perform simple tasks.</a:t>
            </a:r>
          </a:p>
          <a:p>
            <a:r>
              <a:rPr lang="en-US" dirty="0"/>
              <a:t>Code becomes </a:t>
            </a:r>
            <a:r>
              <a:rPr lang="en-US" b="1" dirty="0"/>
              <a:t>hard to maintain</a:t>
            </a:r>
            <a:r>
              <a:rPr lang="en-US" dirty="0"/>
              <a:t>, test, or extend.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2345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9B1FC-31B9-B26B-147C-6DDD08480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B9FAB-0898-FDF3-C714-9BF810CF0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Façade</a:t>
            </a:r>
            <a:r>
              <a:rPr dirty="0"/>
              <a:t>: </a:t>
            </a:r>
            <a:r>
              <a:rPr lang="en-US" dirty="0"/>
              <a:t>Solution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EFED7-4B3A-70CA-1BE9-0ED452BB75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Introduce a </a:t>
            </a:r>
            <a:r>
              <a:rPr lang="en-US" b="1" dirty="0"/>
              <a:t>single, simplified interface</a:t>
            </a:r>
            <a:r>
              <a:rPr lang="en-US" dirty="0"/>
              <a:t> (Facade) for the client to use.</a:t>
            </a:r>
          </a:p>
          <a:p>
            <a:r>
              <a:rPr lang="en-US" dirty="0"/>
              <a:t>The Facade </a:t>
            </a:r>
            <a:r>
              <a:rPr lang="en-US" b="1" dirty="0"/>
              <a:t>hides the complexity</a:t>
            </a:r>
            <a:r>
              <a:rPr lang="en-US" dirty="0"/>
              <a:t> of multiple subsystems.</a:t>
            </a:r>
          </a:p>
          <a:p>
            <a:r>
              <a:rPr lang="en-US" dirty="0"/>
              <a:t>Client interacts with </a:t>
            </a:r>
            <a:r>
              <a:rPr lang="en-US" b="1" dirty="0"/>
              <a:t>one unified API</a:t>
            </a:r>
            <a:r>
              <a:rPr lang="en-US" dirty="0"/>
              <a:t>, not many scattered ones.</a:t>
            </a:r>
          </a:p>
          <a:p>
            <a:r>
              <a:rPr lang="en-US" dirty="0"/>
              <a:t>Internal components can change freely without affecting the client.</a:t>
            </a:r>
          </a:p>
        </p:txBody>
      </p:sp>
    </p:spTree>
    <p:extLst>
      <p:ext uri="{BB962C8B-B14F-4D97-AF65-F5344CB8AC3E}">
        <p14:creationId xmlns:p14="http://schemas.microsoft.com/office/powerpoint/2010/main" val="2768341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D1753-AC36-0860-8D25-7E14EC871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C021F48-8D15-A9D4-51D1-DD5B36855A10}"/>
              </a:ext>
            </a:extLst>
          </p:cNvPr>
          <p:cNvSpPr/>
          <p:nvPr/>
        </p:nvSpPr>
        <p:spPr>
          <a:xfrm>
            <a:off x="202215" y="2751563"/>
            <a:ext cx="1536353" cy="147220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User Program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6223775-BCEE-80E6-F4DD-9DCF5B52153F}"/>
              </a:ext>
            </a:extLst>
          </p:cNvPr>
          <p:cNvSpPr/>
          <p:nvPr/>
        </p:nvSpPr>
        <p:spPr>
          <a:xfrm>
            <a:off x="6629103" y="4223770"/>
            <a:ext cx="1651819" cy="9242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Disk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13E87B9-21C2-8360-F63B-9CD5CCA85F0B}"/>
              </a:ext>
            </a:extLst>
          </p:cNvPr>
          <p:cNvSpPr/>
          <p:nvPr/>
        </p:nvSpPr>
        <p:spPr>
          <a:xfrm>
            <a:off x="6629103" y="2877170"/>
            <a:ext cx="1651819" cy="9242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Memory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9A75E65-15BE-2EC4-D7F1-E3A2A709C3B0}"/>
              </a:ext>
            </a:extLst>
          </p:cNvPr>
          <p:cNvSpPr/>
          <p:nvPr/>
        </p:nvSpPr>
        <p:spPr>
          <a:xfrm>
            <a:off x="6623106" y="1490820"/>
            <a:ext cx="1651819" cy="9242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GPU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44EF0A0-A1ED-8CBA-9B5F-C8CA480D2D5B}"/>
              </a:ext>
            </a:extLst>
          </p:cNvPr>
          <p:cNvSpPr/>
          <p:nvPr/>
        </p:nvSpPr>
        <p:spPr>
          <a:xfrm>
            <a:off x="6623105" y="5500167"/>
            <a:ext cx="1651819" cy="92423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CPU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5E58811-E18C-4C2A-B8FA-5E6E9B102ABC}"/>
              </a:ext>
            </a:extLst>
          </p:cNvPr>
          <p:cNvCxnSpPr>
            <a:cxnSpLocks/>
            <a:stCxn id="16" idx="6"/>
            <a:endCxn id="13" idx="1"/>
          </p:cNvCxnSpPr>
          <p:nvPr/>
        </p:nvCxnSpPr>
        <p:spPr>
          <a:xfrm>
            <a:off x="4493342" y="3507133"/>
            <a:ext cx="2129763" cy="24551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C81414E-027E-4EBB-7383-6ED3D8B8FF0D}"/>
              </a:ext>
            </a:extLst>
          </p:cNvPr>
          <p:cNvCxnSpPr>
            <a:cxnSpLocks/>
            <a:stCxn id="16" idx="6"/>
            <a:endCxn id="7" idx="1"/>
          </p:cNvCxnSpPr>
          <p:nvPr/>
        </p:nvCxnSpPr>
        <p:spPr>
          <a:xfrm>
            <a:off x="4493342" y="3507133"/>
            <a:ext cx="2135761" cy="11787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2448932-CDB7-E28F-664D-05B262CE81E1}"/>
              </a:ext>
            </a:extLst>
          </p:cNvPr>
          <p:cNvCxnSpPr>
            <a:cxnSpLocks/>
            <a:stCxn id="16" idx="6"/>
            <a:endCxn id="8" idx="1"/>
          </p:cNvCxnSpPr>
          <p:nvPr/>
        </p:nvCxnSpPr>
        <p:spPr>
          <a:xfrm flipV="1">
            <a:off x="4493342" y="3339287"/>
            <a:ext cx="2135761" cy="1678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966A367-C63C-6861-7C1D-262E026B887C}"/>
              </a:ext>
            </a:extLst>
          </p:cNvPr>
          <p:cNvCxnSpPr>
            <a:cxnSpLocks/>
            <a:stCxn id="16" idx="6"/>
            <a:endCxn id="9" idx="1"/>
          </p:cNvCxnSpPr>
          <p:nvPr/>
        </p:nvCxnSpPr>
        <p:spPr>
          <a:xfrm flipV="1">
            <a:off x="4493342" y="1952937"/>
            <a:ext cx="2129764" cy="1554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Elemento grafico 7" descr="Checkmark">
            <a:extLst>
              <a:ext uri="{FF2B5EF4-FFF2-40B4-BE49-F238E27FC236}">
                <a16:creationId xmlns:a16="http://schemas.microsoft.com/office/drawing/2014/main" id="{0749DCD1-FFF9-ECAA-E8C4-5EB456DE42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5918" y="738493"/>
            <a:ext cx="1767659" cy="176765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7AA61C33-AD04-DA99-B4D9-DD3942432A58}"/>
              </a:ext>
            </a:extLst>
          </p:cNvPr>
          <p:cNvSpPr txBox="1"/>
          <p:nvPr/>
        </p:nvSpPr>
        <p:spPr>
          <a:xfrm>
            <a:off x="3293061" y="386115"/>
            <a:ext cx="2821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Façade Solution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04D7E40-14DB-5EFB-80F4-61EA139E339E}"/>
              </a:ext>
            </a:extLst>
          </p:cNvPr>
          <p:cNvSpPr/>
          <p:nvPr/>
        </p:nvSpPr>
        <p:spPr>
          <a:xfrm>
            <a:off x="3390387" y="2953543"/>
            <a:ext cx="1102955" cy="110718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OS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8F05875-3A99-6AF4-2B40-58A70016F99F}"/>
              </a:ext>
            </a:extLst>
          </p:cNvPr>
          <p:cNvCxnSpPr>
            <a:cxnSpLocks/>
            <a:stCxn id="4" idx="6"/>
            <a:endCxn id="16" idx="2"/>
          </p:cNvCxnSpPr>
          <p:nvPr/>
        </p:nvCxnSpPr>
        <p:spPr>
          <a:xfrm>
            <a:off x="1738568" y="3487667"/>
            <a:ext cx="1651819" cy="194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0052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3" grpId="0" animBg="1"/>
      <p:bldP spid="1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EF251-6F1E-B013-CF21-DFCCA0FB5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F930B21-9F17-F571-3B77-E80822F0FD9B}"/>
              </a:ext>
            </a:extLst>
          </p:cNvPr>
          <p:cNvSpPr/>
          <p:nvPr/>
        </p:nvSpPr>
        <p:spPr>
          <a:xfrm>
            <a:off x="60380" y="2756983"/>
            <a:ext cx="1597734" cy="1554727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User Program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1E97FC9-5251-D6FF-683C-8955F0382271}"/>
              </a:ext>
            </a:extLst>
          </p:cNvPr>
          <p:cNvSpPr/>
          <p:nvPr/>
        </p:nvSpPr>
        <p:spPr>
          <a:xfrm>
            <a:off x="6529372" y="1952227"/>
            <a:ext cx="2123765" cy="342408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Memory</a:t>
            </a:r>
          </a:p>
          <a:p>
            <a:pPr algn="ctr"/>
            <a:endParaRPr lang="en-US" sz="2000" b="1" dirty="0"/>
          </a:p>
          <a:p>
            <a:pPr algn="ctr"/>
            <a:r>
              <a:rPr lang="en-US" sz="12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readFromPA</a:t>
            </a:r>
            <a:r>
              <a:rPr lang="en-US" sz="12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pPr algn="ctr"/>
            <a:r>
              <a:rPr lang="en-US" sz="12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writeTo</a:t>
            </a:r>
            <a:r>
              <a:rPr lang="en-US" sz="12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pPr algn="ctr"/>
            <a:r>
              <a:rPr lang="en-US" sz="12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enableIntr</a:t>
            </a:r>
            <a:r>
              <a:rPr lang="en-US" sz="12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pPr algn="ctr"/>
            <a:r>
              <a:rPr lang="en-US" sz="12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disableIntr</a:t>
            </a:r>
            <a:r>
              <a:rPr lang="en-US" sz="12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pPr algn="ctr"/>
            <a:r>
              <a:rPr lang="en-US" sz="12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managePipelines</a:t>
            </a:r>
            <a:r>
              <a:rPr lang="en-US" sz="12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pPr algn="ctr"/>
            <a:r>
              <a:rPr lang="en-US" sz="12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allocatePF</a:t>
            </a:r>
            <a:r>
              <a:rPr lang="en-US" sz="12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pPr algn="ctr"/>
            <a:r>
              <a:rPr lang="en-US" sz="12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manageTLB</a:t>
            </a:r>
            <a:r>
              <a:rPr lang="en-US" sz="12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pPr algn="ctr"/>
            <a:r>
              <a:rPr lang="en-US" sz="12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mapPage</a:t>
            </a:r>
            <a:r>
              <a:rPr lang="en-US" sz="12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pPr algn="ctr"/>
            <a:r>
              <a:rPr lang="en-US" sz="1200" b="1" dirty="0" err="1">
                <a:latin typeface="JetBrains Mono" panose="02000009000000000000" pitchFamily="49" charset="0"/>
                <a:cs typeface="JetBrains Mono" panose="02000009000000000000" pitchFamily="49" charset="0"/>
              </a:rPr>
              <a:t>unmapPage</a:t>
            </a:r>
            <a:r>
              <a:rPr lang="en-US" sz="1200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()</a:t>
            </a:r>
          </a:p>
          <a:p>
            <a:pPr algn="ctr"/>
            <a:endParaRPr lang="en-US" sz="1200" b="1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FA39EAB-D71B-D2A5-2592-0E82858C035C}"/>
              </a:ext>
            </a:extLst>
          </p:cNvPr>
          <p:cNvSpPr txBox="1"/>
          <p:nvPr/>
        </p:nvSpPr>
        <p:spPr>
          <a:xfrm>
            <a:off x="3293061" y="386115"/>
            <a:ext cx="28752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Façade Solution</a:t>
            </a:r>
            <a:endParaRPr lang="en-US" sz="3200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C3FAFB6-6316-8547-4C16-7EF6B28A9980}"/>
              </a:ext>
            </a:extLst>
          </p:cNvPr>
          <p:cNvCxnSpPr>
            <a:cxnSpLocks/>
            <a:stCxn id="4" idx="6"/>
            <a:endCxn id="2" idx="2"/>
          </p:cNvCxnSpPr>
          <p:nvPr/>
        </p:nvCxnSpPr>
        <p:spPr>
          <a:xfrm>
            <a:off x="1658114" y="3534347"/>
            <a:ext cx="1836634" cy="18419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C8C7797-83E9-1CC1-2DC3-08170B558460}"/>
              </a:ext>
            </a:extLst>
          </p:cNvPr>
          <p:cNvSpPr txBox="1"/>
          <p:nvPr/>
        </p:nvSpPr>
        <p:spPr>
          <a:xfrm>
            <a:off x="1897626" y="3230207"/>
            <a:ext cx="1910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 just want a space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5099AD9-E069-509B-C45F-74A8F27D44EB}"/>
              </a:ext>
            </a:extLst>
          </p:cNvPr>
          <p:cNvSpPr/>
          <p:nvPr/>
        </p:nvSpPr>
        <p:spPr>
          <a:xfrm>
            <a:off x="3494748" y="4893768"/>
            <a:ext cx="1077252" cy="96508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F75F14-3E68-ED16-1EB0-5FF87CCFA2B4}"/>
              </a:ext>
            </a:extLst>
          </p:cNvPr>
          <p:cNvSpPr txBox="1"/>
          <p:nvPr/>
        </p:nvSpPr>
        <p:spPr>
          <a:xfrm>
            <a:off x="1721025" y="5296372"/>
            <a:ext cx="17063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 me handle it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12D5E79-2D4E-DD41-78D4-BBD37981BA71}"/>
              </a:ext>
            </a:extLst>
          </p:cNvPr>
          <p:cNvCxnSpPr>
            <a:stCxn id="2" idx="6"/>
            <a:endCxn id="13" idx="1"/>
          </p:cNvCxnSpPr>
          <p:nvPr/>
        </p:nvCxnSpPr>
        <p:spPr>
          <a:xfrm flipV="1">
            <a:off x="4572000" y="3664270"/>
            <a:ext cx="1957372" cy="17120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Elemento grafico 7" descr="Checkmark">
            <a:extLst>
              <a:ext uri="{FF2B5EF4-FFF2-40B4-BE49-F238E27FC236}">
                <a16:creationId xmlns:a16="http://schemas.microsoft.com/office/drawing/2014/main" id="{2696FC14-E3CF-5FCC-6C8C-71D96E1E8B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5100" y="808551"/>
            <a:ext cx="1767659" cy="176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509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build="allAtOnce" animBg="1"/>
      <p:bldP spid="20" grpId="0"/>
      <p:bldP spid="2" grpId="0" animBg="1"/>
      <p:bldP spid="10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355B0-740F-FCAF-626C-CD05EA4C9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93DA8-397E-5F77-EAAC-7BCF33E6D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Façade</a:t>
            </a:r>
            <a:r>
              <a:rPr dirty="0"/>
              <a:t>:</a:t>
            </a:r>
            <a:r>
              <a:rPr lang="en-US" dirty="0"/>
              <a:t> Class Diagram</a:t>
            </a:r>
            <a:endParaRPr dirty="0"/>
          </a:p>
        </p:txBody>
      </p:sp>
      <p:sp>
        <p:nvSpPr>
          <p:cNvPr id="5" name="AutoShape 4" descr="A Complete Guide To Design Patterns: The Adapter Design Pattern – Baraa ...">
            <a:extLst>
              <a:ext uri="{FF2B5EF4-FFF2-40B4-BE49-F238E27FC236}">
                <a16:creationId xmlns:a16="http://schemas.microsoft.com/office/drawing/2014/main" id="{CD70BEC5-D8C4-ED97-FFA9-365570960D0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3276599"/>
            <a:ext cx="3180735" cy="3180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7" descr="A diagram of a diagram&#10;&#10;AI-generated content may be incorrect.">
            <a:extLst>
              <a:ext uri="{FF2B5EF4-FFF2-40B4-BE49-F238E27FC236}">
                <a16:creationId xmlns:a16="http://schemas.microsoft.com/office/drawing/2014/main" id="{6A9FBFA3-5471-B8A9-E999-41AFEED5A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26" y="1617253"/>
            <a:ext cx="6694386" cy="4531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907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271AC0-BF13-4B8E-6301-E28C9045F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E8BBE-0BF7-0AB1-CAA2-085B2028C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693987"/>
            <a:ext cx="7772400" cy="1470025"/>
          </a:xfrm>
        </p:spPr>
        <p:txBody>
          <a:bodyPr/>
          <a:lstStyle/>
          <a:p>
            <a:r>
              <a:rPr lang="en-US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Hands On</a:t>
            </a:r>
            <a:endParaRPr b="1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3737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6ACDE-2C22-8873-E6EA-6DF44C9E9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701BF-C36B-5FCE-51C7-CB921C2D1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Façade</a:t>
            </a:r>
            <a:r>
              <a:rPr dirty="0"/>
              <a:t>: </a:t>
            </a:r>
            <a:r>
              <a:rPr lang="en-US" dirty="0"/>
              <a:t>Pros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68F46-2AB3-9B24-9071-B59902392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Simplifies usage by providing </a:t>
            </a:r>
            <a:r>
              <a:rPr lang="en-US" b="1" dirty="0"/>
              <a:t>one unified, high-level interface</a:t>
            </a:r>
            <a:r>
              <a:rPr lang="en-US" dirty="0"/>
              <a:t>.</a:t>
            </a:r>
          </a:p>
          <a:p>
            <a:r>
              <a:rPr lang="en-US" b="1" dirty="0"/>
              <a:t>Reduces coupling</a:t>
            </a:r>
            <a:r>
              <a:rPr lang="en-US" dirty="0"/>
              <a:t> between client code and complex subsystems.</a:t>
            </a:r>
          </a:p>
          <a:p>
            <a:r>
              <a:rPr lang="en-US" dirty="0"/>
              <a:t>Makes the system easier to </a:t>
            </a:r>
            <a:r>
              <a:rPr lang="en-US" b="1" dirty="0"/>
              <a:t>maintain</a:t>
            </a:r>
            <a:r>
              <a:rPr lang="en-US" dirty="0"/>
              <a:t>, </a:t>
            </a:r>
            <a:r>
              <a:rPr lang="en-US" b="1" dirty="0"/>
              <a:t>extend</a:t>
            </a:r>
            <a:r>
              <a:rPr lang="en-US" dirty="0"/>
              <a:t>, and </a:t>
            </a:r>
            <a:r>
              <a:rPr lang="en-US" b="1" dirty="0"/>
              <a:t>refactor</a:t>
            </a:r>
            <a:r>
              <a:rPr lang="en-US" dirty="0"/>
              <a:t>.</a:t>
            </a:r>
          </a:p>
          <a:p>
            <a:r>
              <a:rPr lang="en-US" dirty="0"/>
              <a:t>Subsystems can change internally </a:t>
            </a:r>
            <a:r>
              <a:rPr lang="en-US" b="1" dirty="0"/>
              <a:t>without breaking</a:t>
            </a:r>
            <a:r>
              <a:rPr lang="en-US" dirty="0"/>
              <a:t> client code.</a:t>
            </a:r>
          </a:p>
          <a:p>
            <a:r>
              <a:rPr lang="en-US" dirty="0"/>
              <a:t>Improves </a:t>
            </a:r>
            <a:r>
              <a:rPr lang="en-US" b="1" dirty="0"/>
              <a:t>readability</a:t>
            </a:r>
            <a:r>
              <a:rPr lang="en-US" dirty="0"/>
              <a:t> and keeps client code clean and focused.</a:t>
            </a:r>
          </a:p>
          <a:p>
            <a:r>
              <a:rPr lang="en-US" dirty="0"/>
              <a:t>Helps enforce </a:t>
            </a:r>
            <a:r>
              <a:rPr lang="en-US" b="1" dirty="0"/>
              <a:t>separation of concerns</a:t>
            </a:r>
            <a:r>
              <a:rPr lang="en-US" dirty="0"/>
              <a:t>.</a:t>
            </a:r>
          </a:p>
          <a:p>
            <a:r>
              <a:rPr lang="en-US" dirty="0"/>
              <a:t>Provides a clear </a:t>
            </a:r>
            <a:r>
              <a:rPr lang="en-US" b="1" dirty="0"/>
              <a:t>entry point</a:t>
            </a:r>
            <a:r>
              <a:rPr lang="en-US" dirty="0"/>
              <a:t> to a large or messy system.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6F4891-A7A8-BEB2-49AB-FADC52DF7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Subsystems can change internally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 breaking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client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0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1BDC9-8825-FD84-90FF-94EC9B790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A74DE-97C1-9B8C-0AD4-03EF4D9AA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Façade </a:t>
            </a:r>
            <a:r>
              <a:rPr dirty="0"/>
              <a:t>: </a:t>
            </a:r>
            <a:r>
              <a:rPr lang="en-US" dirty="0"/>
              <a:t>Cons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C22F8-D24E-9BEB-B95B-49D02AFC29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Facade can become a </a:t>
            </a:r>
            <a:r>
              <a:rPr lang="en-US" b="1" dirty="0"/>
              <a:t>god object</a:t>
            </a:r>
            <a:r>
              <a:rPr lang="en-US" dirty="0"/>
              <a:t> if it grows too large.</a:t>
            </a:r>
          </a:p>
          <a:p>
            <a:r>
              <a:rPr lang="en-US" dirty="0"/>
              <a:t>Too much hiding may </a:t>
            </a:r>
            <a:r>
              <a:rPr lang="en-US" b="1" dirty="0"/>
              <a:t>restrict advanced functionality</a:t>
            </a:r>
            <a:r>
              <a:rPr lang="en-US" dirty="0"/>
              <a:t> from the client.</a:t>
            </a:r>
          </a:p>
          <a:p>
            <a:r>
              <a:rPr lang="en-US" dirty="0"/>
              <a:t>Changes in the facade interface may require changes in the client.</a:t>
            </a:r>
          </a:p>
          <a:p>
            <a:r>
              <a:rPr lang="en-US" dirty="0"/>
              <a:t>May add </a:t>
            </a:r>
            <a:r>
              <a:rPr lang="en-US" b="1" dirty="0"/>
              <a:t>extra layer of abstraction</a:t>
            </a:r>
            <a:r>
              <a:rPr lang="en-US" dirty="0"/>
              <a:t>, even when not necessary.</a:t>
            </a:r>
          </a:p>
          <a:p>
            <a:r>
              <a:rPr lang="en-US" dirty="0"/>
              <a:t>Can accidentally </a:t>
            </a:r>
            <a:r>
              <a:rPr lang="en-US" b="1" dirty="0"/>
              <a:t>duplicate functionality</a:t>
            </a:r>
            <a:r>
              <a:rPr lang="en-US" dirty="0"/>
              <a:t> if not designed carefully.</a:t>
            </a:r>
          </a:p>
        </p:txBody>
      </p:sp>
    </p:spTree>
    <p:extLst>
      <p:ext uri="{BB962C8B-B14F-4D97-AF65-F5344CB8AC3E}">
        <p14:creationId xmlns:p14="http://schemas.microsoft.com/office/powerpoint/2010/main" val="3453094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82557-4585-F4E9-3B07-E07C57FBF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3D4BC-74E0-538D-0CFF-1AED45BB60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693987"/>
            <a:ext cx="7772400" cy="1470025"/>
          </a:xfrm>
        </p:spPr>
        <p:txBody>
          <a:bodyPr/>
          <a:lstStyle/>
          <a:p>
            <a:r>
              <a:rPr lang="en-US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Composite</a:t>
            </a:r>
            <a:r>
              <a:rPr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 Pattern</a:t>
            </a:r>
          </a:p>
        </p:txBody>
      </p:sp>
    </p:spTree>
    <p:extLst>
      <p:ext uri="{BB962C8B-B14F-4D97-AF65-F5344CB8AC3E}">
        <p14:creationId xmlns:p14="http://schemas.microsoft.com/office/powerpoint/2010/main" val="7937056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CABC4-603F-2CC8-7F59-822DCA030A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37745-4DD5-E64A-6830-55981C6A6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Composite</a:t>
            </a:r>
            <a:r>
              <a:rPr dirty="0"/>
              <a:t>: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E0198-E7E2-F031-8027-B66B54716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Need to treat </a:t>
            </a:r>
            <a:r>
              <a:rPr lang="en-US" b="1" dirty="0"/>
              <a:t>individual objects</a:t>
            </a:r>
            <a:r>
              <a:rPr lang="en-US" dirty="0"/>
              <a:t> and </a:t>
            </a:r>
            <a:r>
              <a:rPr lang="en-US" b="1" dirty="0"/>
              <a:t>groups of objects</a:t>
            </a:r>
            <a:r>
              <a:rPr lang="en-US" dirty="0"/>
              <a:t> in the same way.</a:t>
            </a:r>
          </a:p>
          <a:p>
            <a:r>
              <a:rPr lang="en-US" dirty="0"/>
              <a:t>Client code becomes complicated with </a:t>
            </a:r>
            <a:r>
              <a:rPr lang="en-US" b="1" dirty="0"/>
              <a:t>if-else checks</a:t>
            </a:r>
            <a:r>
              <a:rPr lang="en-US" dirty="0"/>
              <a:t> (is it a single item or a group?).</a:t>
            </a:r>
          </a:p>
          <a:p>
            <a:r>
              <a:rPr lang="en-US" dirty="0"/>
              <a:t>Hard to manage </a:t>
            </a:r>
            <a:r>
              <a:rPr lang="en-US" b="1" dirty="0"/>
              <a:t>tree-like structures</a:t>
            </a:r>
            <a:r>
              <a:rPr lang="en-US" dirty="0"/>
              <a:t> manually (folders, UI components, game objects, shapes, etc.).</a:t>
            </a:r>
          </a:p>
          <a:p>
            <a:r>
              <a:rPr lang="en-US" dirty="0"/>
              <a:t>Adding new element types requires </a:t>
            </a:r>
            <a:r>
              <a:rPr lang="en-US" b="1" dirty="0"/>
              <a:t>changing client code</a:t>
            </a:r>
            <a:r>
              <a:rPr lang="en-US" dirty="0"/>
              <a:t>, violating Open–Closed Principle.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7182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33E17-0296-0042-053A-43B597724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2922DF4-03A1-DE06-1538-54B14D239FEC}"/>
              </a:ext>
            </a:extLst>
          </p:cNvPr>
          <p:cNvSpPr/>
          <p:nvPr/>
        </p:nvSpPr>
        <p:spPr>
          <a:xfrm>
            <a:off x="3662516" y="462115"/>
            <a:ext cx="1818968" cy="10422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Client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9669660-D6C2-1926-F47C-11868EE39975}"/>
              </a:ext>
            </a:extLst>
          </p:cNvPr>
          <p:cNvSpPr/>
          <p:nvPr/>
        </p:nvSpPr>
        <p:spPr>
          <a:xfrm>
            <a:off x="983225" y="2539180"/>
            <a:ext cx="2477729" cy="10422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Single Node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7C14DF54-5789-4855-3821-51CE8FF61FBB}"/>
              </a:ext>
            </a:extLst>
          </p:cNvPr>
          <p:cNvCxnSpPr>
            <a:stCxn id="5" idx="2"/>
            <a:endCxn id="6" idx="0"/>
          </p:cNvCxnSpPr>
          <p:nvPr/>
        </p:nvCxnSpPr>
        <p:spPr>
          <a:xfrm rot="5400000">
            <a:off x="2879622" y="846802"/>
            <a:ext cx="1034846" cy="234991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AC758DE-563C-3FEA-826B-28A2518408D6}"/>
              </a:ext>
            </a:extLst>
          </p:cNvPr>
          <p:cNvSpPr/>
          <p:nvPr/>
        </p:nvSpPr>
        <p:spPr>
          <a:xfrm>
            <a:off x="5810865" y="2539179"/>
            <a:ext cx="2477729" cy="10422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Group of Node</a:t>
            </a: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EDA432F0-5646-5AA4-C571-A37CEBC0027B}"/>
              </a:ext>
            </a:extLst>
          </p:cNvPr>
          <p:cNvCxnSpPr>
            <a:stCxn id="5" idx="2"/>
            <a:endCxn id="9" idx="0"/>
          </p:cNvCxnSpPr>
          <p:nvPr/>
        </p:nvCxnSpPr>
        <p:spPr>
          <a:xfrm rot="16200000" flipH="1">
            <a:off x="5293443" y="782891"/>
            <a:ext cx="1034845" cy="247773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2C28A40-57CB-1993-4A54-8576A080582F}"/>
              </a:ext>
            </a:extLst>
          </p:cNvPr>
          <p:cNvSpPr/>
          <p:nvPr/>
        </p:nvSpPr>
        <p:spPr>
          <a:xfrm>
            <a:off x="5810864" y="3999269"/>
            <a:ext cx="2477729" cy="10422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Single Node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FAB4FD8-14D8-6E7A-B82E-ABE273206599}"/>
              </a:ext>
            </a:extLst>
          </p:cNvPr>
          <p:cNvSpPr/>
          <p:nvPr/>
        </p:nvSpPr>
        <p:spPr>
          <a:xfrm>
            <a:off x="5810863" y="5459359"/>
            <a:ext cx="2477729" cy="10422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Single Node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09B6163-1A25-1AFF-6626-7F1250913296}"/>
              </a:ext>
            </a:extLst>
          </p:cNvPr>
          <p:cNvCxnSpPr>
            <a:stCxn id="9" idx="2"/>
            <a:endCxn id="13" idx="0"/>
          </p:cNvCxnSpPr>
          <p:nvPr/>
        </p:nvCxnSpPr>
        <p:spPr>
          <a:xfrm flipH="1">
            <a:off x="7049729" y="3581398"/>
            <a:ext cx="1" cy="417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5AF4A01-0356-E56E-DB79-11856513084C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 flipH="1">
            <a:off x="7049728" y="5041488"/>
            <a:ext cx="1" cy="4178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931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9" grpId="0" animBg="1"/>
      <p:bldP spid="13" grpId="0" animBg="1"/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91389-A032-E85D-CCCB-E0B1700A5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95A158-B8DC-4D85-5204-0A847D5101EE}"/>
              </a:ext>
            </a:extLst>
          </p:cNvPr>
          <p:cNvSpPr/>
          <p:nvPr/>
        </p:nvSpPr>
        <p:spPr>
          <a:xfrm>
            <a:off x="3662516" y="462115"/>
            <a:ext cx="1818968" cy="104221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Client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E5464D6D-A877-F581-4FFF-93D48C9B3292}"/>
              </a:ext>
            </a:extLst>
          </p:cNvPr>
          <p:cNvSpPr/>
          <p:nvPr/>
        </p:nvSpPr>
        <p:spPr>
          <a:xfrm>
            <a:off x="3298722" y="2084439"/>
            <a:ext cx="2546555" cy="116020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Component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E1FC8C6-3062-08D0-8D00-632413435A20}"/>
              </a:ext>
            </a:extLst>
          </p:cNvPr>
          <p:cNvCxnSpPr>
            <a:stCxn id="5" idx="2"/>
            <a:endCxn id="2" idx="0"/>
          </p:cNvCxnSpPr>
          <p:nvPr/>
        </p:nvCxnSpPr>
        <p:spPr>
          <a:xfrm>
            <a:off x="4572000" y="1504334"/>
            <a:ext cx="0" cy="58010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AD076AE-429F-08D5-EC64-4B3F2B4075E3}"/>
              </a:ext>
            </a:extLst>
          </p:cNvPr>
          <p:cNvSpPr/>
          <p:nvPr/>
        </p:nvSpPr>
        <p:spPr>
          <a:xfrm>
            <a:off x="951271" y="3999272"/>
            <a:ext cx="1322438" cy="7988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Leaf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46C81C6-A86B-E97C-414D-163C76273BE2}"/>
              </a:ext>
            </a:extLst>
          </p:cNvPr>
          <p:cNvSpPr/>
          <p:nvPr/>
        </p:nvSpPr>
        <p:spPr>
          <a:xfrm>
            <a:off x="5095568" y="3999272"/>
            <a:ext cx="2089355" cy="71283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Composite</a:t>
            </a:r>
          </a:p>
        </p:txBody>
      </p: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4A1C57BD-F9D2-713B-02E5-387A2B942332}"/>
              </a:ext>
            </a:extLst>
          </p:cNvPr>
          <p:cNvCxnSpPr>
            <a:stCxn id="2" idx="4"/>
            <a:endCxn id="12" idx="0"/>
          </p:cNvCxnSpPr>
          <p:nvPr/>
        </p:nvCxnSpPr>
        <p:spPr>
          <a:xfrm rot="16200000" flipH="1">
            <a:off x="4978810" y="2837835"/>
            <a:ext cx="754627" cy="156824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8CFAC4A2-A696-B011-9A23-F26D6F0BFB77}"/>
              </a:ext>
            </a:extLst>
          </p:cNvPr>
          <p:cNvCxnSpPr>
            <a:stCxn id="2" idx="4"/>
            <a:endCxn id="10" idx="0"/>
          </p:cNvCxnSpPr>
          <p:nvPr/>
        </p:nvCxnSpPr>
        <p:spPr>
          <a:xfrm rot="5400000">
            <a:off x="2714932" y="2142203"/>
            <a:ext cx="754627" cy="295951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763F303-7771-4329-518C-4128E1DC1985}"/>
              </a:ext>
            </a:extLst>
          </p:cNvPr>
          <p:cNvSpPr/>
          <p:nvPr/>
        </p:nvSpPr>
        <p:spPr>
          <a:xfrm>
            <a:off x="3298722" y="5252883"/>
            <a:ext cx="1322438" cy="7988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Leaf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D7EC4873-B1C4-E353-1AA8-AD94AC14FE83}"/>
              </a:ext>
            </a:extLst>
          </p:cNvPr>
          <p:cNvSpPr/>
          <p:nvPr/>
        </p:nvSpPr>
        <p:spPr>
          <a:xfrm>
            <a:off x="5302047" y="5252882"/>
            <a:ext cx="1322438" cy="7988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Leaf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43B399C-D5E8-0FD5-AEDC-25D04AA3D6FB}"/>
              </a:ext>
            </a:extLst>
          </p:cNvPr>
          <p:cNvSpPr/>
          <p:nvPr/>
        </p:nvSpPr>
        <p:spPr>
          <a:xfrm>
            <a:off x="6776883" y="5252885"/>
            <a:ext cx="2089355" cy="79887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Composite</a:t>
            </a:r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402F7369-0649-F601-73AD-9DB3FDB4481E}"/>
              </a:ext>
            </a:extLst>
          </p:cNvPr>
          <p:cNvCxnSpPr>
            <a:stCxn id="12" idx="2"/>
            <a:endCxn id="22" idx="0"/>
          </p:cNvCxnSpPr>
          <p:nvPr/>
        </p:nvCxnSpPr>
        <p:spPr>
          <a:xfrm rot="5400000">
            <a:off x="4779708" y="3892344"/>
            <a:ext cx="540773" cy="218030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5EF1035A-C751-34B4-E287-619A00A9C417}"/>
              </a:ext>
            </a:extLst>
          </p:cNvPr>
          <p:cNvCxnSpPr>
            <a:stCxn id="12" idx="2"/>
            <a:endCxn id="23" idx="0"/>
          </p:cNvCxnSpPr>
          <p:nvPr/>
        </p:nvCxnSpPr>
        <p:spPr>
          <a:xfrm rot="5400000">
            <a:off x="5781370" y="4894006"/>
            <a:ext cx="540772" cy="17698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Curved 30">
            <a:extLst>
              <a:ext uri="{FF2B5EF4-FFF2-40B4-BE49-F238E27FC236}">
                <a16:creationId xmlns:a16="http://schemas.microsoft.com/office/drawing/2014/main" id="{4F069EC7-1BA9-8FA1-3D9E-2D87BA7C376D}"/>
              </a:ext>
            </a:extLst>
          </p:cNvPr>
          <p:cNvCxnSpPr>
            <a:stCxn id="12" idx="2"/>
            <a:endCxn id="24" idx="0"/>
          </p:cNvCxnSpPr>
          <p:nvPr/>
        </p:nvCxnSpPr>
        <p:spPr>
          <a:xfrm rot="16200000" flipH="1">
            <a:off x="6710516" y="4141839"/>
            <a:ext cx="540775" cy="168131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2944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" grpId="0" animBg="1"/>
      <p:bldP spid="10" grpId="0" animBg="1"/>
      <p:bldP spid="12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449E1-F343-60C2-AC2E-D8B009A9B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37064-C1EE-CDD8-758F-9BD0E05CB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Façade</a:t>
            </a:r>
            <a:r>
              <a:rPr dirty="0"/>
              <a:t>: </a:t>
            </a:r>
            <a:r>
              <a:rPr lang="en-US" dirty="0"/>
              <a:t>Solution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8811A-45C5-6EF7-C2E0-BB82F3333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Defines a </a:t>
            </a:r>
            <a:r>
              <a:rPr lang="en-US" b="1" dirty="0"/>
              <a:t>common interface</a:t>
            </a:r>
            <a:r>
              <a:rPr lang="en-US" dirty="0"/>
              <a:t> for both simple (Leaf) and composite (Container) objects.</a:t>
            </a:r>
          </a:p>
          <a:p>
            <a:r>
              <a:rPr lang="en-US" dirty="0"/>
              <a:t>Allows building </a:t>
            </a:r>
            <a:r>
              <a:rPr lang="en-US" b="1" dirty="0"/>
              <a:t>tree structures</a:t>
            </a:r>
            <a:r>
              <a:rPr lang="en-US" dirty="0"/>
              <a:t> of any depth using the same type.</a:t>
            </a:r>
          </a:p>
          <a:p>
            <a:r>
              <a:rPr lang="en-US" dirty="0"/>
              <a:t>Client interacts with all objects through a </a:t>
            </a:r>
            <a:r>
              <a:rPr lang="en-US" b="1" dirty="0"/>
              <a:t>single unified interface</a:t>
            </a:r>
            <a:r>
              <a:rPr lang="en-US" dirty="0"/>
              <a:t>.</a:t>
            </a:r>
          </a:p>
          <a:p>
            <a:r>
              <a:rPr lang="en-US" dirty="0"/>
              <a:t>Composite objects </a:t>
            </a:r>
            <a:r>
              <a:rPr lang="en-US" b="1" dirty="0"/>
              <a:t>store and manage children</a:t>
            </a:r>
            <a:r>
              <a:rPr lang="en-US" dirty="0"/>
              <a:t>, while Leaf objects perform real actions.</a:t>
            </a:r>
          </a:p>
          <a:p>
            <a:r>
              <a:rPr lang="en-US" dirty="0"/>
              <a:t>Supports adding new element types </a:t>
            </a:r>
            <a:r>
              <a:rPr lang="en-US" b="1" dirty="0"/>
              <a:t>without modifying existing code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8196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B17DD-BA70-C5BD-3D6D-CABAF6FD7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03460-2C87-FCED-37A2-7068ACB63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Composite</a:t>
            </a:r>
            <a:r>
              <a:rPr dirty="0"/>
              <a:t>:</a:t>
            </a:r>
            <a:r>
              <a:rPr lang="en-US" dirty="0"/>
              <a:t> Class Diagram</a:t>
            </a:r>
            <a:endParaRPr dirty="0"/>
          </a:p>
        </p:txBody>
      </p:sp>
      <p:sp>
        <p:nvSpPr>
          <p:cNvPr id="5" name="AutoShape 4" descr="A Complete Guide To Design Patterns: The Adapter Design Pattern – Baraa ...">
            <a:extLst>
              <a:ext uri="{FF2B5EF4-FFF2-40B4-BE49-F238E27FC236}">
                <a16:creationId xmlns:a16="http://schemas.microsoft.com/office/drawing/2014/main" id="{FE90C518-EF2F-D58D-87A8-A496538BE30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599" y="3276599"/>
            <a:ext cx="3180735" cy="3180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Picture 3" descr="A diagram of a component&#10;&#10;AI-generated content may be incorrect.">
            <a:extLst>
              <a:ext uri="{FF2B5EF4-FFF2-40B4-BE49-F238E27FC236}">
                <a16:creationId xmlns:a16="http://schemas.microsoft.com/office/drawing/2014/main" id="{FDF52ED4-640F-B17F-7E77-3E53E3BAAE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94" y="1863674"/>
            <a:ext cx="7944464" cy="3792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836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EBDDB-95C8-1BD7-18D3-08D7E7C95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AB18B-A9E1-62A6-0B33-15F364AFA7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693987"/>
            <a:ext cx="7772400" cy="1470025"/>
          </a:xfrm>
        </p:spPr>
        <p:txBody>
          <a:bodyPr/>
          <a:lstStyle/>
          <a:p>
            <a:r>
              <a:rPr lang="en-US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Hands On</a:t>
            </a:r>
            <a:endParaRPr b="1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912738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F1D61-4955-0AE9-37B8-CD0037B73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C3DBC-E8C5-348E-939F-7FD82202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Composite</a:t>
            </a:r>
            <a:r>
              <a:rPr dirty="0"/>
              <a:t>: </a:t>
            </a:r>
            <a:r>
              <a:rPr lang="en-US" dirty="0"/>
              <a:t>Pros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79CA7-CB26-E51D-7937-BD9D4BE9E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Greatly </a:t>
            </a:r>
            <a:r>
              <a:rPr lang="en-US" b="1" dirty="0"/>
              <a:t>simplifies client code</a:t>
            </a:r>
            <a:r>
              <a:rPr lang="en-US" dirty="0"/>
              <a:t> — one interface for everything.</a:t>
            </a:r>
          </a:p>
          <a:p>
            <a:r>
              <a:rPr lang="en-US" dirty="0"/>
              <a:t>Makes tree structures </a:t>
            </a:r>
            <a:r>
              <a:rPr lang="en-US" b="1" dirty="0"/>
              <a:t>easy to build, traverse, and manage</a:t>
            </a:r>
            <a:r>
              <a:rPr lang="en-US" dirty="0"/>
              <a:t>.</a:t>
            </a:r>
          </a:p>
          <a:p>
            <a:r>
              <a:rPr lang="en-US" dirty="0"/>
              <a:t>Encourages </a:t>
            </a:r>
            <a:r>
              <a:rPr lang="en-US" b="1" dirty="0"/>
              <a:t>Open–Closed Principle</a:t>
            </a:r>
            <a:r>
              <a:rPr lang="en-US" dirty="0"/>
              <a:t> — new components fit naturally.</a:t>
            </a:r>
          </a:p>
          <a:p>
            <a:r>
              <a:rPr lang="en-US" dirty="0"/>
              <a:t>Supports flexible and scalable </a:t>
            </a:r>
            <a:r>
              <a:rPr lang="en-US" b="1" dirty="0"/>
              <a:t>hierarchical designs</a:t>
            </a:r>
            <a:r>
              <a:rPr lang="en-US" dirty="0"/>
              <a:t>..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56066FB-69E1-3AF8-FDDF-88B2FB5D5D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Subsystems can change internally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 breaking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client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942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799CE-29EF-1D78-FC62-6309F05EB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C9F4F-E67C-80D3-7571-E10898EEF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Façade </a:t>
            </a:r>
            <a:r>
              <a:rPr dirty="0"/>
              <a:t>: </a:t>
            </a:r>
            <a:r>
              <a:rPr lang="en-US" dirty="0"/>
              <a:t>Cons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1EEB4-56B9-7256-C534-BFC859039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80303"/>
            <a:ext cx="8229600" cy="2647335"/>
          </a:xfrm>
        </p:spPr>
        <p:txBody>
          <a:bodyPr>
            <a:normAutofit/>
          </a:bodyPr>
          <a:lstStyle/>
          <a:p>
            <a:r>
              <a:rPr lang="en-US" dirty="0"/>
              <a:t>May allow invalid operations</a:t>
            </a:r>
          </a:p>
          <a:p>
            <a:r>
              <a:rPr lang="en-US" dirty="0"/>
              <a:t>Debugging becomes harder</a:t>
            </a:r>
          </a:p>
          <a:p>
            <a:r>
              <a:rPr lang="en-US" dirty="0"/>
              <a:t>Changes in the facade interface may require changes in the client.</a:t>
            </a:r>
          </a:p>
        </p:txBody>
      </p:sp>
    </p:spTree>
    <p:extLst>
      <p:ext uri="{BB962C8B-B14F-4D97-AF65-F5344CB8AC3E}">
        <p14:creationId xmlns:p14="http://schemas.microsoft.com/office/powerpoint/2010/main" val="374954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63C5E-2915-EFD1-5966-12B5AF3CB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E95E7-03AF-5D19-8AD9-49656704D5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693987"/>
            <a:ext cx="7772400" cy="1470025"/>
          </a:xfrm>
        </p:spPr>
        <p:txBody>
          <a:bodyPr/>
          <a:lstStyle/>
          <a:p>
            <a:r>
              <a:rPr lang="en-US" b="1" dirty="0">
                <a:latin typeface="JetBrains Mono" panose="02000009000000000000" pitchFamily="49" charset="0"/>
                <a:cs typeface="JetBrains Mono" panose="02000009000000000000" pitchFamily="49" charset="0"/>
              </a:rPr>
              <a:t>Thank You</a:t>
            </a:r>
            <a:endParaRPr b="1" dirty="0">
              <a:latin typeface="JetBrains Mono" panose="02000009000000000000" pitchFamily="49" charset="0"/>
              <a:cs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51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685</TotalTime>
  <Words>1314</Words>
  <Application>Microsoft Office PowerPoint</Application>
  <PresentationFormat>On-screen Show (4:3)</PresentationFormat>
  <Paragraphs>219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Arial</vt:lpstr>
      <vt:lpstr>Calibri</vt:lpstr>
      <vt:lpstr>JetBrains Mono</vt:lpstr>
      <vt:lpstr>Office Theme</vt:lpstr>
      <vt:lpstr>Structural Design Patterns</vt:lpstr>
      <vt:lpstr>What is Structural Patterns</vt:lpstr>
      <vt:lpstr>Structural Patterns Pros</vt:lpstr>
      <vt:lpstr>Structural Patterns</vt:lpstr>
      <vt:lpstr>Adapter Pattern</vt:lpstr>
      <vt:lpstr>PowerPoint Presentation</vt:lpstr>
      <vt:lpstr>Adapter: Problem</vt:lpstr>
      <vt:lpstr>Adapter: Solution</vt:lpstr>
      <vt:lpstr>PowerPoint Presentation</vt:lpstr>
      <vt:lpstr>Adapter: Class Diagram</vt:lpstr>
      <vt:lpstr>Hands On</vt:lpstr>
      <vt:lpstr>Adapter: Pros</vt:lpstr>
      <vt:lpstr>Adapter: Cons</vt:lpstr>
      <vt:lpstr>Decorator Pattern</vt:lpstr>
      <vt:lpstr>PowerPoint Presentation</vt:lpstr>
      <vt:lpstr>Decorator: Problem</vt:lpstr>
      <vt:lpstr>Decorator: Solution</vt:lpstr>
      <vt:lpstr>PowerPoint Presentation</vt:lpstr>
      <vt:lpstr>Decorator: Class Diagram</vt:lpstr>
      <vt:lpstr>Hands On</vt:lpstr>
      <vt:lpstr>Decorator: Pros</vt:lpstr>
      <vt:lpstr>Decorator: Cons</vt:lpstr>
      <vt:lpstr>Break</vt:lpstr>
      <vt:lpstr>Façade Pattern</vt:lpstr>
      <vt:lpstr>PowerPoint Presentation</vt:lpstr>
      <vt:lpstr>PowerPoint Presentation</vt:lpstr>
      <vt:lpstr>Façade: Problem</vt:lpstr>
      <vt:lpstr>Façade: Solution</vt:lpstr>
      <vt:lpstr>PowerPoint Presentation</vt:lpstr>
      <vt:lpstr>PowerPoint Presentation</vt:lpstr>
      <vt:lpstr>Façade: Class Diagram</vt:lpstr>
      <vt:lpstr>Hands On</vt:lpstr>
      <vt:lpstr>Façade: Pros</vt:lpstr>
      <vt:lpstr>Façade : Cons</vt:lpstr>
      <vt:lpstr>Composite Pattern</vt:lpstr>
      <vt:lpstr>Composite: Problem</vt:lpstr>
      <vt:lpstr>PowerPoint Presentation</vt:lpstr>
      <vt:lpstr>PowerPoint Presentation</vt:lpstr>
      <vt:lpstr>Façade: Solution</vt:lpstr>
      <vt:lpstr>Composite: Class Diagram</vt:lpstr>
      <vt:lpstr>Hands On</vt:lpstr>
      <vt:lpstr>Composite: Pros</vt:lpstr>
      <vt:lpstr>Façade : Cons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محمد عبدالحليم زناتى عبدالحليم</cp:lastModifiedBy>
  <cp:revision>7</cp:revision>
  <dcterms:created xsi:type="dcterms:W3CDTF">2013-01-27T09:14:16Z</dcterms:created>
  <dcterms:modified xsi:type="dcterms:W3CDTF">2025-12-06T19:17:34Z</dcterms:modified>
  <cp:category/>
</cp:coreProperties>
</file>